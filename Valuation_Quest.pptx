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Open Sauce Bold" charset="1" panose="00000800000000000000"/>
      <p:regular r:id="rId17"/>
    </p:embeddedFont>
    <p:embeddedFont>
      <p:font typeface="Open Sauce" charset="1" panose="00000500000000000000"/>
      <p:regular r:id="rId18"/>
    </p:embeddedFont>
    <p:embeddedFont>
      <p:font typeface="Anton" charset="1" panose="00000500000000000000"/>
      <p:regular r:id="rId19"/>
    </p:embeddedFont>
    <p:embeddedFont>
      <p:font typeface="Open Sauce Semi-Bold" charset="1" panose="000007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11" Target="../media/image20.sv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14" Target="../media/image23.svg" Type="http://schemas.openxmlformats.org/officeDocument/2006/relationships/image"/><Relationship Id="rId15" Target="../media/image24.png" Type="http://schemas.openxmlformats.org/officeDocument/2006/relationships/image"/><Relationship Id="rId16" Target="../media/image25.svg" Type="http://schemas.openxmlformats.org/officeDocument/2006/relationships/image"/><Relationship Id="rId17" Target="../media/image26.png" Type="http://schemas.openxmlformats.org/officeDocument/2006/relationships/image"/><Relationship Id="rId18" Target="../media/image27.svg" Type="http://schemas.openxmlformats.org/officeDocument/2006/relationships/image"/><Relationship Id="rId19" Target="../media/image28.png" Type="http://schemas.openxmlformats.org/officeDocument/2006/relationships/image"/><Relationship Id="rId2" Target="../media/image11.png" Type="http://schemas.openxmlformats.org/officeDocument/2006/relationships/image"/><Relationship Id="rId20" Target="../media/image29.svg" Type="http://schemas.openxmlformats.org/officeDocument/2006/relationships/image"/><Relationship Id="rId21" Target="../media/image30.svg" Type="http://schemas.openxmlformats.org/officeDocument/2006/relationships/image"/><Relationship Id="rId22" Target="../media/image31.svg" Type="http://schemas.openxmlformats.org/officeDocument/2006/relationships/image"/><Relationship Id="rId23" Target="../media/image32.png" Type="http://schemas.openxmlformats.org/officeDocument/2006/relationships/image"/><Relationship Id="rId24" Target="../media/image33.svg" Type="http://schemas.openxmlformats.org/officeDocument/2006/relationships/image"/><Relationship Id="rId25" Target="../media/image34.png" Type="http://schemas.openxmlformats.org/officeDocument/2006/relationships/image"/><Relationship Id="rId26" Target="../media/image35.svg" Type="http://schemas.openxmlformats.org/officeDocument/2006/relationships/image"/><Relationship Id="rId27" Target="../media/image36.png" Type="http://schemas.openxmlformats.org/officeDocument/2006/relationships/image"/><Relationship Id="rId28" Target="../media/image37.svg" Type="http://schemas.openxmlformats.org/officeDocument/2006/relationships/image"/><Relationship Id="rId3" Target="../media/image12.sv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svg" Type="http://schemas.openxmlformats.org/officeDocument/2006/relationships/image"/><Relationship Id="rId8" Target="../media/image17.svg" Type="http://schemas.openxmlformats.org/officeDocument/2006/relationships/image"/><Relationship Id="rId9" Target="../media/image1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5.svg" Type="http://schemas.openxmlformats.org/officeDocument/2006/relationships/image"/><Relationship Id="rId11" Target="../media/image46.svg" Type="http://schemas.openxmlformats.org/officeDocument/2006/relationships/image"/><Relationship Id="rId12" Target="../media/image47.svg" Type="http://schemas.openxmlformats.org/officeDocument/2006/relationships/image"/><Relationship Id="rId13" Target="../media/image48.svg" Type="http://schemas.openxmlformats.org/officeDocument/2006/relationships/image"/><Relationship Id="rId14" Target="../media/image49.svg" Type="http://schemas.openxmlformats.org/officeDocument/2006/relationships/image"/><Relationship Id="rId15" Target="../media/image50.svg" Type="http://schemas.openxmlformats.org/officeDocument/2006/relationships/image"/><Relationship Id="rId16" Target="../media/image51.png" Type="http://schemas.openxmlformats.org/officeDocument/2006/relationships/image"/><Relationship Id="rId17" Target="../media/image52.svg" Type="http://schemas.openxmlformats.org/officeDocument/2006/relationships/image"/><Relationship Id="rId2" Target="../media/image38.png" Type="http://schemas.openxmlformats.org/officeDocument/2006/relationships/image"/><Relationship Id="rId3" Target="../media/image39.svg" Type="http://schemas.openxmlformats.org/officeDocument/2006/relationships/image"/><Relationship Id="rId4" Target="../media/image40.png" Type="http://schemas.openxmlformats.org/officeDocument/2006/relationships/image"/><Relationship Id="rId5" Target="../media/image41.svg" Type="http://schemas.openxmlformats.org/officeDocument/2006/relationships/image"/><Relationship Id="rId6" Target="../media/image28.png" Type="http://schemas.openxmlformats.org/officeDocument/2006/relationships/image"/><Relationship Id="rId7" Target="../media/image42.svg" Type="http://schemas.openxmlformats.org/officeDocument/2006/relationships/image"/><Relationship Id="rId8" Target="../media/image43.svg" Type="http://schemas.openxmlformats.org/officeDocument/2006/relationships/image"/><Relationship Id="rId9" Target="../media/image4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 Id="rId3" Target="../media/image54.svg" Type="http://schemas.openxmlformats.org/officeDocument/2006/relationships/image"/><Relationship Id="rId4" Target="../media/image55.png" Type="http://schemas.openxmlformats.org/officeDocument/2006/relationships/image"/><Relationship Id="rId5" Target="../media/image56.svg" Type="http://schemas.openxmlformats.org/officeDocument/2006/relationships/image"/><Relationship Id="rId6" Target="../media/image57.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 Id="rId3" Target="../media/image59.svg" Type="http://schemas.openxmlformats.org/officeDocument/2006/relationships/image"/><Relationship Id="rId4" Target="../media/image60.png" Type="http://schemas.openxmlformats.org/officeDocument/2006/relationships/image"/><Relationship Id="rId5" Target="../media/image61.svg" Type="http://schemas.openxmlformats.org/officeDocument/2006/relationships/image"/><Relationship Id="rId6" Target="../media/image62.jpeg" Type="http://schemas.openxmlformats.org/officeDocument/2006/relationships/image"/><Relationship Id="rId7" Target="../media/image63.png" Type="http://schemas.openxmlformats.org/officeDocument/2006/relationships/image"/><Relationship Id="rId8" Target="../media/image6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5.png" Type="http://schemas.openxmlformats.org/officeDocument/2006/relationships/image"/><Relationship Id="rId3" Target="../media/image6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5.svg" Type="http://schemas.openxmlformats.org/officeDocument/2006/relationships/image"/><Relationship Id="rId2" Target="../media/image67.png" Type="http://schemas.openxmlformats.org/officeDocument/2006/relationships/image"/><Relationship Id="rId3" Target="../media/image68.svg" Type="http://schemas.openxmlformats.org/officeDocument/2006/relationships/image"/><Relationship Id="rId4" Target="../media/image69.svg" Type="http://schemas.openxmlformats.org/officeDocument/2006/relationships/image"/><Relationship Id="rId5" Target="../media/image70.png" Type="http://schemas.openxmlformats.org/officeDocument/2006/relationships/image"/><Relationship Id="rId6" Target="../media/image71.svg" Type="http://schemas.openxmlformats.org/officeDocument/2006/relationships/image"/><Relationship Id="rId7" Target="../media/image72.png" Type="http://schemas.openxmlformats.org/officeDocument/2006/relationships/image"/><Relationship Id="rId8" Target="../media/image73.svg" Type="http://schemas.openxmlformats.org/officeDocument/2006/relationships/image"/><Relationship Id="rId9" Target="../media/image7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3.svg" Type="http://schemas.openxmlformats.org/officeDocument/2006/relationships/image"/><Relationship Id="rId11" Target="../media/image84.svg" Type="http://schemas.openxmlformats.org/officeDocument/2006/relationships/image"/><Relationship Id="rId12" Target="../media/image85.svg" Type="http://schemas.openxmlformats.org/officeDocument/2006/relationships/image"/><Relationship Id="rId13" Target="../media/image86.svg" Type="http://schemas.openxmlformats.org/officeDocument/2006/relationships/image"/><Relationship Id="rId14" Target="../media/image87.svg" Type="http://schemas.openxmlformats.org/officeDocument/2006/relationships/image"/><Relationship Id="rId15" Target="../media/image88.svg" Type="http://schemas.openxmlformats.org/officeDocument/2006/relationships/image"/><Relationship Id="rId16" Target="../media/image89.png" Type="http://schemas.openxmlformats.org/officeDocument/2006/relationships/image"/><Relationship Id="rId17" Target="../media/image90.svg" Type="http://schemas.openxmlformats.org/officeDocument/2006/relationships/image"/><Relationship Id="rId2" Target="../media/image76.png" Type="http://schemas.openxmlformats.org/officeDocument/2006/relationships/image"/><Relationship Id="rId3" Target="../media/image77.svg" Type="http://schemas.openxmlformats.org/officeDocument/2006/relationships/image"/><Relationship Id="rId4" Target="../media/image67.png" Type="http://schemas.openxmlformats.org/officeDocument/2006/relationships/image"/><Relationship Id="rId5" Target="../media/image78.svg" Type="http://schemas.openxmlformats.org/officeDocument/2006/relationships/image"/><Relationship Id="rId6" Target="../media/image79.svg" Type="http://schemas.openxmlformats.org/officeDocument/2006/relationships/image"/><Relationship Id="rId7" Target="../media/image80.svg" Type="http://schemas.openxmlformats.org/officeDocument/2006/relationships/image"/><Relationship Id="rId8" Target="../media/image81.svg" Type="http://schemas.openxmlformats.org/officeDocument/2006/relationships/image"/><Relationship Id="rId9" Target="../media/image8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1.png" Type="http://schemas.openxmlformats.org/officeDocument/2006/relationships/image"/><Relationship Id="rId3" Target="../media/image92.svg" Type="http://schemas.openxmlformats.org/officeDocument/2006/relationships/image"/><Relationship Id="rId4" Target="../media/image93.png" Type="http://schemas.openxmlformats.org/officeDocument/2006/relationships/image"/><Relationship Id="rId5" Target="../media/image94.svg" Type="http://schemas.openxmlformats.org/officeDocument/2006/relationships/image"/><Relationship Id="rId6" Target="../media/image95.jpeg" Type="http://schemas.openxmlformats.org/officeDocument/2006/relationships/image"/><Relationship Id="rId7" Target="../media/image96.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7.png" Type="http://schemas.openxmlformats.org/officeDocument/2006/relationships/image"/><Relationship Id="rId3" Target="../media/image98.svg" Type="http://schemas.openxmlformats.org/officeDocument/2006/relationships/image"/><Relationship Id="rId4" Target="https://www.tatamotors.com/annual-reports/" TargetMode="External" Type="http://schemas.openxmlformats.org/officeDocument/2006/relationships/hyperlink"/><Relationship Id="rId5" Target="https://www.tatamotors.com/annual-reports/" TargetMode="External" Type="http://schemas.openxmlformats.org/officeDocument/2006/relationships/hyperlink"/><Relationship Id="rId6" Target="https://www.tatamotors.com/annual-reports/" TargetMode="External" Type="http://schemas.openxmlformats.org/officeDocument/2006/relationships/hyperlink"/><Relationship Id="rId7" Target="https://www.screener.in/company/TATAMOTORS/consolidated/" TargetMode="External" Type="http://schemas.openxmlformats.org/officeDocument/2006/relationships/hyperlink"/><Relationship Id="rId8" Target="https://finance.yahoo.com/quote/TATAMOTORS.NS/"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3503" y="3342446"/>
            <a:ext cx="5600271" cy="3380194"/>
          </a:xfrm>
          <a:custGeom>
            <a:avLst/>
            <a:gdLst/>
            <a:ahLst/>
            <a:cxnLst/>
            <a:rect r="r" b="b" t="t" l="l"/>
            <a:pathLst>
              <a:path h="3380194" w="5600271">
                <a:moveTo>
                  <a:pt x="0" y="0"/>
                </a:moveTo>
                <a:lnTo>
                  <a:pt x="5600271" y="0"/>
                </a:lnTo>
                <a:lnTo>
                  <a:pt x="5600271" y="3380194"/>
                </a:lnTo>
                <a:lnTo>
                  <a:pt x="0" y="33801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3503" y="2070487"/>
            <a:ext cx="18414997" cy="8280016"/>
          </a:xfrm>
          <a:custGeom>
            <a:avLst/>
            <a:gdLst/>
            <a:ahLst/>
            <a:cxnLst/>
            <a:rect r="r" b="b" t="t" l="l"/>
            <a:pathLst>
              <a:path h="8280016" w="18414997">
                <a:moveTo>
                  <a:pt x="0" y="0"/>
                </a:moveTo>
                <a:lnTo>
                  <a:pt x="18414997" y="0"/>
                </a:lnTo>
                <a:lnTo>
                  <a:pt x="18414997" y="8280016"/>
                </a:lnTo>
                <a:lnTo>
                  <a:pt x="0" y="82800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2993136" y="1191768"/>
            <a:ext cx="11030712" cy="4581144"/>
            <a:chOff x="0" y="0"/>
            <a:chExt cx="14707616" cy="6108192"/>
          </a:xfrm>
        </p:grpSpPr>
        <p:sp>
          <p:nvSpPr>
            <p:cNvPr name="Freeform 5" id="5"/>
            <p:cNvSpPr/>
            <p:nvPr/>
          </p:nvSpPr>
          <p:spPr>
            <a:xfrm flipH="false" flipV="false" rot="0">
              <a:off x="0" y="0"/>
              <a:ext cx="14707615" cy="6108192"/>
            </a:xfrm>
            <a:custGeom>
              <a:avLst/>
              <a:gdLst/>
              <a:ahLst/>
              <a:cxnLst/>
              <a:rect r="r" b="b" t="t" l="l"/>
              <a:pathLst>
                <a:path h="6108192" w="14707615">
                  <a:moveTo>
                    <a:pt x="0" y="0"/>
                  </a:moveTo>
                  <a:lnTo>
                    <a:pt x="14707615" y="0"/>
                  </a:lnTo>
                  <a:lnTo>
                    <a:pt x="14707615" y="6108192"/>
                  </a:lnTo>
                  <a:lnTo>
                    <a:pt x="0" y="6108192"/>
                  </a:lnTo>
                  <a:lnTo>
                    <a:pt x="0" y="0"/>
                  </a:lnTo>
                  <a:close/>
                </a:path>
              </a:pathLst>
            </a:custGeom>
            <a:blipFill>
              <a:blip r:embed="rId6"/>
              <a:stretch>
                <a:fillRect l="0" t="0" r="0" b="0"/>
              </a:stretch>
            </a:blipFill>
          </p:spPr>
        </p:sp>
      </p:grpSp>
      <p:grpSp>
        <p:nvGrpSpPr>
          <p:cNvPr name="Group 6" id="6"/>
          <p:cNvGrpSpPr/>
          <p:nvPr/>
        </p:nvGrpSpPr>
        <p:grpSpPr>
          <a:xfrm rot="0">
            <a:off x="0" y="3327721"/>
            <a:ext cx="5485581" cy="3364744"/>
            <a:chOff x="0" y="0"/>
            <a:chExt cx="5485574" cy="3364738"/>
          </a:xfrm>
        </p:grpSpPr>
        <p:sp>
          <p:nvSpPr>
            <p:cNvPr name="Freeform 7" id="7"/>
            <p:cNvSpPr/>
            <p:nvPr/>
          </p:nvSpPr>
          <p:spPr>
            <a:xfrm flipH="false" flipV="false" rot="0">
              <a:off x="0" y="0"/>
              <a:ext cx="5485634" cy="3364735"/>
            </a:xfrm>
            <a:custGeom>
              <a:avLst/>
              <a:gdLst/>
              <a:ahLst/>
              <a:cxnLst/>
              <a:rect r="r" b="b" t="t" l="l"/>
              <a:pathLst>
                <a:path h="3364735" w="5485634">
                  <a:moveTo>
                    <a:pt x="0" y="0"/>
                  </a:moveTo>
                  <a:lnTo>
                    <a:pt x="0" y="3364735"/>
                  </a:lnTo>
                  <a:lnTo>
                    <a:pt x="5485634" y="3364735"/>
                  </a:lnTo>
                  <a:lnTo>
                    <a:pt x="5485634" y="0"/>
                  </a:lnTo>
                  <a:close/>
                </a:path>
              </a:pathLst>
            </a:custGeom>
            <a:solidFill>
              <a:srgbClr val="000000">
                <a:alpha val="0"/>
              </a:srgbClr>
            </a:solidFill>
          </p:spPr>
        </p:sp>
      </p:grpSp>
      <p:sp>
        <p:nvSpPr>
          <p:cNvPr name="TextBox 8" id="8"/>
          <p:cNvSpPr txBox="true"/>
          <p:nvPr/>
        </p:nvSpPr>
        <p:spPr>
          <a:xfrm rot="0">
            <a:off x="90307" y="7591711"/>
            <a:ext cx="2887951" cy="1276356"/>
          </a:xfrm>
          <a:prstGeom prst="rect">
            <a:avLst/>
          </a:prstGeom>
        </p:spPr>
        <p:txBody>
          <a:bodyPr anchor="t" rtlCol="false" tIns="0" lIns="0" bIns="0" rIns="0">
            <a:spAutoFit/>
          </a:bodyPr>
          <a:lstStyle/>
          <a:p>
            <a:pPr algn="ctr">
              <a:lnSpc>
                <a:spcPts val="3449"/>
              </a:lnSpc>
            </a:pPr>
            <a:r>
              <a:rPr lang="en-US" b="true" sz="2499">
                <a:solidFill>
                  <a:srgbClr val="000000"/>
                </a:solidFill>
                <a:latin typeface="Open Sauce Bold"/>
                <a:ea typeface="Open Sauce Bold"/>
                <a:cs typeface="Open Sauce Bold"/>
                <a:sym typeface="Open Sauce Bold"/>
              </a:rPr>
              <a:t>Name- Aman Agrawal Roll no.- 240098</a:t>
            </a:r>
          </a:p>
        </p:txBody>
      </p:sp>
      <p:sp>
        <p:nvSpPr>
          <p:cNvPr name="TextBox 9" id="9"/>
          <p:cNvSpPr txBox="true"/>
          <p:nvPr/>
        </p:nvSpPr>
        <p:spPr>
          <a:xfrm rot="0">
            <a:off x="4468275" y="6480771"/>
            <a:ext cx="6739261" cy="1307821"/>
          </a:xfrm>
          <a:prstGeom prst="rect">
            <a:avLst/>
          </a:prstGeom>
        </p:spPr>
        <p:txBody>
          <a:bodyPr anchor="t" rtlCol="false" tIns="0" lIns="0" bIns="0" rIns="0">
            <a:spAutoFit/>
          </a:bodyPr>
          <a:lstStyle/>
          <a:p>
            <a:pPr algn="ctr">
              <a:lnSpc>
                <a:spcPts val="3449"/>
              </a:lnSpc>
            </a:pPr>
            <a:r>
              <a:rPr lang="en-US" sz="2499">
                <a:solidFill>
                  <a:srgbClr val="FF3131"/>
                </a:solidFill>
                <a:latin typeface="Open Sauce"/>
                <a:ea typeface="Open Sauce"/>
                <a:cs typeface="Open Sauce"/>
                <a:sym typeface="Open Sauce"/>
              </a:rPr>
              <a:t>Task- To find out Intrinsic Value of </a:t>
            </a:r>
            <a:r>
              <a:rPr lang="en-US" b="true" sz="2499">
                <a:solidFill>
                  <a:srgbClr val="FF3131"/>
                </a:solidFill>
                <a:latin typeface="Open Sauce Bold"/>
                <a:ea typeface="Open Sauce Bold"/>
                <a:cs typeface="Open Sauce Bold"/>
                <a:sym typeface="Open Sauce Bold"/>
              </a:rPr>
              <a:t>Tata Motors </a:t>
            </a:r>
            <a:r>
              <a:rPr lang="en-US" sz="2499">
                <a:solidFill>
                  <a:srgbClr val="FF3131"/>
                </a:solidFill>
                <a:latin typeface="Open Sauce"/>
                <a:ea typeface="Open Sauce"/>
                <a:cs typeface="Open Sauce"/>
                <a:sym typeface="Open Sauce"/>
              </a:rPr>
              <a:t>using Discounted Cash Flow and Comparable Company Analysis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321469" cy="321469"/>
          </a:xfrm>
          <a:custGeom>
            <a:avLst/>
            <a:gdLst/>
            <a:ahLst/>
            <a:cxnLst/>
            <a:rect r="r" b="b" t="t" l="l"/>
            <a:pathLst>
              <a:path h="321469" w="321469">
                <a:moveTo>
                  <a:pt x="0" y="0"/>
                </a:moveTo>
                <a:lnTo>
                  <a:pt x="321469" y="0"/>
                </a:lnTo>
                <a:lnTo>
                  <a:pt x="321469" y="321469"/>
                </a:lnTo>
                <a:lnTo>
                  <a:pt x="0" y="3214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258300"/>
            <a:ext cx="18288000" cy="1028700"/>
            <a:chOff x="0" y="0"/>
            <a:chExt cx="18288000" cy="1028700"/>
          </a:xfrm>
        </p:grpSpPr>
        <p:sp>
          <p:nvSpPr>
            <p:cNvPr name="Freeform 4" id="4"/>
            <p:cNvSpPr/>
            <p:nvPr/>
          </p:nvSpPr>
          <p:spPr>
            <a:xfrm flipH="false" flipV="false" rot="0">
              <a:off x="0" y="0"/>
              <a:ext cx="18288000" cy="1028700"/>
            </a:xfrm>
            <a:custGeom>
              <a:avLst/>
              <a:gdLst/>
              <a:ahLst/>
              <a:cxnLst/>
              <a:rect r="r" b="b" t="t" l="l"/>
              <a:pathLst>
                <a:path h="1028700" w="18288000">
                  <a:moveTo>
                    <a:pt x="0" y="0"/>
                  </a:moveTo>
                  <a:lnTo>
                    <a:pt x="0" y="1028700"/>
                  </a:lnTo>
                  <a:lnTo>
                    <a:pt x="18288000" y="1028700"/>
                  </a:lnTo>
                  <a:lnTo>
                    <a:pt x="18288000" y="0"/>
                  </a:lnTo>
                  <a:close/>
                </a:path>
              </a:pathLst>
            </a:custGeom>
            <a:solidFill>
              <a:srgbClr val="5EC57E"/>
            </a:solidFill>
          </p:spPr>
        </p:sp>
      </p:grpSp>
      <p:sp>
        <p:nvSpPr>
          <p:cNvPr name="Freeform 5" id="5"/>
          <p:cNvSpPr/>
          <p:nvPr/>
        </p:nvSpPr>
        <p:spPr>
          <a:xfrm flipH="false" flipV="false" rot="0">
            <a:off x="14462636" y="-12925"/>
            <a:ext cx="3888867" cy="2228974"/>
          </a:xfrm>
          <a:custGeom>
            <a:avLst/>
            <a:gdLst/>
            <a:ahLst/>
            <a:cxnLst/>
            <a:rect r="r" b="b" t="t" l="l"/>
            <a:pathLst>
              <a:path h="2228974" w="3888867">
                <a:moveTo>
                  <a:pt x="0" y="0"/>
                </a:moveTo>
                <a:lnTo>
                  <a:pt x="3888867" y="0"/>
                </a:lnTo>
                <a:lnTo>
                  <a:pt x="3888867" y="2228973"/>
                </a:lnTo>
                <a:lnTo>
                  <a:pt x="0" y="22289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9144000" y="3098987"/>
            <a:ext cx="6943725" cy="5362575"/>
            <a:chOff x="0" y="0"/>
            <a:chExt cx="9258300" cy="7150100"/>
          </a:xfrm>
        </p:grpSpPr>
        <p:sp>
          <p:nvSpPr>
            <p:cNvPr name="Freeform 7" id="7"/>
            <p:cNvSpPr/>
            <p:nvPr/>
          </p:nvSpPr>
          <p:spPr>
            <a:xfrm flipH="false" flipV="false" rot="0">
              <a:off x="0" y="0"/>
              <a:ext cx="9258300" cy="7150100"/>
            </a:xfrm>
            <a:custGeom>
              <a:avLst/>
              <a:gdLst/>
              <a:ahLst/>
              <a:cxnLst/>
              <a:rect r="r" b="b" t="t" l="l"/>
              <a:pathLst>
                <a:path h="7150100" w="9258300">
                  <a:moveTo>
                    <a:pt x="0" y="0"/>
                  </a:moveTo>
                  <a:lnTo>
                    <a:pt x="9258300" y="0"/>
                  </a:lnTo>
                  <a:lnTo>
                    <a:pt x="9258300" y="7150100"/>
                  </a:lnTo>
                  <a:lnTo>
                    <a:pt x="0" y="7150100"/>
                  </a:lnTo>
                  <a:lnTo>
                    <a:pt x="0" y="0"/>
                  </a:lnTo>
                  <a:close/>
                </a:path>
              </a:pathLst>
            </a:custGeom>
            <a:blipFill>
              <a:blip r:embed="rId6"/>
              <a:stretch>
                <a:fillRect l="0" t="-2247" r="-1234" b="-61"/>
              </a:stretch>
            </a:blipFill>
          </p:spPr>
        </p:sp>
      </p:grpSp>
      <p:grpSp>
        <p:nvGrpSpPr>
          <p:cNvPr name="Group 8" id="8"/>
          <p:cNvGrpSpPr/>
          <p:nvPr/>
        </p:nvGrpSpPr>
        <p:grpSpPr>
          <a:xfrm rot="0">
            <a:off x="1028700" y="1028700"/>
            <a:ext cx="321564" cy="321564"/>
            <a:chOff x="0" y="0"/>
            <a:chExt cx="321564" cy="321564"/>
          </a:xfrm>
        </p:grpSpPr>
        <p:sp>
          <p:nvSpPr>
            <p:cNvPr name="Freeform 9" id="9"/>
            <p:cNvSpPr/>
            <p:nvPr/>
          </p:nvSpPr>
          <p:spPr>
            <a:xfrm flipH="false" flipV="false" rot="0">
              <a:off x="0" y="0"/>
              <a:ext cx="321564" cy="321565"/>
            </a:xfrm>
            <a:custGeom>
              <a:avLst/>
              <a:gdLst/>
              <a:ahLst/>
              <a:cxnLst/>
              <a:rect r="r" b="b" t="t" l="l"/>
              <a:pathLst>
                <a:path h="321565" w="321564">
                  <a:moveTo>
                    <a:pt x="0" y="321565"/>
                  </a:moveTo>
                  <a:lnTo>
                    <a:pt x="321564" y="321565"/>
                  </a:lnTo>
                  <a:lnTo>
                    <a:pt x="321564" y="0"/>
                  </a:lnTo>
                  <a:lnTo>
                    <a:pt x="0" y="0"/>
                  </a:lnTo>
                  <a:close/>
                </a:path>
              </a:pathLst>
            </a:custGeom>
            <a:solidFill>
              <a:srgbClr val="000000">
                <a:alpha val="0"/>
              </a:srgbClr>
            </a:solidFill>
          </p:spPr>
        </p:sp>
      </p:grpSp>
      <p:grpSp>
        <p:nvGrpSpPr>
          <p:cNvPr name="Group 10" id="10"/>
          <p:cNvGrpSpPr/>
          <p:nvPr/>
        </p:nvGrpSpPr>
        <p:grpSpPr>
          <a:xfrm rot="0">
            <a:off x="14518205" y="0"/>
            <a:ext cx="3769795" cy="2174110"/>
            <a:chOff x="0" y="0"/>
            <a:chExt cx="3769792" cy="2174113"/>
          </a:xfrm>
        </p:grpSpPr>
        <p:sp>
          <p:nvSpPr>
            <p:cNvPr name="Freeform 11" id="11"/>
            <p:cNvSpPr/>
            <p:nvPr/>
          </p:nvSpPr>
          <p:spPr>
            <a:xfrm flipH="false" flipV="false" rot="0">
              <a:off x="0" y="0"/>
              <a:ext cx="3769738" cy="2174118"/>
            </a:xfrm>
            <a:custGeom>
              <a:avLst/>
              <a:gdLst/>
              <a:ahLst/>
              <a:cxnLst/>
              <a:rect r="r" b="b" t="t" l="l"/>
              <a:pathLst>
                <a:path h="2174118" w="3769738">
                  <a:moveTo>
                    <a:pt x="0" y="0"/>
                  </a:moveTo>
                  <a:lnTo>
                    <a:pt x="0" y="2174118"/>
                  </a:lnTo>
                  <a:lnTo>
                    <a:pt x="3769738" y="2174118"/>
                  </a:lnTo>
                  <a:lnTo>
                    <a:pt x="3769738" y="0"/>
                  </a:lnTo>
                  <a:close/>
                </a:path>
              </a:pathLst>
            </a:custGeom>
            <a:solidFill>
              <a:srgbClr val="000000">
                <a:alpha val="0"/>
              </a:srgbClr>
            </a:solidFill>
          </p:spPr>
        </p:sp>
      </p:grpSp>
      <p:sp>
        <p:nvSpPr>
          <p:cNvPr name="TextBox 12" id="12"/>
          <p:cNvSpPr txBox="true"/>
          <p:nvPr/>
        </p:nvSpPr>
        <p:spPr>
          <a:xfrm rot="0">
            <a:off x="4755013" y="526913"/>
            <a:ext cx="9313564" cy="1799234"/>
          </a:xfrm>
          <a:prstGeom prst="rect">
            <a:avLst/>
          </a:prstGeom>
        </p:spPr>
        <p:txBody>
          <a:bodyPr anchor="t" rtlCol="false" tIns="0" lIns="0" bIns="0" rIns="0">
            <a:spAutoFit/>
          </a:bodyPr>
          <a:lstStyle/>
          <a:p>
            <a:pPr algn="l">
              <a:lnSpc>
                <a:spcPts val="13999"/>
              </a:lnSpc>
            </a:pPr>
            <a:r>
              <a:rPr lang="en-US" sz="9999">
                <a:solidFill>
                  <a:srgbClr val="3E3A4E"/>
                </a:solidFill>
                <a:latin typeface="Anton"/>
                <a:ea typeface="Anton"/>
                <a:cs typeface="Anton"/>
                <a:sym typeface="Anton"/>
              </a:rPr>
              <a:t>COMPANY OVERVIEW</a:t>
            </a:r>
          </a:p>
        </p:txBody>
      </p:sp>
      <p:sp>
        <p:nvSpPr>
          <p:cNvPr name="TextBox 13" id="13"/>
          <p:cNvSpPr txBox="true"/>
          <p:nvPr/>
        </p:nvSpPr>
        <p:spPr>
          <a:xfrm rot="0">
            <a:off x="4130278" y="3056496"/>
            <a:ext cx="94507" cy="438236"/>
          </a:xfrm>
          <a:prstGeom prst="rect">
            <a:avLst/>
          </a:prstGeom>
        </p:spPr>
        <p:txBody>
          <a:bodyPr anchor="t" rtlCol="false" tIns="0" lIns="0" bIns="0" rIns="0">
            <a:spAutoFit/>
          </a:bodyPr>
          <a:lstStyle/>
          <a:p>
            <a:pPr algn="l">
              <a:lnSpc>
                <a:spcPts val="3647"/>
              </a:lnSpc>
            </a:pPr>
            <a:r>
              <a:rPr lang="en-US" sz="2605">
                <a:solidFill>
                  <a:srgbClr val="3E3A4E"/>
                </a:solidFill>
                <a:latin typeface="Open Sauce"/>
                <a:ea typeface="Open Sauce"/>
                <a:cs typeface="Open Sauce"/>
                <a:sym typeface="Open Sauce"/>
              </a:rPr>
              <a:t> </a:t>
            </a:r>
          </a:p>
        </p:txBody>
      </p:sp>
      <p:sp>
        <p:nvSpPr>
          <p:cNvPr name="TextBox 14" id="14"/>
          <p:cNvSpPr txBox="true"/>
          <p:nvPr/>
        </p:nvSpPr>
        <p:spPr>
          <a:xfrm rot="0">
            <a:off x="1498397" y="1012946"/>
            <a:ext cx="1260262" cy="283778"/>
          </a:xfrm>
          <a:prstGeom prst="rect">
            <a:avLst/>
          </a:prstGeom>
        </p:spPr>
        <p:txBody>
          <a:bodyPr anchor="t" rtlCol="false" tIns="0" lIns="0" bIns="0" rIns="0">
            <a:spAutoFit/>
          </a:bodyPr>
          <a:lstStyle/>
          <a:p>
            <a:pPr algn="l">
              <a:lnSpc>
                <a:spcPts val="2239"/>
              </a:lnSpc>
            </a:pPr>
            <a:r>
              <a:rPr lang="en-US" sz="1599">
                <a:solidFill>
                  <a:srgbClr val="3E3A4E"/>
                </a:solidFill>
                <a:latin typeface="Open Sauce"/>
                <a:ea typeface="Open Sauce"/>
                <a:cs typeface="Open Sauce"/>
                <a:sym typeface="Open Sauce"/>
              </a:rPr>
              <a:t>Wardiere Inc.</a:t>
            </a:r>
          </a:p>
        </p:txBody>
      </p:sp>
      <p:sp>
        <p:nvSpPr>
          <p:cNvPr name="TextBox 15" id="15"/>
          <p:cNvSpPr txBox="true"/>
          <p:nvPr/>
        </p:nvSpPr>
        <p:spPr>
          <a:xfrm rot="0">
            <a:off x="874490" y="3056496"/>
            <a:ext cx="6415021" cy="438236"/>
          </a:xfrm>
          <a:prstGeom prst="rect">
            <a:avLst/>
          </a:prstGeom>
        </p:spPr>
        <p:txBody>
          <a:bodyPr anchor="t" rtlCol="false" tIns="0" lIns="0" bIns="0" rIns="0">
            <a:spAutoFit/>
          </a:bodyPr>
          <a:lstStyle/>
          <a:p>
            <a:pPr algn="l">
              <a:lnSpc>
                <a:spcPts val="3647"/>
              </a:lnSpc>
            </a:pPr>
            <a:r>
              <a:rPr lang="en-US" sz="2605">
                <a:solidFill>
                  <a:srgbClr val="3E3A4E"/>
                </a:solidFill>
                <a:latin typeface="Open Sauce"/>
                <a:ea typeface="Open Sauce"/>
                <a:cs typeface="Open Sauce"/>
                <a:sym typeface="Open Sauce"/>
              </a:rPr>
              <a:t>Tata Motors, a part ofthe TataGroup, is a</a:t>
            </a:r>
          </a:p>
        </p:txBody>
      </p:sp>
      <p:sp>
        <p:nvSpPr>
          <p:cNvPr name="TextBox 16" id="16"/>
          <p:cNvSpPr txBox="true"/>
          <p:nvPr/>
        </p:nvSpPr>
        <p:spPr>
          <a:xfrm rot="0">
            <a:off x="874490" y="3513782"/>
            <a:ext cx="7062664" cy="1695802"/>
          </a:xfrm>
          <a:prstGeom prst="rect">
            <a:avLst/>
          </a:prstGeom>
        </p:spPr>
        <p:txBody>
          <a:bodyPr anchor="t" rtlCol="false" tIns="0" lIns="0" bIns="0" rIns="0">
            <a:spAutoFit/>
          </a:bodyPr>
          <a:lstStyle/>
          <a:p>
            <a:pPr algn="l">
              <a:lnSpc>
                <a:spcPts val="3376"/>
              </a:lnSpc>
            </a:pPr>
            <a:r>
              <a:rPr lang="en-US" sz="2605">
                <a:solidFill>
                  <a:srgbClr val="3E3A4E"/>
                </a:solidFill>
                <a:latin typeface="Open Sauce"/>
                <a:ea typeface="Open Sauce"/>
                <a:cs typeface="Open Sauce"/>
                <a:sym typeface="Open Sauce"/>
              </a:rPr>
              <a:t>leading global automobile manufacturer, In India it holds a significant market share in both the commercial vehicle industry and passenger vehicle industry</a:t>
            </a:r>
          </a:p>
        </p:txBody>
      </p:sp>
      <p:sp>
        <p:nvSpPr>
          <p:cNvPr name="TextBox 17" id="17"/>
          <p:cNvSpPr txBox="true"/>
          <p:nvPr/>
        </p:nvSpPr>
        <p:spPr>
          <a:xfrm rot="0">
            <a:off x="874490" y="6009599"/>
            <a:ext cx="6999903" cy="1695536"/>
          </a:xfrm>
          <a:prstGeom prst="rect">
            <a:avLst/>
          </a:prstGeom>
        </p:spPr>
        <p:txBody>
          <a:bodyPr anchor="t" rtlCol="false" tIns="0" lIns="0" bIns="0" rIns="0">
            <a:spAutoFit/>
          </a:bodyPr>
          <a:lstStyle/>
          <a:p>
            <a:pPr algn="l">
              <a:lnSpc>
                <a:spcPts val="3374"/>
              </a:lnSpc>
            </a:pPr>
            <a:r>
              <a:rPr lang="en-US" sz="2605">
                <a:solidFill>
                  <a:srgbClr val="FF3131"/>
                </a:solidFill>
                <a:latin typeface="Open Sauce"/>
                <a:ea typeface="Open Sauce"/>
                <a:cs typeface="Open Sauce"/>
                <a:sym typeface="Open Sauce"/>
              </a:rPr>
              <a:t>Annual Report of Tata Motors of FY 25 has not been released yet (as of 18 May 2025) Therefore, all financial data used if from FY24 and before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26621" y="2766250"/>
            <a:ext cx="85725" cy="85725"/>
          </a:xfrm>
          <a:custGeom>
            <a:avLst/>
            <a:gdLst/>
            <a:ahLst/>
            <a:cxnLst/>
            <a:rect r="r" b="b" t="t" l="l"/>
            <a:pathLst>
              <a:path h="85725" w="85725">
                <a:moveTo>
                  <a:pt x="0" y="0"/>
                </a:moveTo>
                <a:lnTo>
                  <a:pt x="85725" y="0"/>
                </a:lnTo>
                <a:lnTo>
                  <a:pt x="85725" y="85726"/>
                </a:lnTo>
                <a:lnTo>
                  <a:pt x="0" y="857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26621" y="5033200"/>
            <a:ext cx="85725" cy="85725"/>
          </a:xfrm>
          <a:custGeom>
            <a:avLst/>
            <a:gdLst/>
            <a:ahLst/>
            <a:cxnLst/>
            <a:rect r="r" b="b" t="t" l="l"/>
            <a:pathLst>
              <a:path h="85725" w="85725">
                <a:moveTo>
                  <a:pt x="0" y="0"/>
                </a:moveTo>
                <a:lnTo>
                  <a:pt x="85725" y="0"/>
                </a:lnTo>
                <a:lnTo>
                  <a:pt x="85725" y="85725"/>
                </a:lnTo>
                <a:lnTo>
                  <a:pt x="0" y="85725"/>
                </a:lnTo>
                <a:lnTo>
                  <a:pt x="0" y="0"/>
                </a:lnTo>
                <a:close/>
              </a:path>
            </a:pathLst>
          </a:custGeom>
          <a:blipFill>
            <a:blip r:embed="rId2">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60009" y="3085338"/>
            <a:ext cx="95250" cy="95250"/>
          </a:xfrm>
          <a:custGeom>
            <a:avLst/>
            <a:gdLst/>
            <a:ahLst/>
            <a:cxnLst/>
            <a:rect r="r" b="b" t="t" l="l"/>
            <a:pathLst>
              <a:path h="95250" w="95250">
                <a:moveTo>
                  <a:pt x="0" y="0"/>
                </a:moveTo>
                <a:lnTo>
                  <a:pt x="95250" y="0"/>
                </a:lnTo>
                <a:lnTo>
                  <a:pt x="95250" y="95250"/>
                </a:lnTo>
                <a:lnTo>
                  <a:pt x="0" y="952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60009" y="3409188"/>
            <a:ext cx="95250" cy="95250"/>
          </a:xfrm>
          <a:custGeom>
            <a:avLst/>
            <a:gdLst/>
            <a:ahLst/>
            <a:cxnLst/>
            <a:rect r="r" b="b" t="t" l="l"/>
            <a:pathLst>
              <a:path h="95250" w="95250">
                <a:moveTo>
                  <a:pt x="0" y="0"/>
                </a:moveTo>
                <a:lnTo>
                  <a:pt x="95250" y="0"/>
                </a:lnTo>
                <a:lnTo>
                  <a:pt x="95250" y="95250"/>
                </a:lnTo>
                <a:lnTo>
                  <a:pt x="0" y="9525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060009" y="3733038"/>
            <a:ext cx="95250" cy="95250"/>
          </a:xfrm>
          <a:custGeom>
            <a:avLst/>
            <a:gdLst/>
            <a:ahLst/>
            <a:cxnLst/>
            <a:rect r="r" b="b" t="t" l="l"/>
            <a:pathLst>
              <a:path h="95250" w="95250">
                <a:moveTo>
                  <a:pt x="0" y="0"/>
                </a:moveTo>
                <a:lnTo>
                  <a:pt x="95250" y="0"/>
                </a:lnTo>
                <a:lnTo>
                  <a:pt x="95250" y="95250"/>
                </a:lnTo>
                <a:lnTo>
                  <a:pt x="0" y="95250"/>
                </a:lnTo>
                <a:lnTo>
                  <a:pt x="0" y="0"/>
                </a:lnTo>
                <a:close/>
              </a:path>
            </a:pathLst>
          </a:custGeom>
          <a:blipFill>
            <a:blip r:embed="rId5">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060009" y="4056888"/>
            <a:ext cx="95250" cy="95250"/>
          </a:xfrm>
          <a:custGeom>
            <a:avLst/>
            <a:gdLst/>
            <a:ahLst/>
            <a:cxnLst/>
            <a:rect r="r" b="b" t="t" l="l"/>
            <a:pathLst>
              <a:path h="95250" w="95250">
                <a:moveTo>
                  <a:pt x="0" y="0"/>
                </a:moveTo>
                <a:lnTo>
                  <a:pt x="95250" y="0"/>
                </a:lnTo>
                <a:lnTo>
                  <a:pt x="95250" y="95250"/>
                </a:lnTo>
                <a:lnTo>
                  <a:pt x="0" y="95250"/>
                </a:lnTo>
                <a:lnTo>
                  <a:pt x="0" y="0"/>
                </a:lnTo>
                <a:close/>
              </a:path>
            </a:pathLst>
          </a:custGeom>
          <a:blipFill>
            <a:blip r:embed="rId5">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060009" y="5352288"/>
            <a:ext cx="95250" cy="95250"/>
          </a:xfrm>
          <a:custGeom>
            <a:avLst/>
            <a:gdLst/>
            <a:ahLst/>
            <a:cxnLst/>
            <a:rect r="r" b="b" t="t" l="l"/>
            <a:pathLst>
              <a:path h="95250" w="95250">
                <a:moveTo>
                  <a:pt x="0" y="0"/>
                </a:moveTo>
                <a:lnTo>
                  <a:pt x="95250" y="0"/>
                </a:lnTo>
                <a:lnTo>
                  <a:pt x="95250" y="95250"/>
                </a:lnTo>
                <a:lnTo>
                  <a:pt x="0" y="95250"/>
                </a:lnTo>
                <a:lnTo>
                  <a:pt x="0" y="0"/>
                </a:lnTo>
                <a:close/>
              </a:path>
            </a:pathLst>
          </a:custGeom>
          <a:blipFill>
            <a:blip r:embed="rId5">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060009" y="5676138"/>
            <a:ext cx="95250" cy="95250"/>
          </a:xfrm>
          <a:custGeom>
            <a:avLst/>
            <a:gdLst/>
            <a:ahLst/>
            <a:cxnLst/>
            <a:rect r="r" b="b" t="t" l="l"/>
            <a:pathLst>
              <a:path h="95250" w="95250">
                <a:moveTo>
                  <a:pt x="0" y="0"/>
                </a:moveTo>
                <a:lnTo>
                  <a:pt x="95250" y="0"/>
                </a:lnTo>
                <a:lnTo>
                  <a:pt x="95250" y="95250"/>
                </a:lnTo>
                <a:lnTo>
                  <a:pt x="0" y="95250"/>
                </a:lnTo>
                <a:lnTo>
                  <a:pt x="0" y="0"/>
                </a:lnTo>
                <a:close/>
              </a:path>
            </a:pathLst>
          </a:custGeom>
          <a:blipFill>
            <a:blip r:embed="rId5">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060009" y="5999988"/>
            <a:ext cx="95250" cy="95250"/>
          </a:xfrm>
          <a:custGeom>
            <a:avLst/>
            <a:gdLst/>
            <a:ahLst/>
            <a:cxnLst/>
            <a:rect r="r" b="b" t="t" l="l"/>
            <a:pathLst>
              <a:path h="95250" w="95250">
                <a:moveTo>
                  <a:pt x="0" y="0"/>
                </a:moveTo>
                <a:lnTo>
                  <a:pt x="95250" y="0"/>
                </a:lnTo>
                <a:lnTo>
                  <a:pt x="95250" y="95250"/>
                </a:lnTo>
                <a:lnTo>
                  <a:pt x="0" y="9525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0">
            <a:off x="1060009" y="6323838"/>
            <a:ext cx="95250" cy="95250"/>
          </a:xfrm>
          <a:custGeom>
            <a:avLst/>
            <a:gdLst/>
            <a:ahLst/>
            <a:cxnLst/>
            <a:rect r="r" b="b" t="t" l="l"/>
            <a:pathLst>
              <a:path h="95250" w="95250">
                <a:moveTo>
                  <a:pt x="0" y="0"/>
                </a:moveTo>
                <a:lnTo>
                  <a:pt x="95250" y="0"/>
                </a:lnTo>
                <a:lnTo>
                  <a:pt x="95250" y="95250"/>
                </a:lnTo>
                <a:lnTo>
                  <a:pt x="0" y="95250"/>
                </a:lnTo>
                <a:lnTo>
                  <a:pt x="0" y="0"/>
                </a:lnTo>
                <a:close/>
              </a:path>
            </a:pathLst>
          </a:custGeom>
          <a:blipFill>
            <a:blip r:embed="rId12">
              <a:extLst>
                <a:ext uri="{96DAC541-7B7A-43D3-8B79-37D633B846F1}">
                  <asvg:svgBlip xmlns:asvg="http://schemas.microsoft.com/office/drawing/2016/SVG/main" r:embed="rId14"/>
                </a:ext>
              </a:extLst>
            </a:blip>
            <a:stretch>
              <a:fillRect l="0" t="0" r="0" b="0"/>
            </a:stretch>
          </a:blipFill>
        </p:spPr>
      </p:sp>
      <p:sp>
        <p:nvSpPr>
          <p:cNvPr name="Freeform 12" id="12"/>
          <p:cNvSpPr/>
          <p:nvPr/>
        </p:nvSpPr>
        <p:spPr>
          <a:xfrm flipH="false" flipV="false" rot="0">
            <a:off x="7072684" y="2203542"/>
            <a:ext cx="165106" cy="5993663"/>
          </a:xfrm>
          <a:custGeom>
            <a:avLst/>
            <a:gdLst/>
            <a:ahLst/>
            <a:cxnLst/>
            <a:rect r="r" b="b" t="t" l="l"/>
            <a:pathLst>
              <a:path h="5993663" w="165106">
                <a:moveTo>
                  <a:pt x="0" y="0"/>
                </a:moveTo>
                <a:lnTo>
                  <a:pt x="165106" y="0"/>
                </a:lnTo>
                <a:lnTo>
                  <a:pt x="165106" y="5993663"/>
                </a:lnTo>
                <a:lnTo>
                  <a:pt x="0" y="599366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3" id="13"/>
          <p:cNvSpPr/>
          <p:nvPr/>
        </p:nvSpPr>
        <p:spPr>
          <a:xfrm flipH="false" flipV="false" rot="0">
            <a:off x="8205645" y="3317253"/>
            <a:ext cx="2537222" cy="28575"/>
          </a:xfrm>
          <a:custGeom>
            <a:avLst/>
            <a:gdLst/>
            <a:ahLst/>
            <a:cxnLst/>
            <a:rect r="r" b="b" t="t" l="l"/>
            <a:pathLst>
              <a:path h="28575" w="2537222">
                <a:moveTo>
                  <a:pt x="0" y="0"/>
                </a:moveTo>
                <a:lnTo>
                  <a:pt x="2537221" y="0"/>
                </a:lnTo>
                <a:lnTo>
                  <a:pt x="2537221" y="28575"/>
                </a:lnTo>
                <a:lnTo>
                  <a:pt x="0" y="2857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4" id="14"/>
          <p:cNvSpPr/>
          <p:nvPr/>
        </p:nvSpPr>
        <p:spPr>
          <a:xfrm flipH="false" flipV="false" rot="0">
            <a:off x="8443770" y="3898278"/>
            <a:ext cx="95250" cy="95250"/>
          </a:xfrm>
          <a:custGeom>
            <a:avLst/>
            <a:gdLst/>
            <a:ahLst/>
            <a:cxnLst/>
            <a:rect r="r" b="b" t="t" l="l"/>
            <a:pathLst>
              <a:path h="95250" w="95250">
                <a:moveTo>
                  <a:pt x="0" y="0"/>
                </a:moveTo>
                <a:lnTo>
                  <a:pt x="95250" y="0"/>
                </a:lnTo>
                <a:lnTo>
                  <a:pt x="95250" y="95250"/>
                </a:lnTo>
                <a:lnTo>
                  <a:pt x="0" y="9525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15" id="15"/>
          <p:cNvSpPr/>
          <p:nvPr/>
        </p:nvSpPr>
        <p:spPr>
          <a:xfrm flipH="false" flipV="false" rot="0">
            <a:off x="8443770" y="5012703"/>
            <a:ext cx="95250" cy="95250"/>
          </a:xfrm>
          <a:custGeom>
            <a:avLst/>
            <a:gdLst/>
            <a:ahLst/>
            <a:cxnLst/>
            <a:rect r="r" b="b" t="t" l="l"/>
            <a:pathLst>
              <a:path h="95250" w="95250">
                <a:moveTo>
                  <a:pt x="0" y="0"/>
                </a:moveTo>
                <a:lnTo>
                  <a:pt x="95250" y="0"/>
                </a:lnTo>
                <a:lnTo>
                  <a:pt x="95250" y="95250"/>
                </a:lnTo>
                <a:lnTo>
                  <a:pt x="0" y="95250"/>
                </a:lnTo>
                <a:lnTo>
                  <a:pt x="0" y="0"/>
                </a:lnTo>
                <a:close/>
              </a:path>
            </a:pathLst>
          </a:custGeom>
          <a:blipFill>
            <a:blip r:embed="rId19">
              <a:extLst>
                <a:ext uri="{96DAC541-7B7A-43D3-8B79-37D633B846F1}">
                  <asvg:svgBlip xmlns:asvg="http://schemas.microsoft.com/office/drawing/2016/SVG/main" r:embed="rId21"/>
                </a:ext>
              </a:extLst>
            </a:blip>
            <a:stretch>
              <a:fillRect l="0" t="0" r="0" b="0"/>
            </a:stretch>
          </a:blipFill>
        </p:spPr>
      </p:sp>
      <p:sp>
        <p:nvSpPr>
          <p:cNvPr name="Freeform 16" id="16"/>
          <p:cNvSpPr/>
          <p:nvPr/>
        </p:nvSpPr>
        <p:spPr>
          <a:xfrm flipH="false" flipV="false" rot="0">
            <a:off x="8443770" y="5755653"/>
            <a:ext cx="95250" cy="95250"/>
          </a:xfrm>
          <a:custGeom>
            <a:avLst/>
            <a:gdLst/>
            <a:ahLst/>
            <a:cxnLst/>
            <a:rect r="r" b="b" t="t" l="l"/>
            <a:pathLst>
              <a:path h="95250" w="95250">
                <a:moveTo>
                  <a:pt x="0" y="0"/>
                </a:moveTo>
                <a:lnTo>
                  <a:pt x="95250" y="0"/>
                </a:lnTo>
                <a:lnTo>
                  <a:pt x="95250" y="95250"/>
                </a:lnTo>
                <a:lnTo>
                  <a:pt x="0" y="95250"/>
                </a:lnTo>
                <a:lnTo>
                  <a:pt x="0" y="0"/>
                </a:lnTo>
                <a:close/>
              </a:path>
            </a:pathLst>
          </a:custGeom>
          <a:blipFill>
            <a:blip r:embed="rId19">
              <a:extLst>
                <a:ext uri="{96DAC541-7B7A-43D3-8B79-37D633B846F1}">
                  <asvg:svgBlip xmlns:asvg="http://schemas.microsoft.com/office/drawing/2016/SVG/main" r:embed="rId22"/>
                </a:ext>
              </a:extLst>
            </a:blip>
            <a:stretch>
              <a:fillRect l="0" t="0" r="0" b="0"/>
            </a:stretch>
          </a:blipFill>
        </p:spPr>
      </p:sp>
      <p:sp>
        <p:nvSpPr>
          <p:cNvPr name="Freeform 17" id="17"/>
          <p:cNvSpPr/>
          <p:nvPr/>
        </p:nvSpPr>
        <p:spPr>
          <a:xfrm flipH="false" flipV="false" rot="0">
            <a:off x="8205645" y="2945778"/>
            <a:ext cx="6756206" cy="28575"/>
          </a:xfrm>
          <a:custGeom>
            <a:avLst/>
            <a:gdLst/>
            <a:ahLst/>
            <a:cxnLst/>
            <a:rect r="r" b="b" t="t" l="l"/>
            <a:pathLst>
              <a:path h="28575" w="6756206">
                <a:moveTo>
                  <a:pt x="0" y="0"/>
                </a:moveTo>
                <a:lnTo>
                  <a:pt x="6756206" y="0"/>
                </a:lnTo>
                <a:lnTo>
                  <a:pt x="6756206" y="28575"/>
                </a:lnTo>
                <a:lnTo>
                  <a:pt x="0" y="28575"/>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18" id="18"/>
          <p:cNvSpPr/>
          <p:nvPr/>
        </p:nvSpPr>
        <p:spPr>
          <a:xfrm flipH="false" flipV="false" rot="0">
            <a:off x="13289709" y="-63503"/>
            <a:ext cx="5061785" cy="2312222"/>
          </a:xfrm>
          <a:custGeom>
            <a:avLst/>
            <a:gdLst/>
            <a:ahLst/>
            <a:cxnLst/>
            <a:rect r="r" b="b" t="t" l="l"/>
            <a:pathLst>
              <a:path h="2312222" w="5061785">
                <a:moveTo>
                  <a:pt x="0" y="0"/>
                </a:moveTo>
                <a:lnTo>
                  <a:pt x="5061785" y="0"/>
                </a:lnTo>
                <a:lnTo>
                  <a:pt x="5061785" y="2312222"/>
                </a:lnTo>
                <a:lnTo>
                  <a:pt x="0" y="2312222"/>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19" id="19"/>
          <p:cNvSpPr/>
          <p:nvPr/>
        </p:nvSpPr>
        <p:spPr>
          <a:xfrm flipH="false" flipV="false" rot="0">
            <a:off x="-63503" y="6094238"/>
            <a:ext cx="18414997" cy="4256265"/>
          </a:xfrm>
          <a:custGeom>
            <a:avLst/>
            <a:gdLst/>
            <a:ahLst/>
            <a:cxnLst/>
            <a:rect r="r" b="b" t="t" l="l"/>
            <a:pathLst>
              <a:path h="4256265" w="18414997">
                <a:moveTo>
                  <a:pt x="0" y="0"/>
                </a:moveTo>
                <a:lnTo>
                  <a:pt x="18414997" y="0"/>
                </a:lnTo>
                <a:lnTo>
                  <a:pt x="18414997" y="4256265"/>
                </a:lnTo>
                <a:lnTo>
                  <a:pt x="0" y="4256265"/>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TextBox 20" id="20"/>
          <p:cNvSpPr txBox="true"/>
          <p:nvPr/>
        </p:nvSpPr>
        <p:spPr>
          <a:xfrm rot="0">
            <a:off x="1028700" y="431749"/>
            <a:ext cx="15476401" cy="2067001"/>
          </a:xfrm>
          <a:prstGeom prst="rect">
            <a:avLst/>
          </a:prstGeom>
        </p:spPr>
        <p:txBody>
          <a:bodyPr anchor="t" rtlCol="false" tIns="0" lIns="0" bIns="0" rIns="0">
            <a:spAutoFit/>
          </a:bodyPr>
          <a:lstStyle/>
          <a:p>
            <a:pPr algn="l">
              <a:lnSpc>
                <a:spcPts val="14054"/>
              </a:lnSpc>
            </a:pPr>
            <a:r>
              <a:rPr lang="en-US" sz="10038">
                <a:solidFill>
                  <a:srgbClr val="3E3A4E"/>
                </a:solidFill>
                <a:latin typeface="Anton"/>
                <a:ea typeface="Anton"/>
                <a:cs typeface="Anton"/>
                <a:sym typeface="Anton"/>
              </a:rPr>
              <a:t>DISCOUNTED CASH FLOW ANALYSIS</a:t>
            </a:r>
          </a:p>
        </p:txBody>
      </p:sp>
      <p:sp>
        <p:nvSpPr>
          <p:cNvPr name="TextBox 21" id="21"/>
          <p:cNvSpPr txBox="true"/>
          <p:nvPr/>
        </p:nvSpPr>
        <p:spPr>
          <a:xfrm rot="0">
            <a:off x="426596" y="2277713"/>
            <a:ext cx="4050316" cy="345176"/>
          </a:xfrm>
          <a:prstGeom prst="rect">
            <a:avLst/>
          </a:prstGeom>
        </p:spPr>
        <p:txBody>
          <a:bodyPr anchor="t" rtlCol="false" tIns="0" lIns="0" bIns="0" rIns="0">
            <a:spAutoFit/>
          </a:bodyPr>
          <a:lstStyle/>
          <a:p>
            <a:pPr algn="l">
              <a:lnSpc>
                <a:spcPts val="2799"/>
              </a:lnSpc>
            </a:pPr>
            <a:r>
              <a:rPr lang="en-US" sz="1999">
                <a:solidFill>
                  <a:srgbClr val="3E3A4E"/>
                </a:solidFill>
                <a:latin typeface="Open Sauce"/>
                <a:ea typeface="Open Sauce"/>
                <a:cs typeface="Open Sauce"/>
                <a:sym typeface="Open Sauce"/>
              </a:rPr>
              <a:t>Thereare2types of DCFanalysis:</a:t>
            </a:r>
          </a:p>
        </p:txBody>
      </p:sp>
      <p:sp>
        <p:nvSpPr>
          <p:cNvPr name="TextBox 22" id="22"/>
          <p:cNvSpPr txBox="true"/>
          <p:nvPr/>
        </p:nvSpPr>
        <p:spPr>
          <a:xfrm rot="0">
            <a:off x="858345" y="2601563"/>
            <a:ext cx="4269153" cy="345176"/>
          </a:xfrm>
          <a:prstGeom prst="rect">
            <a:avLst/>
          </a:prstGeom>
        </p:spPr>
        <p:txBody>
          <a:bodyPr anchor="t" rtlCol="false" tIns="0" lIns="0" bIns="0" rIns="0">
            <a:spAutoFit/>
          </a:bodyPr>
          <a:lstStyle/>
          <a:p>
            <a:pPr algn="l">
              <a:lnSpc>
                <a:spcPts val="2799"/>
              </a:lnSpc>
            </a:pPr>
            <a:r>
              <a:rPr lang="en-US" sz="1999">
                <a:solidFill>
                  <a:srgbClr val="3E3A4E"/>
                </a:solidFill>
                <a:latin typeface="Open Sauce"/>
                <a:ea typeface="Open Sauce"/>
                <a:cs typeface="Open Sauce"/>
                <a:sym typeface="Open Sauce"/>
              </a:rPr>
              <a:t>usingFree Cash Flowto Firm(FCFF)</a:t>
            </a:r>
          </a:p>
        </p:txBody>
      </p:sp>
      <p:sp>
        <p:nvSpPr>
          <p:cNvPr name="TextBox 23" id="23"/>
          <p:cNvSpPr txBox="true"/>
          <p:nvPr/>
        </p:nvSpPr>
        <p:spPr>
          <a:xfrm rot="0">
            <a:off x="1290095" y="2944463"/>
            <a:ext cx="5382225" cy="1945376"/>
          </a:xfrm>
          <a:prstGeom prst="rect">
            <a:avLst/>
          </a:prstGeom>
        </p:spPr>
        <p:txBody>
          <a:bodyPr anchor="t" rtlCol="false" tIns="0" lIns="0" bIns="0" rIns="0">
            <a:spAutoFit/>
          </a:bodyPr>
          <a:lstStyle/>
          <a:p>
            <a:pPr algn="l">
              <a:lnSpc>
                <a:spcPts val="2549"/>
              </a:lnSpc>
            </a:pPr>
            <a:r>
              <a:rPr lang="en-US" sz="1999">
                <a:solidFill>
                  <a:srgbClr val="3E3A4E"/>
                </a:solidFill>
                <a:latin typeface="Open Sauce"/>
                <a:ea typeface="Open Sauce"/>
                <a:cs typeface="Open Sauce"/>
                <a:sym typeface="Open Sauce"/>
              </a:rPr>
              <a:t>usesdiscountingrate= costofequity</a:t>
            </a:r>
          </a:p>
          <a:p>
            <a:pPr algn="l">
              <a:lnSpc>
                <a:spcPts val="2549"/>
              </a:lnSpc>
            </a:pPr>
            <a:r>
              <a:rPr lang="en-US" sz="1999">
                <a:solidFill>
                  <a:srgbClr val="3E3A4E"/>
                </a:solidFill>
                <a:latin typeface="Open Sauce"/>
                <a:ea typeface="Open Sauce"/>
                <a:cs typeface="Open Sauce"/>
                <a:sym typeface="Open Sauce"/>
              </a:rPr>
              <a:t>known as unlevered FreeCashFlow</a:t>
            </a:r>
          </a:p>
          <a:p>
            <a:pPr algn="l">
              <a:lnSpc>
                <a:spcPts val="2549"/>
              </a:lnSpc>
            </a:pPr>
            <a:r>
              <a:rPr lang="en-US" sz="1999">
                <a:solidFill>
                  <a:srgbClr val="3E3A4E"/>
                </a:solidFill>
                <a:latin typeface="Open Sauce"/>
                <a:ea typeface="Open Sauce"/>
                <a:cs typeface="Open Sauce"/>
                <a:sym typeface="Open Sauce"/>
              </a:rPr>
              <a:t>doesn’t deductinterest anddebt repayments FCFF= EBIT*(1-tax)+ depreciation &amp; amortization - Capex - increment in noncash working capital</a:t>
            </a:r>
          </a:p>
        </p:txBody>
      </p:sp>
      <p:sp>
        <p:nvSpPr>
          <p:cNvPr name="TextBox 24" id="24"/>
          <p:cNvSpPr txBox="true"/>
          <p:nvPr/>
        </p:nvSpPr>
        <p:spPr>
          <a:xfrm rot="0">
            <a:off x="858345" y="4868513"/>
            <a:ext cx="4483846" cy="345176"/>
          </a:xfrm>
          <a:prstGeom prst="rect">
            <a:avLst/>
          </a:prstGeom>
        </p:spPr>
        <p:txBody>
          <a:bodyPr anchor="t" rtlCol="false" tIns="0" lIns="0" bIns="0" rIns="0">
            <a:spAutoFit/>
          </a:bodyPr>
          <a:lstStyle/>
          <a:p>
            <a:pPr algn="l">
              <a:lnSpc>
                <a:spcPts val="2799"/>
              </a:lnSpc>
            </a:pPr>
            <a:r>
              <a:rPr lang="en-US" sz="1999">
                <a:solidFill>
                  <a:srgbClr val="3E3A4E"/>
                </a:solidFill>
                <a:latin typeface="Open Sauce"/>
                <a:ea typeface="Open Sauce"/>
                <a:cs typeface="Open Sauce"/>
                <a:sym typeface="Open Sauce"/>
              </a:rPr>
              <a:t>using Free Cash Flow to Equity (FCFE)</a:t>
            </a:r>
          </a:p>
        </p:txBody>
      </p:sp>
      <p:sp>
        <p:nvSpPr>
          <p:cNvPr name="TextBox 25" id="25"/>
          <p:cNvSpPr txBox="true"/>
          <p:nvPr/>
        </p:nvSpPr>
        <p:spPr>
          <a:xfrm rot="0">
            <a:off x="1290095" y="5211413"/>
            <a:ext cx="5200431" cy="1297676"/>
          </a:xfrm>
          <a:prstGeom prst="rect">
            <a:avLst/>
          </a:prstGeom>
        </p:spPr>
        <p:txBody>
          <a:bodyPr anchor="t" rtlCol="false" tIns="0" lIns="0" bIns="0" rIns="0">
            <a:spAutoFit/>
          </a:bodyPr>
          <a:lstStyle/>
          <a:p>
            <a:pPr algn="l">
              <a:lnSpc>
                <a:spcPts val="2549"/>
              </a:lnSpc>
            </a:pPr>
            <a:r>
              <a:rPr lang="en-US" sz="1999">
                <a:solidFill>
                  <a:srgbClr val="3E3A4E"/>
                </a:solidFill>
                <a:latin typeface="Open Sauce"/>
                <a:ea typeface="Open Sauce"/>
                <a:cs typeface="Open Sauce"/>
                <a:sym typeface="Open Sauce"/>
              </a:rPr>
              <a:t>discounting rate= WACC</a:t>
            </a:r>
          </a:p>
          <a:p>
            <a:pPr algn="l">
              <a:lnSpc>
                <a:spcPts val="2549"/>
              </a:lnSpc>
            </a:pPr>
            <a:r>
              <a:rPr lang="en-US" sz="1999">
                <a:solidFill>
                  <a:srgbClr val="3E3A4E"/>
                </a:solidFill>
                <a:latin typeface="Open Sauce"/>
                <a:ea typeface="Open Sauce"/>
                <a:cs typeface="Open Sauce"/>
                <a:sym typeface="Open Sauce"/>
              </a:rPr>
              <a:t>known as levered Free Cash Flow</a:t>
            </a:r>
          </a:p>
          <a:p>
            <a:pPr algn="l">
              <a:lnSpc>
                <a:spcPts val="2549"/>
              </a:lnSpc>
            </a:pPr>
            <a:r>
              <a:rPr lang="en-US" sz="1999">
                <a:solidFill>
                  <a:srgbClr val="3E3A4E"/>
                </a:solidFill>
                <a:latin typeface="Open Sauce"/>
                <a:ea typeface="Open Sauce"/>
                <a:cs typeface="Open Sauce"/>
                <a:sym typeface="Open Sauce"/>
              </a:rPr>
              <a:t>deducts interest and debt repayments FCFE=Cash from operating activities- Capex</a:t>
            </a:r>
          </a:p>
        </p:txBody>
      </p:sp>
      <p:sp>
        <p:nvSpPr>
          <p:cNvPr name="TextBox 26" id="26"/>
          <p:cNvSpPr txBox="true"/>
          <p:nvPr/>
        </p:nvSpPr>
        <p:spPr>
          <a:xfrm rot="0">
            <a:off x="426596" y="7027688"/>
            <a:ext cx="5431355" cy="743674"/>
          </a:xfrm>
          <a:prstGeom prst="rect">
            <a:avLst/>
          </a:prstGeom>
        </p:spPr>
        <p:txBody>
          <a:bodyPr anchor="t" rtlCol="false" tIns="0" lIns="0" bIns="0" rIns="0">
            <a:spAutoFit/>
          </a:bodyPr>
          <a:lstStyle/>
          <a:p>
            <a:pPr algn="l">
              <a:lnSpc>
                <a:spcPts val="2924"/>
              </a:lnSpc>
            </a:pPr>
            <a:r>
              <a:rPr lang="en-US" sz="2299">
                <a:solidFill>
                  <a:srgbClr val="FF3131"/>
                </a:solidFill>
                <a:latin typeface="Open Sauce"/>
                <a:ea typeface="Open Sauce"/>
                <a:cs typeface="Open Sauce"/>
                <a:sym typeface="Open Sauce"/>
              </a:rPr>
              <a:t>*We will be using Free Cash flow to firm (FCFF) to do the analysis</a:t>
            </a:r>
          </a:p>
        </p:txBody>
      </p:sp>
      <p:sp>
        <p:nvSpPr>
          <p:cNvPr name="TextBox 27" id="27"/>
          <p:cNvSpPr txBox="true"/>
          <p:nvPr/>
        </p:nvSpPr>
        <p:spPr>
          <a:xfrm rot="0">
            <a:off x="8205645" y="2619689"/>
            <a:ext cx="6900272" cy="743674"/>
          </a:xfrm>
          <a:prstGeom prst="rect">
            <a:avLst/>
          </a:prstGeom>
        </p:spPr>
        <p:txBody>
          <a:bodyPr anchor="t" rtlCol="false" tIns="0" lIns="0" bIns="0" rIns="0">
            <a:spAutoFit/>
          </a:bodyPr>
          <a:lstStyle/>
          <a:p>
            <a:pPr algn="l">
              <a:lnSpc>
                <a:spcPts val="2924"/>
              </a:lnSpc>
            </a:pPr>
            <a:r>
              <a:rPr lang="en-US" b="true" sz="2299">
                <a:solidFill>
                  <a:srgbClr val="3E3A4E"/>
                </a:solidFill>
                <a:latin typeface="Open Sauce Bold"/>
                <a:ea typeface="Open Sauce Bold"/>
                <a:cs typeface="Open Sauce Bold"/>
                <a:sym typeface="Open Sauce Bold"/>
              </a:rPr>
              <a:t>STEP</a:t>
            </a:r>
            <a:r>
              <a:rPr lang="en-US" b="true" sz="2299">
                <a:solidFill>
                  <a:srgbClr val="000000"/>
                </a:solidFill>
                <a:latin typeface="Open Sauce Bold"/>
                <a:ea typeface="Open Sauce Bold"/>
                <a:cs typeface="Open Sauce Bold"/>
                <a:sym typeface="Open Sauce Bold"/>
              </a:rPr>
              <a:t> </a:t>
            </a:r>
            <a:r>
              <a:rPr lang="en-US" b="true" sz="2299">
                <a:solidFill>
                  <a:srgbClr val="3E3A4E"/>
                </a:solidFill>
                <a:latin typeface="Open Sauce Bold"/>
                <a:ea typeface="Open Sauce Bold"/>
                <a:cs typeface="Open Sauce Bold"/>
                <a:sym typeface="Open Sauce Bold"/>
              </a:rPr>
              <a:t>1:</a:t>
            </a:r>
            <a:r>
              <a:rPr lang="en-US" b="true" sz="2299">
                <a:solidFill>
                  <a:srgbClr val="000000"/>
                </a:solidFill>
                <a:latin typeface="Open Sauce Bold"/>
                <a:ea typeface="Open Sauce Bold"/>
                <a:cs typeface="Open Sauce Bold"/>
                <a:sym typeface="Open Sauce Bold"/>
              </a:rPr>
              <a:t> </a:t>
            </a:r>
            <a:r>
              <a:rPr lang="en-US" b="true" sz="2299">
                <a:solidFill>
                  <a:srgbClr val="3E3A4E"/>
                </a:solidFill>
                <a:latin typeface="Open Sauce Bold"/>
                <a:ea typeface="Open Sauce Bold"/>
                <a:cs typeface="Open Sauce Bold"/>
                <a:sym typeface="Open Sauce Bold"/>
              </a:rPr>
              <a:t>Calculate</a:t>
            </a:r>
            <a:r>
              <a:rPr lang="en-US" b="true" sz="2299">
                <a:solidFill>
                  <a:srgbClr val="000000"/>
                </a:solidFill>
                <a:latin typeface="Open Sauce Bold"/>
                <a:ea typeface="Open Sauce Bold"/>
                <a:cs typeface="Open Sauce Bold"/>
                <a:sym typeface="Open Sauce Bold"/>
              </a:rPr>
              <a:t> </a:t>
            </a:r>
            <a:r>
              <a:rPr lang="en-US" b="true" sz="2299">
                <a:solidFill>
                  <a:srgbClr val="3E3A4E"/>
                </a:solidFill>
                <a:latin typeface="Open Sauce Bold"/>
                <a:ea typeface="Open Sauce Bold"/>
                <a:cs typeface="Open Sauce Bold"/>
                <a:sym typeface="Open Sauce Bold"/>
              </a:rPr>
              <a:t>Free</a:t>
            </a:r>
            <a:r>
              <a:rPr lang="en-US" b="true" sz="2299">
                <a:solidFill>
                  <a:srgbClr val="000000"/>
                </a:solidFill>
                <a:latin typeface="Open Sauce Bold"/>
                <a:ea typeface="Open Sauce Bold"/>
                <a:cs typeface="Open Sauce Bold"/>
                <a:sym typeface="Open Sauce Bold"/>
              </a:rPr>
              <a:t> </a:t>
            </a:r>
            <a:r>
              <a:rPr lang="en-US" b="true" sz="2299">
                <a:solidFill>
                  <a:srgbClr val="3E3A4E"/>
                </a:solidFill>
                <a:latin typeface="Open Sauce Bold"/>
                <a:ea typeface="Open Sauce Bold"/>
                <a:cs typeface="Open Sauce Bold"/>
                <a:sym typeface="Open Sauce Bold"/>
              </a:rPr>
              <a:t>Cash</a:t>
            </a:r>
            <a:r>
              <a:rPr lang="en-US" b="true" sz="2299">
                <a:solidFill>
                  <a:srgbClr val="000000"/>
                </a:solidFill>
                <a:latin typeface="Open Sauce Bold"/>
                <a:ea typeface="Open Sauce Bold"/>
                <a:cs typeface="Open Sauce Bold"/>
                <a:sym typeface="Open Sauce Bold"/>
              </a:rPr>
              <a:t> </a:t>
            </a:r>
            <a:r>
              <a:rPr lang="en-US" b="true" sz="2299">
                <a:solidFill>
                  <a:srgbClr val="3E3A4E"/>
                </a:solidFill>
                <a:latin typeface="Open Sauce Bold"/>
                <a:ea typeface="Open Sauce Bold"/>
                <a:cs typeface="Open Sauce Bold"/>
                <a:sym typeface="Open Sauce Bold"/>
              </a:rPr>
              <a:t>Flows</a:t>
            </a:r>
            <a:r>
              <a:rPr lang="en-US" b="true" sz="2299">
                <a:solidFill>
                  <a:srgbClr val="000000"/>
                </a:solidFill>
                <a:latin typeface="Open Sauce Bold"/>
                <a:ea typeface="Open Sauce Bold"/>
                <a:cs typeface="Open Sauce Bold"/>
                <a:sym typeface="Open Sauce Bold"/>
              </a:rPr>
              <a:t> </a:t>
            </a:r>
            <a:r>
              <a:rPr lang="en-US" b="true" sz="2299">
                <a:solidFill>
                  <a:srgbClr val="3E3A4E"/>
                </a:solidFill>
                <a:latin typeface="Open Sauce Bold"/>
                <a:ea typeface="Open Sauce Bold"/>
                <a:cs typeface="Open Sauce Bold"/>
                <a:sym typeface="Open Sauce Bold"/>
              </a:rPr>
              <a:t>of</a:t>
            </a:r>
            <a:r>
              <a:rPr lang="en-US" b="true" sz="2299">
                <a:solidFill>
                  <a:srgbClr val="000000"/>
                </a:solidFill>
                <a:latin typeface="Open Sauce Bold"/>
                <a:ea typeface="Open Sauce Bold"/>
                <a:cs typeface="Open Sauce Bold"/>
                <a:sym typeface="Open Sauce Bold"/>
              </a:rPr>
              <a:t> </a:t>
            </a:r>
            <a:r>
              <a:rPr lang="en-US" b="true" sz="2299">
                <a:solidFill>
                  <a:srgbClr val="3E3A4E"/>
                </a:solidFill>
                <a:latin typeface="Open Sauce Bold"/>
                <a:ea typeface="Open Sauce Bold"/>
                <a:cs typeface="Open Sauce Bold"/>
                <a:sym typeface="Open Sauce Bold"/>
              </a:rPr>
              <a:t>last</a:t>
            </a:r>
            <a:r>
              <a:rPr lang="en-US" b="true" sz="2299">
                <a:solidFill>
                  <a:srgbClr val="000000"/>
                </a:solidFill>
                <a:latin typeface="Open Sauce Bold"/>
                <a:ea typeface="Open Sauce Bold"/>
                <a:cs typeface="Open Sauce Bold"/>
                <a:sym typeface="Open Sauce Bold"/>
              </a:rPr>
              <a:t> </a:t>
            </a:r>
            <a:r>
              <a:rPr lang="en-US" b="true" sz="2299">
                <a:solidFill>
                  <a:srgbClr val="3E3A4E"/>
                </a:solidFill>
                <a:latin typeface="Open Sauce Bold"/>
                <a:ea typeface="Open Sauce Bold"/>
                <a:cs typeface="Open Sauce Bold"/>
                <a:sym typeface="Open Sauce Bold"/>
              </a:rPr>
              <a:t>3</a:t>
            </a:r>
            <a:r>
              <a:rPr lang="en-US" b="true" sz="2299">
                <a:solidFill>
                  <a:srgbClr val="000000"/>
                </a:solidFill>
                <a:latin typeface="Open Sauce Bold"/>
                <a:ea typeface="Open Sauce Bold"/>
                <a:cs typeface="Open Sauce Bold"/>
                <a:sym typeface="Open Sauce Bold"/>
              </a:rPr>
              <a:t> </a:t>
            </a:r>
            <a:r>
              <a:rPr lang="en-US" b="true" sz="2299">
                <a:solidFill>
                  <a:srgbClr val="3E3A4E"/>
                </a:solidFill>
                <a:latin typeface="Open Sauce Bold"/>
                <a:ea typeface="Open Sauce Bold"/>
                <a:cs typeface="Open Sauce Bold"/>
                <a:sym typeface="Open Sauce Bold"/>
              </a:rPr>
              <a:t>years (FY22,FY23,FY24):</a:t>
            </a:r>
          </a:p>
        </p:txBody>
      </p:sp>
      <p:sp>
        <p:nvSpPr>
          <p:cNvPr name="TextBox 28" id="28"/>
          <p:cNvSpPr txBox="true"/>
          <p:nvPr/>
        </p:nvSpPr>
        <p:spPr>
          <a:xfrm rot="0">
            <a:off x="8702135" y="3734114"/>
            <a:ext cx="6434452" cy="2601049"/>
          </a:xfrm>
          <a:prstGeom prst="rect">
            <a:avLst/>
          </a:prstGeom>
        </p:spPr>
        <p:txBody>
          <a:bodyPr anchor="t" rtlCol="false" tIns="0" lIns="0" bIns="0" rIns="0">
            <a:spAutoFit/>
          </a:bodyPr>
          <a:lstStyle/>
          <a:p>
            <a:pPr algn="l">
              <a:lnSpc>
                <a:spcPts val="2924"/>
              </a:lnSpc>
            </a:pPr>
            <a:r>
              <a:rPr lang="en-US" b="true" sz="2299">
                <a:solidFill>
                  <a:srgbClr val="3E3A4E"/>
                </a:solidFill>
                <a:latin typeface="Open Sauce Semi-Bold"/>
                <a:ea typeface="Open Sauce Semi-Bold"/>
                <a:cs typeface="Open Sauce Semi-Bold"/>
                <a:sym typeface="Open Sauce Semi-Bold"/>
              </a:rPr>
              <a:t>FCFF=</a:t>
            </a:r>
            <a:r>
              <a:rPr lang="en-US" b="true" sz="2299">
                <a:solidFill>
                  <a:srgbClr val="000000"/>
                </a:solidFill>
                <a:latin typeface="Open Sauce Semi-Bold"/>
                <a:ea typeface="Open Sauce Semi-Bold"/>
                <a:cs typeface="Open Sauce Semi-Bold"/>
                <a:sym typeface="Open Sauce Semi-Bold"/>
              </a:rPr>
              <a:t> </a:t>
            </a:r>
            <a:r>
              <a:rPr lang="en-US" b="true" sz="2299">
                <a:solidFill>
                  <a:srgbClr val="3E3A4E"/>
                </a:solidFill>
                <a:latin typeface="Open Sauce Semi-Bold"/>
                <a:ea typeface="Open Sauce Semi-Bold"/>
                <a:cs typeface="Open Sauce Semi-Bold"/>
                <a:sym typeface="Open Sauce Semi-Bold"/>
              </a:rPr>
              <a:t>EBIT</a:t>
            </a:r>
            <a:r>
              <a:rPr lang="en-US" b="true" sz="2299">
                <a:solidFill>
                  <a:srgbClr val="000000"/>
                </a:solidFill>
                <a:latin typeface="Open Sauce Semi-Bold"/>
                <a:ea typeface="Open Sauce Semi-Bold"/>
                <a:cs typeface="Open Sauce Semi-Bold"/>
                <a:sym typeface="Open Sauce Semi-Bold"/>
              </a:rPr>
              <a:t> </a:t>
            </a:r>
            <a:r>
              <a:rPr lang="en-US" b="true" sz="2299">
                <a:solidFill>
                  <a:srgbClr val="3E3A4E"/>
                </a:solidFill>
                <a:latin typeface="Open Sauce Semi-Bold"/>
                <a:ea typeface="Open Sauce Semi-Bold"/>
                <a:cs typeface="Open Sauce Semi-Bold"/>
                <a:sym typeface="Open Sauce Semi-Bold"/>
              </a:rPr>
              <a:t>(1-</a:t>
            </a:r>
            <a:r>
              <a:rPr lang="en-US" b="true" sz="2299">
                <a:solidFill>
                  <a:srgbClr val="000000"/>
                </a:solidFill>
                <a:latin typeface="Open Sauce Semi-Bold"/>
                <a:ea typeface="Open Sauce Semi-Bold"/>
                <a:cs typeface="Open Sauce Semi-Bold"/>
                <a:sym typeface="Open Sauce Semi-Bold"/>
              </a:rPr>
              <a:t> </a:t>
            </a:r>
            <a:r>
              <a:rPr lang="en-US" b="true" sz="2299">
                <a:solidFill>
                  <a:srgbClr val="3E3A4E"/>
                </a:solidFill>
                <a:latin typeface="Open Sauce Semi-Bold"/>
                <a:ea typeface="Open Sauce Semi-Bold"/>
                <a:cs typeface="Open Sauce Semi-Bold"/>
                <a:sym typeface="Open Sauce Semi-Bold"/>
              </a:rPr>
              <a:t>Tax</a:t>
            </a:r>
            <a:r>
              <a:rPr lang="en-US" b="true" sz="2299">
                <a:solidFill>
                  <a:srgbClr val="000000"/>
                </a:solidFill>
                <a:latin typeface="Open Sauce Semi-Bold"/>
                <a:ea typeface="Open Sauce Semi-Bold"/>
                <a:cs typeface="Open Sauce Semi-Bold"/>
                <a:sym typeface="Open Sauce Semi-Bold"/>
              </a:rPr>
              <a:t> </a:t>
            </a:r>
            <a:r>
              <a:rPr lang="en-US" b="true" sz="2299">
                <a:solidFill>
                  <a:srgbClr val="3E3A4E"/>
                </a:solidFill>
                <a:latin typeface="Open Sauce Semi-Bold"/>
                <a:ea typeface="Open Sauce Semi-Bold"/>
                <a:cs typeface="Open Sauce Semi-Bold"/>
                <a:sym typeface="Open Sauce Semi-Bold"/>
              </a:rPr>
              <a:t>Rate)+</a:t>
            </a:r>
            <a:r>
              <a:rPr lang="en-US" b="true" sz="2299">
                <a:solidFill>
                  <a:srgbClr val="000000"/>
                </a:solidFill>
                <a:latin typeface="Open Sauce Semi-Bold"/>
                <a:ea typeface="Open Sauce Semi-Bold"/>
                <a:cs typeface="Open Sauce Semi-Bold"/>
                <a:sym typeface="Open Sauce Semi-Bold"/>
              </a:rPr>
              <a:t> </a:t>
            </a:r>
            <a:r>
              <a:rPr lang="en-US" b="true" sz="2299">
                <a:solidFill>
                  <a:srgbClr val="3E3A4E"/>
                </a:solidFill>
                <a:latin typeface="Open Sauce Semi-Bold"/>
                <a:ea typeface="Open Sauce Semi-Bold"/>
                <a:cs typeface="Open Sauce Semi-Bold"/>
                <a:sym typeface="Open Sauce Semi-Bold"/>
              </a:rPr>
              <a:t>Depreciation</a:t>
            </a:r>
            <a:r>
              <a:rPr lang="en-US" b="true" sz="2299">
                <a:solidFill>
                  <a:srgbClr val="000000"/>
                </a:solidFill>
                <a:latin typeface="Open Sauce Semi-Bold"/>
                <a:ea typeface="Open Sauce Semi-Bold"/>
                <a:cs typeface="Open Sauce Semi-Bold"/>
                <a:sym typeface="Open Sauce Semi-Bold"/>
              </a:rPr>
              <a:t> </a:t>
            </a:r>
            <a:r>
              <a:rPr lang="en-US" b="true" sz="2299">
                <a:solidFill>
                  <a:srgbClr val="3E3A4E"/>
                </a:solidFill>
                <a:latin typeface="Open Sauce Semi-Bold"/>
                <a:ea typeface="Open Sauce Semi-Bold"/>
                <a:cs typeface="Open Sauce Semi-Bold"/>
                <a:sym typeface="Open Sauce Semi-Bold"/>
              </a:rPr>
              <a:t>+ Amortization-capital expenditure-increasein non-cash workingcapital</a:t>
            </a:r>
          </a:p>
          <a:p>
            <a:pPr algn="l">
              <a:lnSpc>
                <a:spcPts val="2924"/>
              </a:lnSpc>
            </a:pPr>
            <a:r>
              <a:rPr lang="en-US" b="true" sz="2299">
                <a:solidFill>
                  <a:srgbClr val="3E3A4E"/>
                </a:solidFill>
                <a:latin typeface="Open Sauce Bold"/>
                <a:ea typeface="Open Sauce Bold"/>
                <a:cs typeface="Open Sauce Bold"/>
                <a:sym typeface="Open Sauce Bold"/>
              </a:rPr>
              <a:t>Increase in non-cash workingcapital= current assets- cash - current liabilities</a:t>
            </a:r>
          </a:p>
          <a:p>
            <a:pPr algn="l">
              <a:lnSpc>
                <a:spcPts val="2924"/>
              </a:lnSpc>
            </a:pPr>
            <a:r>
              <a:rPr lang="en-US" sz="2299">
                <a:solidFill>
                  <a:srgbClr val="3E3A4E"/>
                </a:solidFill>
                <a:latin typeface="Open Sauce"/>
                <a:ea typeface="Open Sauce"/>
                <a:cs typeface="Open Sauce"/>
                <a:sym typeface="Open Sauce"/>
              </a:rPr>
              <a:t>Calculate the average Free Cash Flow and use it to project Future Free Cash Flows in step 2.</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01945" y="1122531"/>
            <a:ext cx="5997331" cy="19050"/>
          </a:xfrm>
          <a:custGeom>
            <a:avLst/>
            <a:gdLst/>
            <a:ahLst/>
            <a:cxnLst/>
            <a:rect r="r" b="b" t="t" l="l"/>
            <a:pathLst>
              <a:path h="19050" w="5997331">
                <a:moveTo>
                  <a:pt x="0" y="0"/>
                </a:moveTo>
                <a:lnTo>
                  <a:pt x="5997330" y="0"/>
                </a:lnTo>
                <a:lnTo>
                  <a:pt x="5997330" y="19050"/>
                </a:lnTo>
                <a:lnTo>
                  <a:pt x="0" y="190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01945" y="4903546"/>
            <a:ext cx="3383461" cy="19050"/>
          </a:xfrm>
          <a:custGeom>
            <a:avLst/>
            <a:gdLst/>
            <a:ahLst/>
            <a:cxnLst/>
            <a:rect r="r" b="b" t="t" l="l"/>
            <a:pathLst>
              <a:path h="19050" w="3383461">
                <a:moveTo>
                  <a:pt x="0" y="0"/>
                </a:moveTo>
                <a:lnTo>
                  <a:pt x="3383461" y="0"/>
                </a:lnTo>
                <a:lnTo>
                  <a:pt x="3383461" y="19050"/>
                </a:lnTo>
                <a:lnTo>
                  <a:pt x="0" y="190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930545" y="1332081"/>
            <a:ext cx="95250" cy="95250"/>
          </a:xfrm>
          <a:custGeom>
            <a:avLst/>
            <a:gdLst/>
            <a:ahLst/>
            <a:cxnLst/>
            <a:rect r="r" b="b" t="t" l="l"/>
            <a:pathLst>
              <a:path h="95250" w="95250">
                <a:moveTo>
                  <a:pt x="0" y="0"/>
                </a:moveTo>
                <a:lnTo>
                  <a:pt x="95250" y="0"/>
                </a:lnTo>
                <a:lnTo>
                  <a:pt x="95250" y="95250"/>
                </a:lnTo>
                <a:lnTo>
                  <a:pt x="0" y="952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930545" y="2055981"/>
            <a:ext cx="95250" cy="95250"/>
          </a:xfrm>
          <a:custGeom>
            <a:avLst/>
            <a:gdLst/>
            <a:ahLst/>
            <a:cxnLst/>
            <a:rect r="r" b="b" t="t" l="l"/>
            <a:pathLst>
              <a:path h="95250" w="95250">
                <a:moveTo>
                  <a:pt x="0" y="0"/>
                </a:moveTo>
                <a:lnTo>
                  <a:pt x="95250" y="0"/>
                </a:lnTo>
                <a:lnTo>
                  <a:pt x="95250" y="95250"/>
                </a:lnTo>
                <a:lnTo>
                  <a:pt x="0" y="95250"/>
                </a:lnTo>
                <a:lnTo>
                  <a:pt x="0" y="0"/>
                </a:lnTo>
                <a:close/>
              </a:path>
            </a:pathLst>
          </a:custGeom>
          <a:blipFill>
            <a:blip r:embed="rId6">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930545" y="3503781"/>
            <a:ext cx="95250" cy="95250"/>
          </a:xfrm>
          <a:custGeom>
            <a:avLst/>
            <a:gdLst/>
            <a:ahLst/>
            <a:cxnLst/>
            <a:rect r="r" b="b" t="t" l="l"/>
            <a:pathLst>
              <a:path h="95250" w="95250">
                <a:moveTo>
                  <a:pt x="0" y="0"/>
                </a:moveTo>
                <a:lnTo>
                  <a:pt x="95250" y="0"/>
                </a:lnTo>
                <a:lnTo>
                  <a:pt x="95250" y="95250"/>
                </a:lnTo>
                <a:lnTo>
                  <a:pt x="0" y="95250"/>
                </a:lnTo>
                <a:lnTo>
                  <a:pt x="0" y="0"/>
                </a:lnTo>
                <a:close/>
              </a:path>
            </a:pathLst>
          </a:custGeom>
          <a:blipFill>
            <a:blip r:embed="rId6">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930545" y="5113096"/>
            <a:ext cx="95250" cy="95250"/>
          </a:xfrm>
          <a:custGeom>
            <a:avLst/>
            <a:gdLst/>
            <a:ahLst/>
            <a:cxnLst/>
            <a:rect r="r" b="b" t="t" l="l"/>
            <a:pathLst>
              <a:path h="95250" w="95250">
                <a:moveTo>
                  <a:pt x="0" y="0"/>
                </a:moveTo>
                <a:lnTo>
                  <a:pt x="95250" y="0"/>
                </a:lnTo>
                <a:lnTo>
                  <a:pt x="95250" y="95250"/>
                </a:lnTo>
                <a:lnTo>
                  <a:pt x="0" y="95250"/>
                </a:lnTo>
                <a:lnTo>
                  <a:pt x="0" y="0"/>
                </a:lnTo>
                <a:close/>
              </a:path>
            </a:pathLst>
          </a:custGeom>
          <a:blipFill>
            <a:blip r:embed="rId6">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930545" y="5475046"/>
            <a:ext cx="95250" cy="95250"/>
          </a:xfrm>
          <a:custGeom>
            <a:avLst/>
            <a:gdLst/>
            <a:ahLst/>
            <a:cxnLst/>
            <a:rect r="r" b="b" t="t" l="l"/>
            <a:pathLst>
              <a:path h="95250" w="95250">
                <a:moveTo>
                  <a:pt x="0" y="0"/>
                </a:moveTo>
                <a:lnTo>
                  <a:pt x="95250" y="0"/>
                </a:lnTo>
                <a:lnTo>
                  <a:pt x="95250" y="95250"/>
                </a:lnTo>
                <a:lnTo>
                  <a:pt x="0" y="95250"/>
                </a:lnTo>
                <a:lnTo>
                  <a:pt x="0" y="0"/>
                </a:lnTo>
                <a:close/>
              </a:path>
            </a:pathLst>
          </a:custGeom>
          <a:blipFill>
            <a:blip r:embed="rId6">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930545" y="5836996"/>
            <a:ext cx="95250" cy="95250"/>
          </a:xfrm>
          <a:custGeom>
            <a:avLst/>
            <a:gdLst/>
            <a:ahLst/>
            <a:cxnLst/>
            <a:rect r="r" b="b" t="t" l="l"/>
            <a:pathLst>
              <a:path h="95250" w="95250">
                <a:moveTo>
                  <a:pt x="0" y="0"/>
                </a:moveTo>
                <a:lnTo>
                  <a:pt x="95250" y="0"/>
                </a:lnTo>
                <a:lnTo>
                  <a:pt x="95250" y="95250"/>
                </a:lnTo>
                <a:lnTo>
                  <a:pt x="0" y="95250"/>
                </a:lnTo>
                <a:lnTo>
                  <a:pt x="0" y="0"/>
                </a:lnTo>
                <a:close/>
              </a:path>
            </a:pathLst>
          </a:custGeom>
          <a:blipFill>
            <a:blip r:embed="rId6">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930545" y="6198946"/>
            <a:ext cx="95250" cy="95250"/>
          </a:xfrm>
          <a:custGeom>
            <a:avLst/>
            <a:gdLst/>
            <a:ahLst/>
            <a:cxnLst/>
            <a:rect r="r" b="b" t="t" l="l"/>
            <a:pathLst>
              <a:path h="95250" w="95250">
                <a:moveTo>
                  <a:pt x="0" y="0"/>
                </a:moveTo>
                <a:lnTo>
                  <a:pt x="95250" y="0"/>
                </a:lnTo>
                <a:lnTo>
                  <a:pt x="95250" y="95250"/>
                </a:lnTo>
                <a:lnTo>
                  <a:pt x="0" y="95250"/>
                </a:lnTo>
                <a:lnTo>
                  <a:pt x="0" y="0"/>
                </a:lnTo>
                <a:close/>
              </a:path>
            </a:pathLst>
          </a:custGeom>
          <a:blipFill>
            <a:blip r:embed="rId6">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0">
            <a:off x="930545" y="6560896"/>
            <a:ext cx="95250" cy="95250"/>
          </a:xfrm>
          <a:custGeom>
            <a:avLst/>
            <a:gdLst/>
            <a:ahLst/>
            <a:cxnLst/>
            <a:rect r="r" b="b" t="t" l="l"/>
            <a:pathLst>
              <a:path h="95250" w="95250">
                <a:moveTo>
                  <a:pt x="0" y="0"/>
                </a:moveTo>
                <a:lnTo>
                  <a:pt x="95250" y="0"/>
                </a:lnTo>
                <a:lnTo>
                  <a:pt x="95250" y="95250"/>
                </a:lnTo>
                <a:lnTo>
                  <a:pt x="0" y="95250"/>
                </a:lnTo>
                <a:lnTo>
                  <a:pt x="0" y="0"/>
                </a:lnTo>
                <a:close/>
              </a:path>
            </a:pathLst>
          </a:custGeom>
          <a:blipFill>
            <a:blip r:embed="rId6">
              <a:extLst>
                <a:ext uri="{96DAC541-7B7A-43D3-8B79-37D633B846F1}">
                  <asvg:svgBlip xmlns:asvg="http://schemas.microsoft.com/office/drawing/2016/SVG/main" r:embed="rId14"/>
                </a:ext>
              </a:extLst>
            </a:blip>
            <a:stretch>
              <a:fillRect l="0" t="0" r="0" b="0"/>
            </a:stretch>
          </a:blipFill>
        </p:spPr>
      </p:sp>
      <p:sp>
        <p:nvSpPr>
          <p:cNvPr name="Freeform 12" id="12"/>
          <p:cNvSpPr/>
          <p:nvPr/>
        </p:nvSpPr>
        <p:spPr>
          <a:xfrm flipH="false" flipV="false" rot="0">
            <a:off x="930545" y="7284796"/>
            <a:ext cx="95250" cy="95250"/>
          </a:xfrm>
          <a:custGeom>
            <a:avLst/>
            <a:gdLst/>
            <a:ahLst/>
            <a:cxnLst/>
            <a:rect r="r" b="b" t="t" l="l"/>
            <a:pathLst>
              <a:path h="95250" w="95250">
                <a:moveTo>
                  <a:pt x="0" y="0"/>
                </a:moveTo>
                <a:lnTo>
                  <a:pt x="95250" y="0"/>
                </a:lnTo>
                <a:lnTo>
                  <a:pt x="95250" y="95250"/>
                </a:lnTo>
                <a:lnTo>
                  <a:pt x="0" y="95250"/>
                </a:lnTo>
                <a:lnTo>
                  <a:pt x="0" y="0"/>
                </a:lnTo>
                <a:close/>
              </a:path>
            </a:pathLst>
          </a:custGeom>
          <a:blipFill>
            <a:blip r:embed="rId6">
              <a:extLst>
                <a:ext uri="{96DAC541-7B7A-43D3-8B79-37D633B846F1}">
                  <asvg:svgBlip xmlns:asvg="http://schemas.microsoft.com/office/drawing/2016/SVG/main" r:embed="rId15"/>
                </a:ext>
              </a:extLst>
            </a:blip>
            <a:stretch>
              <a:fillRect l="0" t="0" r="0" b="0"/>
            </a:stretch>
          </a:blipFill>
        </p:spPr>
      </p:sp>
      <p:grpSp>
        <p:nvGrpSpPr>
          <p:cNvPr name="Group 13" id="13"/>
          <p:cNvGrpSpPr/>
          <p:nvPr/>
        </p:nvGrpSpPr>
        <p:grpSpPr>
          <a:xfrm rot="0">
            <a:off x="0" y="9258300"/>
            <a:ext cx="18288000" cy="1028700"/>
            <a:chOff x="0" y="0"/>
            <a:chExt cx="18288000" cy="1028700"/>
          </a:xfrm>
        </p:grpSpPr>
        <p:sp>
          <p:nvSpPr>
            <p:cNvPr name="Freeform 14" id="14"/>
            <p:cNvSpPr/>
            <p:nvPr/>
          </p:nvSpPr>
          <p:spPr>
            <a:xfrm flipH="false" flipV="false" rot="0">
              <a:off x="0" y="0"/>
              <a:ext cx="18288000" cy="1028700"/>
            </a:xfrm>
            <a:custGeom>
              <a:avLst/>
              <a:gdLst/>
              <a:ahLst/>
              <a:cxnLst/>
              <a:rect r="r" b="b" t="t" l="l"/>
              <a:pathLst>
                <a:path h="1028700" w="18288000">
                  <a:moveTo>
                    <a:pt x="0" y="0"/>
                  </a:moveTo>
                  <a:lnTo>
                    <a:pt x="0" y="1028700"/>
                  </a:lnTo>
                  <a:lnTo>
                    <a:pt x="18288000" y="1028700"/>
                  </a:lnTo>
                  <a:lnTo>
                    <a:pt x="18288000" y="0"/>
                  </a:lnTo>
                  <a:close/>
                </a:path>
              </a:pathLst>
            </a:custGeom>
            <a:solidFill>
              <a:srgbClr val="5EC57E"/>
            </a:solidFill>
          </p:spPr>
        </p:sp>
      </p:grpSp>
      <p:sp>
        <p:nvSpPr>
          <p:cNvPr name="Freeform 15" id="15"/>
          <p:cNvSpPr/>
          <p:nvPr/>
        </p:nvSpPr>
        <p:spPr>
          <a:xfrm flipH="false" flipV="false" rot="0">
            <a:off x="12691672" y="-63503"/>
            <a:ext cx="5659831" cy="7607379"/>
          </a:xfrm>
          <a:custGeom>
            <a:avLst/>
            <a:gdLst/>
            <a:ahLst/>
            <a:cxnLst/>
            <a:rect r="r" b="b" t="t" l="l"/>
            <a:pathLst>
              <a:path h="7607379" w="5659831">
                <a:moveTo>
                  <a:pt x="0" y="0"/>
                </a:moveTo>
                <a:lnTo>
                  <a:pt x="5659831" y="0"/>
                </a:lnTo>
                <a:lnTo>
                  <a:pt x="5659831" y="7607379"/>
                </a:lnTo>
                <a:lnTo>
                  <a:pt x="0" y="760737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6" id="16"/>
          <p:cNvSpPr txBox="true"/>
          <p:nvPr/>
        </p:nvSpPr>
        <p:spPr>
          <a:xfrm rot="0">
            <a:off x="701945" y="4570905"/>
            <a:ext cx="3459680" cy="375923"/>
          </a:xfrm>
          <a:prstGeom prst="rect">
            <a:avLst/>
          </a:prstGeom>
        </p:spPr>
        <p:txBody>
          <a:bodyPr anchor="t" rtlCol="false" tIns="0" lIns="0" bIns="0" rIns="0">
            <a:spAutoFit/>
          </a:bodyPr>
          <a:lstStyle/>
          <a:p>
            <a:pPr algn="l">
              <a:lnSpc>
                <a:spcPts val="3079"/>
              </a:lnSpc>
            </a:pPr>
            <a:r>
              <a:rPr lang="en-US" b="true" sz="2199">
                <a:solidFill>
                  <a:srgbClr val="3E3A4E"/>
                </a:solidFill>
                <a:latin typeface="Open Sauce Bold"/>
                <a:ea typeface="Open Sauce Bold"/>
                <a:cs typeface="Open Sauce Bold"/>
                <a:sym typeface="Open Sauce Bold"/>
              </a:rPr>
              <a:t>Step 3:- Calculate WACC:</a:t>
            </a:r>
          </a:p>
        </p:txBody>
      </p:sp>
      <p:sp>
        <p:nvSpPr>
          <p:cNvPr name="TextBox 17" id="17"/>
          <p:cNvSpPr txBox="true"/>
          <p:nvPr/>
        </p:nvSpPr>
        <p:spPr>
          <a:xfrm rot="0">
            <a:off x="1176861" y="4951905"/>
            <a:ext cx="9527343" cy="2528573"/>
          </a:xfrm>
          <a:prstGeom prst="rect">
            <a:avLst/>
          </a:prstGeom>
        </p:spPr>
        <p:txBody>
          <a:bodyPr anchor="t" rtlCol="false" tIns="0" lIns="0" bIns="0" rIns="0">
            <a:spAutoFit/>
          </a:bodyPr>
          <a:lstStyle/>
          <a:p>
            <a:pPr algn="l">
              <a:lnSpc>
                <a:spcPts val="2850"/>
              </a:lnSpc>
            </a:pPr>
            <a:r>
              <a:rPr lang="en-US" sz="2199">
                <a:solidFill>
                  <a:srgbClr val="3E3A4E"/>
                </a:solidFill>
                <a:latin typeface="Open Sauce"/>
                <a:ea typeface="Open Sauce"/>
                <a:cs typeface="Open Sauce"/>
                <a:sym typeface="Open Sauce"/>
              </a:rPr>
              <a:t>Weighted Average Cost of Capital</a:t>
            </a:r>
          </a:p>
          <a:p>
            <a:pPr algn="l">
              <a:lnSpc>
                <a:spcPts val="2850"/>
              </a:lnSpc>
            </a:pPr>
            <a:r>
              <a:rPr lang="en-US" b="true" sz="2199">
                <a:solidFill>
                  <a:srgbClr val="3E3A4E"/>
                </a:solidFill>
                <a:latin typeface="Open Sauce Bold"/>
                <a:ea typeface="Open Sauce Bold"/>
                <a:cs typeface="Open Sauce Bold"/>
                <a:sym typeface="Open Sauce Bold"/>
              </a:rPr>
              <a:t>WACC= (E/(E+D)) * Cost of Equity + (D/(D+E))* Cost of Debt*(1-tax) </a:t>
            </a:r>
            <a:r>
              <a:rPr lang="en-US" sz="2199">
                <a:solidFill>
                  <a:srgbClr val="3E3A4E"/>
                </a:solidFill>
                <a:latin typeface="Open Sauce"/>
                <a:ea typeface="Open Sauce"/>
                <a:cs typeface="Open Sauce"/>
                <a:sym typeface="Open Sauce"/>
              </a:rPr>
              <a:t>E=Equity, D= Debt, tax= corporate tax rate</a:t>
            </a:r>
          </a:p>
          <a:p>
            <a:pPr algn="l">
              <a:lnSpc>
                <a:spcPts val="2850"/>
              </a:lnSpc>
            </a:pPr>
            <a:r>
              <a:rPr lang="en-US" b="true" sz="2199">
                <a:solidFill>
                  <a:srgbClr val="3E3A4E"/>
                </a:solidFill>
                <a:latin typeface="Open Sauce Bold"/>
                <a:ea typeface="Open Sauce Bold"/>
                <a:cs typeface="Open Sauce Bold"/>
                <a:sym typeface="Open Sauce Bold"/>
              </a:rPr>
              <a:t>Cost of Equity=Risk Free Rate + Beta * (market return rate-risk free rate) Cost of Debt- </a:t>
            </a:r>
            <a:r>
              <a:rPr lang="en-US" sz="2199">
                <a:solidFill>
                  <a:srgbClr val="3E3A4E"/>
                </a:solidFill>
                <a:latin typeface="Open Sauce"/>
                <a:ea typeface="Open Sauce"/>
                <a:cs typeface="Open Sauce"/>
                <a:sym typeface="Open Sauce"/>
              </a:rPr>
              <a:t>effective interest rate a company pays on its borrowed funds, such as loans and bonds.</a:t>
            </a:r>
          </a:p>
          <a:p>
            <a:pPr algn="l">
              <a:lnSpc>
                <a:spcPts val="2850"/>
              </a:lnSpc>
            </a:pPr>
            <a:r>
              <a:rPr lang="en-US" sz="2199">
                <a:solidFill>
                  <a:srgbClr val="3E3A4E"/>
                </a:solidFill>
                <a:latin typeface="Open Sauce"/>
                <a:ea typeface="Open Sauce"/>
                <a:cs typeface="Open Sauce"/>
                <a:sym typeface="Open Sauce"/>
              </a:rPr>
              <a:t>WACC is used as the discount rate in the further steps</a:t>
            </a:r>
          </a:p>
        </p:txBody>
      </p:sp>
      <p:sp>
        <p:nvSpPr>
          <p:cNvPr name="TextBox 18" id="18"/>
          <p:cNvSpPr txBox="true"/>
          <p:nvPr/>
        </p:nvSpPr>
        <p:spPr>
          <a:xfrm rot="0">
            <a:off x="701945" y="789889"/>
            <a:ext cx="6125804" cy="375923"/>
          </a:xfrm>
          <a:prstGeom prst="rect">
            <a:avLst/>
          </a:prstGeom>
        </p:spPr>
        <p:txBody>
          <a:bodyPr anchor="t" rtlCol="false" tIns="0" lIns="0" bIns="0" rIns="0">
            <a:spAutoFit/>
          </a:bodyPr>
          <a:lstStyle/>
          <a:p>
            <a:pPr algn="l">
              <a:lnSpc>
                <a:spcPts val="3079"/>
              </a:lnSpc>
            </a:pPr>
            <a:r>
              <a:rPr lang="en-US" b="true" sz="2199">
                <a:solidFill>
                  <a:srgbClr val="3E3A4E"/>
                </a:solidFill>
                <a:latin typeface="Open Sauce Bold"/>
                <a:ea typeface="Open Sauce Bold"/>
                <a:cs typeface="Open Sauce Bold"/>
                <a:sym typeface="Open Sauce Bold"/>
              </a:rPr>
              <a:t>Step 2: Calculate the Future Free Cash Flows:</a:t>
            </a:r>
          </a:p>
        </p:txBody>
      </p:sp>
      <p:sp>
        <p:nvSpPr>
          <p:cNvPr name="TextBox 19" id="19"/>
          <p:cNvSpPr txBox="true"/>
          <p:nvPr/>
        </p:nvSpPr>
        <p:spPr>
          <a:xfrm rot="0">
            <a:off x="1176861" y="1170889"/>
            <a:ext cx="11308652" cy="2528573"/>
          </a:xfrm>
          <a:prstGeom prst="rect">
            <a:avLst/>
          </a:prstGeom>
        </p:spPr>
        <p:txBody>
          <a:bodyPr anchor="t" rtlCol="false" tIns="0" lIns="0" bIns="0" rIns="0">
            <a:spAutoFit/>
          </a:bodyPr>
          <a:lstStyle/>
          <a:p>
            <a:pPr algn="l">
              <a:lnSpc>
                <a:spcPts val="2850"/>
              </a:lnSpc>
            </a:pPr>
            <a:r>
              <a:rPr lang="en-US" sz="2199">
                <a:solidFill>
                  <a:srgbClr val="3E3A4E"/>
                </a:solidFill>
                <a:latin typeface="Open Sauce"/>
                <a:ea typeface="Open Sauce"/>
                <a:cs typeface="Open Sauce"/>
                <a:sym typeface="Open Sauce"/>
              </a:rPr>
              <a:t>Select a suitable growth rate and growth period to project the future free cash flow of the company </a:t>
            </a:r>
          </a:p>
          <a:p>
            <a:pPr algn="l">
              <a:lnSpc>
                <a:spcPts val="2850"/>
              </a:lnSpc>
            </a:pPr>
            <a:r>
              <a:rPr lang="en-US" sz="2199">
                <a:solidFill>
                  <a:srgbClr val="3E3A4E"/>
                </a:solidFill>
                <a:latin typeface="Open Sauce"/>
                <a:ea typeface="Open Sauce"/>
                <a:cs typeface="Open Sauce"/>
                <a:sym typeface="Open Sauce"/>
              </a:rPr>
              <a:t>In our case, Tata Motors is a well-established company so we will project for</a:t>
            </a:r>
            <a:r>
              <a:rPr lang="en-US" b="true" sz="2199">
                <a:solidFill>
                  <a:srgbClr val="3E3A4E"/>
                </a:solidFill>
                <a:latin typeface="Open Sauce Bold"/>
                <a:ea typeface="Open Sauce Bold"/>
                <a:cs typeface="Open Sauce Bold"/>
                <a:sym typeface="Open Sauce Bold"/>
              </a:rPr>
              <a:t> 5 years </a:t>
            </a:r>
            <a:r>
              <a:rPr lang="en-US" sz="2199">
                <a:solidFill>
                  <a:srgbClr val="3E3A4E"/>
                </a:solidFill>
                <a:latin typeface="Open Sauce"/>
                <a:ea typeface="Open Sauce"/>
                <a:cs typeface="Open Sauce"/>
                <a:sym typeface="Open Sauce"/>
              </a:rPr>
              <a:t>instead of the standard 10 years projection and a growth rate of </a:t>
            </a:r>
            <a:r>
              <a:rPr lang="en-US" b="true" sz="2199">
                <a:solidFill>
                  <a:srgbClr val="3E3A4E"/>
                </a:solidFill>
                <a:latin typeface="Open Sauce Bold"/>
                <a:ea typeface="Open Sauce Bold"/>
                <a:cs typeface="Open Sauce Bold"/>
                <a:sym typeface="Open Sauce Bold"/>
              </a:rPr>
              <a:t>15%</a:t>
            </a:r>
            <a:r>
              <a:rPr lang="en-US" sz="2199">
                <a:solidFill>
                  <a:srgbClr val="3E3A4E"/>
                </a:solidFill>
                <a:latin typeface="Open Sauce"/>
                <a:ea typeface="Open Sauce"/>
                <a:cs typeface="Open Sauce"/>
                <a:sym typeface="Open Sauce"/>
              </a:rPr>
              <a:t> in the first 2 years and </a:t>
            </a:r>
            <a:r>
              <a:rPr lang="en-US" b="true" sz="2199">
                <a:solidFill>
                  <a:srgbClr val="3E3A4E"/>
                </a:solidFill>
                <a:latin typeface="Open Sauce Bold"/>
                <a:ea typeface="Open Sauce Bold"/>
                <a:cs typeface="Open Sauce Bold"/>
                <a:sym typeface="Open Sauce Bold"/>
              </a:rPr>
              <a:t>10 %</a:t>
            </a:r>
            <a:r>
              <a:rPr lang="en-US" sz="2199">
                <a:solidFill>
                  <a:srgbClr val="3E3A4E"/>
                </a:solidFill>
                <a:latin typeface="Open Sauce"/>
                <a:ea typeface="Open Sauce"/>
                <a:cs typeface="Open Sauce"/>
                <a:sym typeface="Open Sauce"/>
              </a:rPr>
              <a:t> for the remaining period as the it is not normal for a well-established company to maintain a high growth rate for a long period of time</a:t>
            </a:r>
          </a:p>
          <a:p>
            <a:pPr algn="l">
              <a:lnSpc>
                <a:spcPts val="2850"/>
              </a:lnSpc>
            </a:pPr>
            <a:r>
              <a:rPr lang="en-US" b="true" sz="2199">
                <a:solidFill>
                  <a:srgbClr val="3E3A4E"/>
                </a:solidFill>
                <a:latin typeface="Open Sauce Bold"/>
                <a:ea typeface="Open Sauce Bold"/>
                <a:cs typeface="Open Sauce Bold"/>
                <a:sym typeface="Open Sauce Bold"/>
              </a:rPr>
              <a:t>Future Free Cash Flow (of year n) = Average Cash flow * (1+ growth rate) ^ 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3503" y="3361306"/>
            <a:ext cx="18414997" cy="6989197"/>
          </a:xfrm>
          <a:custGeom>
            <a:avLst/>
            <a:gdLst/>
            <a:ahLst/>
            <a:cxnLst/>
            <a:rect r="r" b="b" t="t" l="l"/>
            <a:pathLst>
              <a:path h="6989197" w="18414997">
                <a:moveTo>
                  <a:pt x="0" y="0"/>
                </a:moveTo>
                <a:lnTo>
                  <a:pt x="18414997" y="0"/>
                </a:lnTo>
                <a:lnTo>
                  <a:pt x="18414997" y="6989197"/>
                </a:lnTo>
                <a:lnTo>
                  <a:pt x="0" y="69891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360440" y="-63503"/>
            <a:ext cx="5991054" cy="2942044"/>
          </a:xfrm>
          <a:custGeom>
            <a:avLst/>
            <a:gdLst/>
            <a:ahLst/>
            <a:cxnLst/>
            <a:rect r="r" b="b" t="t" l="l"/>
            <a:pathLst>
              <a:path h="2942044" w="5991054">
                <a:moveTo>
                  <a:pt x="0" y="0"/>
                </a:moveTo>
                <a:lnTo>
                  <a:pt x="5991054" y="0"/>
                </a:lnTo>
                <a:lnTo>
                  <a:pt x="5991054" y="2942044"/>
                </a:lnTo>
                <a:lnTo>
                  <a:pt x="0" y="29420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273092" y="5143500"/>
            <a:ext cx="2600325" cy="1095375"/>
            <a:chOff x="0" y="0"/>
            <a:chExt cx="3467100" cy="1460500"/>
          </a:xfrm>
        </p:grpSpPr>
        <p:sp>
          <p:nvSpPr>
            <p:cNvPr name="Freeform 5" id="5"/>
            <p:cNvSpPr/>
            <p:nvPr/>
          </p:nvSpPr>
          <p:spPr>
            <a:xfrm flipH="false" flipV="false" rot="0">
              <a:off x="0" y="0"/>
              <a:ext cx="3467100" cy="1460500"/>
            </a:xfrm>
            <a:custGeom>
              <a:avLst/>
              <a:gdLst/>
              <a:ahLst/>
              <a:cxnLst/>
              <a:rect r="r" b="b" t="t" l="l"/>
              <a:pathLst>
                <a:path h="1460500" w="3467100">
                  <a:moveTo>
                    <a:pt x="0" y="0"/>
                  </a:moveTo>
                  <a:lnTo>
                    <a:pt x="3467100" y="0"/>
                  </a:lnTo>
                  <a:lnTo>
                    <a:pt x="3467100" y="1460500"/>
                  </a:lnTo>
                  <a:lnTo>
                    <a:pt x="0" y="1460500"/>
                  </a:lnTo>
                  <a:lnTo>
                    <a:pt x="0" y="0"/>
                  </a:lnTo>
                  <a:close/>
                </a:path>
              </a:pathLst>
            </a:custGeom>
            <a:blipFill>
              <a:blip r:embed="rId6"/>
              <a:stretch>
                <a:fillRect l="0" t="0" r="0" b="0"/>
              </a:stretch>
            </a:blipFill>
          </p:spPr>
        </p:sp>
      </p:grpSp>
      <p:grpSp>
        <p:nvGrpSpPr>
          <p:cNvPr name="Group 6" id="6"/>
          <p:cNvGrpSpPr/>
          <p:nvPr/>
        </p:nvGrpSpPr>
        <p:grpSpPr>
          <a:xfrm rot="0">
            <a:off x="1097404" y="1850641"/>
            <a:ext cx="95250" cy="95250"/>
            <a:chOff x="0" y="0"/>
            <a:chExt cx="95250" cy="95250"/>
          </a:xfrm>
        </p:grpSpPr>
        <p:sp>
          <p:nvSpPr>
            <p:cNvPr name="Freeform 7" id="7"/>
            <p:cNvSpPr/>
            <p:nvPr/>
          </p:nvSpPr>
          <p:spPr>
            <a:xfrm flipH="false" flipV="false" rot="0">
              <a:off x="0" y="0"/>
              <a:ext cx="95377" cy="95377"/>
            </a:xfrm>
            <a:custGeom>
              <a:avLst/>
              <a:gdLst/>
              <a:ahLst/>
              <a:cxnLst/>
              <a:rect r="r" b="b" t="t" l="l"/>
              <a:pathLst>
                <a:path h="95377" w="95377">
                  <a:moveTo>
                    <a:pt x="95250" y="47625"/>
                  </a:moveTo>
                  <a:cubicBezTo>
                    <a:pt x="95250" y="53975"/>
                    <a:pt x="93980" y="60071"/>
                    <a:pt x="91567" y="65913"/>
                  </a:cubicBezTo>
                  <a:cubicBezTo>
                    <a:pt x="89154" y="71755"/>
                    <a:pt x="85725" y="76835"/>
                    <a:pt x="81280" y="81407"/>
                  </a:cubicBezTo>
                  <a:cubicBezTo>
                    <a:pt x="76835" y="85979"/>
                    <a:pt x="71628" y="89281"/>
                    <a:pt x="65786" y="91694"/>
                  </a:cubicBezTo>
                  <a:cubicBezTo>
                    <a:pt x="59944" y="94107"/>
                    <a:pt x="53848" y="95377"/>
                    <a:pt x="47498" y="95377"/>
                  </a:cubicBezTo>
                  <a:cubicBezTo>
                    <a:pt x="41148" y="95377"/>
                    <a:pt x="35052" y="94107"/>
                    <a:pt x="29210" y="91694"/>
                  </a:cubicBezTo>
                  <a:cubicBezTo>
                    <a:pt x="23368" y="89281"/>
                    <a:pt x="18288" y="85852"/>
                    <a:pt x="13716" y="81407"/>
                  </a:cubicBezTo>
                  <a:cubicBezTo>
                    <a:pt x="9144" y="76962"/>
                    <a:pt x="6096" y="71628"/>
                    <a:pt x="3683" y="65913"/>
                  </a:cubicBezTo>
                  <a:cubicBezTo>
                    <a:pt x="1270" y="60198"/>
                    <a:pt x="0" y="53975"/>
                    <a:pt x="0" y="47625"/>
                  </a:cubicBezTo>
                  <a:cubicBezTo>
                    <a:pt x="0" y="41275"/>
                    <a:pt x="1270" y="35179"/>
                    <a:pt x="3683" y="29337"/>
                  </a:cubicBezTo>
                  <a:cubicBezTo>
                    <a:pt x="6096" y="23495"/>
                    <a:pt x="9525" y="18415"/>
                    <a:pt x="13970" y="13970"/>
                  </a:cubicBezTo>
                  <a:cubicBezTo>
                    <a:pt x="18415" y="9525"/>
                    <a:pt x="23622" y="6096"/>
                    <a:pt x="29337" y="3683"/>
                  </a:cubicBezTo>
                  <a:cubicBezTo>
                    <a:pt x="35052" y="1270"/>
                    <a:pt x="41275" y="0"/>
                    <a:pt x="47625" y="0"/>
                  </a:cubicBezTo>
                  <a:cubicBezTo>
                    <a:pt x="53975" y="0"/>
                    <a:pt x="60071" y="1270"/>
                    <a:pt x="65913" y="3683"/>
                  </a:cubicBezTo>
                  <a:cubicBezTo>
                    <a:pt x="71755" y="6096"/>
                    <a:pt x="76835" y="9525"/>
                    <a:pt x="81407" y="13970"/>
                  </a:cubicBezTo>
                  <a:cubicBezTo>
                    <a:pt x="85979" y="18415"/>
                    <a:pt x="89281" y="23622"/>
                    <a:pt x="91694" y="29464"/>
                  </a:cubicBezTo>
                  <a:cubicBezTo>
                    <a:pt x="94107" y="35306"/>
                    <a:pt x="95377" y="41402"/>
                    <a:pt x="95377" y="47752"/>
                  </a:cubicBezTo>
                  <a:close/>
                </a:path>
              </a:pathLst>
            </a:custGeom>
            <a:solidFill>
              <a:srgbClr val="3E3A4E"/>
            </a:solidFill>
          </p:spPr>
        </p:sp>
      </p:grpSp>
      <p:grpSp>
        <p:nvGrpSpPr>
          <p:cNvPr name="Group 8" id="8"/>
          <p:cNvGrpSpPr/>
          <p:nvPr/>
        </p:nvGrpSpPr>
        <p:grpSpPr>
          <a:xfrm rot="0">
            <a:off x="1097404" y="2574541"/>
            <a:ext cx="95250" cy="95250"/>
            <a:chOff x="0" y="0"/>
            <a:chExt cx="95250" cy="95250"/>
          </a:xfrm>
        </p:grpSpPr>
        <p:sp>
          <p:nvSpPr>
            <p:cNvPr name="Freeform 9" id="9"/>
            <p:cNvSpPr/>
            <p:nvPr/>
          </p:nvSpPr>
          <p:spPr>
            <a:xfrm flipH="false" flipV="false" rot="0">
              <a:off x="0" y="0"/>
              <a:ext cx="95377" cy="95377"/>
            </a:xfrm>
            <a:custGeom>
              <a:avLst/>
              <a:gdLst/>
              <a:ahLst/>
              <a:cxnLst/>
              <a:rect r="r" b="b" t="t" l="l"/>
              <a:pathLst>
                <a:path h="95377" w="95377">
                  <a:moveTo>
                    <a:pt x="95250" y="47625"/>
                  </a:moveTo>
                  <a:cubicBezTo>
                    <a:pt x="95250" y="53975"/>
                    <a:pt x="93980" y="60071"/>
                    <a:pt x="91567" y="65913"/>
                  </a:cubicBezTo>
                  <a:cubicBezTo>
                    <a:pt x="89154" y="71755"/>
                    <a:pt x="85725" y="76835"/>
                    <a:pt x="81280" y="81407"/>
                  </a:cubicBezTo>
                  <a:cubicBezTo>
                    <a:pt x="76835" y="85979"/>
                    <a:pt x="71628" y="89281"/>
                    <a:pt x="65786" y="91694"/>
                  </a:cubicBezTo>
                  <a:cubicBezTo>
                    <a:pt x="59944" y="94107"/>
                    <a:pt x="53848" y="95377"/>
                    <a:pt x="47498" y="95377"/>
                  </a:cubicBezTo>
                  <a:cubicBezTo>
                    <a:pt x="41148" y="95377"/>
                    <a:pt x="35052" y="94107"/>
                    <a:pt x="29210" y="91694"/>
                  </a:cubicBezTo>
                  <a:cubicBezTo>
                    <a:pt x="23368" y="89281"/>
                    <a:pt x="18288" y="85852"/>
                    <a:pt x="13716" y="81407"/>
                  </a:cubicBezTo>
                  <a:cubicBezTo>
                    <a:pt x="9144" y="76962"/>
                    <a:pt x="6096" y="71628"/>
                    <a:pt x="3683" y="65913"/>
                  </a:cubicBezTo>
                  <a:cubicBezTo>
                    <a:pt x="1270" y="60198"/>
                    <a:pt x="0" y="53975"/>
                    <a:pt x="0" y="47625"/>
                  </a:cubicBezTo>
                  <a:cubicBezTo>
                    <a:pt x="0" y="41275"/>
                    <a:pt x="1270" y="35179"/>
                    <a:pt x="3683" y="29337"/>
                  </a:cubicBezTo>
                  <a:cubicBezTo>
                    <a:pt x="6096" y="23495"/>
                    <a:pt x="9525" y="18415"/>
                    <a:pt x="13970" y="13970"/>
                  </a:cubicBezTo>
                  <a:cubicBezTo>
                    <a:pt x="18415" y="9525"/>
                    <a:pt x="23622" y="6096"/>
                    <a:pt x="29337" y="3683"/>
                  </a:cubicBezTo>
                  <a:cubicBezTo>
                    <a:pt x="35052" y="1270"/>
                    <a:pt x="41275" y="0"/>
                    <a:pt x="47625" y="0"/>
                  </a:cubicBezTo>
                  <a:cubicBezTo>
                    <a:pt x="53975" y="0"/>
                    <a:pt x="60071" y="1270"/>
                    <a:pt x="65913" y="3683"/>
                  </a:cubicBezTo>
                  <a:cubicBezTo>
                    <a:pt x="71755" y="6096"/>
                    <a:pt x="76835" y="9525"/>
                    <a:pt x="81407" y="13970"/>
                  </a:cubicBezTo>
                  <a:cubicBezTo>
                    <a:pt x="85979" y="18415"/>
                    <a:pt x="89281" y="23622"/>
                    <a:pt x="91694" y="29464"/>
                  </a:cubicBezTo>
                  <a:cubicBezTo>
                    <a:pt x="94107" y="35306"/>
                    <a:pt x="95377" y="41402"/>
                    <a:pt x="95377" y="47752"/>
                  </a:cubicBezTo>
                  <a:close/>
                </a:path>
              </a:pathLst>
            </a:custGeom>
            <a:solidFill>
              <a:srgbClr val="3E3A4E"/>
            </a:solidFill>
          </p:spPr>
        </p:sp>
      </p:grpSp>
      <p:grpSp>
        <p:nvGrpSpPr>
          <p:cNvPr name="Group 10" id="10"/>
          <p:cNvGrpSpPr/>
          <p:nvPr/>
        </p:nvGrpSpPr>
        <p:grpSpPr>
          <a:xfrm rot="0">
            <a:off x="1097404" y="2936491"/>
            <a:ext cx="95250" cy="95250"/>
            <a:chOff x="0" y="0"/>
            <a:chExt cx="95250" cy="95250"/>
          </a:xfrm>
        </p:grpSpPr>
        <p:sp>
          <p:nvSpPr>
            <p:cNvPr name="Freeform 11" id="11"/>
            <p:cNvSpPr/>
            <p:nvPr/>
          </p:nvSpPr>
          <p:spPr>
            <a:xfrm flipH="false" flipV="false" rot="0">
              <a:off x="0" y="0"/>
              <a:ext cx="95377" cy="95377"/>
            </a:xfrm>
            <a:custGeom>
              <a:avLst/>
              <a:gdLst/>
              <a:ahLst/>
              <a:cxnLst/>
              <a:rect r="r" b="b" t="t" l="l"/>
              <a:pathLst>
                <a:path h="95377" w="95377">
                  <a:moveTo>
                    <a:pt x="95250" y="47625"/>
                  </a:moveTo>
                  <a:cubicBezTo>
                    <a:pt x="95250" y="53975"/>
                    <a:pt x="93980" y="60071"/>
                    <a:pt x="91567" y="65913"/>
                  </a:cubicBezTo>
                  <a:cubicBezTo>
                    <a:pt x="89154" y="71755"/>
                    <a:pt x="85725" y="76835"/>
                    <a:pt x="81280" y="81407"/>
                  </a:cubicBezTo>
                  <a:cubicBezTo>
                    <a:pt x="76835" y="85979"/>
                    <a:pt x="71628" y="89281"/>
                    <a:pt x="65786" y="91694"/>
                  </a:cubicBezTo>
                  <a:cubicBezTo>
                    <a:pt x="59944" y="94107"/>
                    <a:pt x="53848" y="95377"/>
                    <a:pt x="47498" y="95377"/>
                  </a:cubicBezTo>
                  <a:cubicBezTo>
                    <a:pt x="41148" y="95377"/>
                    <a:pt x="35052" y="94107"/>
                    <a:pt x="29210" y="91694"/>
                  </a:cubicBezTo>
                  <a:cubicBezTo>
                    <a:pt x="23368" y="89281"/>
                    <a:pt x="18288" y="85852"/>
                    <a:pt x="13716" y="81407"/>
                  </a:cubicBezTo>
                  <a:cubicBezTo>
                    <a:pt x="9144" y="76962"/>
                    <a:pt x="6096" y="71628"/>
                    <a:pt x="3683" y="65913"/>
                  </a:cubicBezTo>
                  <a:cubicBezTo>
                    <a:pt x="1270" y="60198"/>
                    <a:pt x="0" y="53975"/>
                    <a:pt x="0" y="47625"/>
                  </a:cubicBezTo>
                  <a:cubicBezTo>
                    <a:pt x="0" y="41275"/>
                    <a:pt x="1270" y="35179"/>
                    <a:pt x="3683" y="29337"/>
                  </a:cubicBezTo>
                  <a:cubicBezTo>
                    <a:pt x="6096" y="23495"/>
                    <a:pt x="9525" y="18415"/>
                    <a:pt x="13970" y="13970"/>
                  </a:cubicBezTo>
                  <a:cubicBezTo>
                    <a:pt x="18415" y="9525"/>
                    <a:pt x="23622" y="6096"/>
                    <a:pt x="29337" y="3683"/>
                  </a:cubicBezTo>
                  <a:cubicBezTo>
                    <a:pt x="35052" y="1270"/>
                    <a:pt x="41275" y="0"/>
                    <a:pt x="47625" y="0"/>
                  </a:cubicBezTo>
                  <a:cubicBezTo>
                    <a:pt x="53975" y="0"/>
                    <a:pt x="60071" y="1270"/>
                    <a:pt x="65913" y="3683"/>
                  </a:cubicBezTo>
                  <a:cubicBezTo>
                    <a:pt x="71755" y="6096"/>
                    <a:pt x="76835" y="9525"/>
                    <a:pt x="81407" y="13970"/>
                  </a:cubicBezTo>
                  <a:cubicBezTo>
                    <a:pt x="85979" y="18415"/>
                    <a:pt x="89281" y="23622"/>
                    <a:pt x="91694" y="29464"/>
                  </a:cubicBezTo>
                  <a:cubicBezTo>
                    <a:pt x="94107" y="35306"/>
                    <a:pt x="95377" y="41402"/>
                    <a:pt x="95377" y="47752"/>
                  </a:cubicBezTo>
                  <a:close/>
                </a:path>
              </a:pathLst>
            </a:custGeom>
            <a:solidFill>
              <a:srgbClr val="3E3A4E"/>
            </a:solidFill>
          </p:spPr>
        </p:sp>
      </p:grpSp>
      <p:grpSp>
        <p:nvGrpSpPr>
          <p:cNvPr name="Group 12" id="12"/>
          <p:cNvGrpSpPr/>
          <p:nvPr/>
        </p:nvGrpSpPr>
        <p:grpSpPr>
          <a:xfrm rot="0">
            <a:off x="1097404" y="3298441"/>
            <a:ext cx="95250" cy="95250"/>
            <a:chOff x="0" y="0"/>
            <a:chExt cx="95250" cy="95250"/>
          </a:xfrm>
        </p:grpSpPr>
        <p:sp>
          <p:nvSpPr>
            <p:cNvPr name="Freeform 13" id="13"/>
            <p:cNvSpPr/>
            <p:nvPr/>
          </p:nvSpPr>
          <p:spPr>
            <a:xfrm flipH="false" flipV="false" rot="0">
              <a:off x="0" y="0"/>
              <a:ext cx="95377" cy="95377"/>
            </a:xfrm>
            <a:custGeom>
              <a:avLst/>
              <a:gdLst/>
              <a:ahLst/>
              <a:cxnLst/>
              <a:rect r="r" b="b" t="t" l="l"/>
              <a:pathLst>
                <a:path h="95377" w="95377">
                  <a:moveTo>
                    <a:pt x="95250" y="47625"/>
                  </a:moveTo>
                  <a:cubicBezTo>
                    <a:pt x="95250" y="53975"/>
                    <a:pt x="93980" y="60071"/>
                    <a:pt x="91567" y="65913"/>
                  </a:cubicBezTo>
                  <a:cubicBezTo>
                    <a:pt x="89154" y="71755"/>
                    <a:pt x="85725" y="76835"/>
                    <a:pt x="81280" y="81407"/>
                  </a:cubicBezTo>
                  <a:cubicBezTo>
                    <a:pt x="76835" y="85979"/>
                    <a:pt x="71628" y="89281"/>
                    <a:pt x="65786" y="91694"/>
                  </a:cubicBezTo>
                  <a:cubicBezTo>
                    <a:pt x="59944" y="94107"/>
                    <a:pt x="53848" y="95377"/>
                    <a:pt x="47498" y="95377"/>
                  </a:cubicBezTo>
                  <a:cubicBezTo>
                    <a:pt x="41148" y="95377"/>
                    <a:pt x="35052" y="94107"/>
                    <a:pt x="29210" y="91694"/>
                  </a:cubicBezTo>
                  <a:cubicBezTo>
                    <a:pt x="23368" y="89281"/>
                    <a:pt x="18288" y="85852"/>
                    <a:pt x="13716" y="81407"/>
                  </a:cubicBezTo>
                  <a:cubicBezTo>
                    <a:pt x="9144" y="76962"/>
                    <a:pt x="6096" y="71628"/>
                    <a:pt x="3683" y="65913"/>
                  </a:cubicBezTo>
                  <a:cubicBezTo>
                    <a:pt x="1270" y="60198"/>
                    <a:pt x="0" y="53975"/>
                    <a:pt x="0" y="47625"/>
                  </a:cubicBezTo>
                  <a:cubicBezTo>
                    <a:pt x="0" y="41275"/>
                    <a:pt x="1270" y="35179"/>
                    <a:pt x="3683" y="29337"/>
                  </a:cubicBezTo>
                  <a:cubicBezTo>
                    <a:pt x="6096" y="23495"/>
                    <a:pt x="9525" y="18415"/>
                    <a:pt x="13970" y="13970"/>
                  </a:cubicBezTo>
                  <a:cubicBezTo>
                    <a:pt x="18415" y="9525"/>
                    <a:pt x="23622" y="6096"/>
                    <a:pt x="29337" y="3683"/>
                  </a:cubicBezTo>
                  <a:cubicBezTo>
                    <a:pt x="35052" y="1270"/>
                    <a:pt x="41275" y="0"/>
                    <a:pt x="47625" y="0"/>
                  </a:cubicBezTo>
                  <a:cubicBezTo>
                    <a:pt x="53975" y="0"/>
                    <a:pt x="60071" y="1270"/>
                    <a:pt x="65913" y="3683"/>
                  </a:cubicBezTo>
                  <a:cubicBezTo>
                    <a:pt x="71755" y="6096"/>
                    <a:pt x="76835" y="9525"/>
                    <a:pt x="81407" y="13970"/>
                  </a:cubicBezTo>
                  <a:cubicBezTo>
                    <a:pt x="85979" y="18415"/>
                    <a:pt x="89281" y="23622"/>
                    <a:pt x="91694" y="29464"/>
                  </a:cubicBezTo>
                  <a:cubicBezTo>
                    <a:pt x="94107" y="35306"/>
                    <a:pt x="95377" y="41402"/>
                    <a:pt x="95377" y="47752"/>
                  </a:cubicBezTo>
                  <a:close/>
                </a:path>
              </a:pathLst>
            </a:custGeom>
            <a:solidFill>
              <a:srgbClr val="3E3A4E"/>
            </a:solidFill>
          </p:spPr>
        </p:sp>
      </p:grpSp>
      <p:grpSp>
        <p:nvGrpSpPr>
          <p:cNvPr name="Group 14" id="14"/>
          <p:cNvGrpSpPr/>
          <p:nvPr/>
        </p:nvGrpSpPr>
        <p:grpSpPr>
          <a:xfrm rot="0">
            <a:off x="1097404" y="4216784"/>
            <a:ext cx="95250" cy="95250"/>
            <a:chOff x="0" y="0"/>
            <a:chExt cx="95250" cy="95250"/>
          </a:xfrm>
        </p:grpSpPr>
        <p:sp>
          <p:nvSpPr>
            <p:cNvPr name="Freeform 15" id="15"/>
            <p:cNvSpPr/>
            <p:nvPr/>
          </p:nvSpPr>
          <p:spPr>
            <a:xfrm flipH="false" flipV="false" rot="0">
              <a:off x="0" y="0"/>
              <a:ext cx="95377" cy="95377"/>
            </a:xfrm>
            <a:custGeom>
              <a:avLst/>
              <a:gdLst/>
              <a:ahLst/>
              <a:cxnLst/>
              <a:rect r="r" b="b" t="t" l="l"/>
              <a:pathLst>
                <a:path h="95377" w="95377">
                  <a:moveTo>
                    <a:pt x="95250" y="47625"/>
                  </a:moveTo>
                  <a:cubicBezTo>
                    <a:pt x="95250" y="53975"/>
                    <a:pt x="93980" y="60071"/>
                    <a:pt x="91567" y="65913"/>
                  </a:cubicBezTo>
                  <a:cubicBezTo>
                    <a:pt x="89154" y="71755"/>
                    <a:pt x="85725" y="76835"/>
                    <a:pt x="81280" y="81407"/>
                  </a:cubicBezTo>
                  <a:cubicBezTo>
                    <a:pt x="76835" y="85979"/>
                    <a:pt x="71628" y="89281"/>
                    <a:pt x="65786" y="91694"/>
                  </a:cubicBezTo>
                  <a:cubicBezTo>
                    <a:pt x="59944" y="94107"/>
                    <a:pt x="53848" y="95377"/>
                    <a:pt x="47498" y="95377"/>
                  </a:cubicBezTo>
                  <a:cubicBezTo>
                    <a:pt x="41148" y="95377"/>
                    <a:pt x="35052" y="94107"/>
                    <a:pt x="29210" y="91694"/>
                  </a:cubicBezTo>
                  <a:cubicBezTo>
                    <a:pt x="23368" y="89281"/>
                    <a:pt x="18288" y="85852"/>
                    <a:pt x="13716" y="81407"/>
                  </a:cubicBezTo>
                  <a:cubicBezTo>
                    <a:pt x="9144" y="76962"/>
                    <a:pt x="6096" y="71628"/>
                    <a:pt x="3683" y="65913"/>
                  </a:cubicBezTo>
                  <a:cubicBezTo>
                    <a:pt x="1270" y="60198"/>
                    <a:pt x="0" y="53975"/>
                    <a:pt x="0" y="47625"/>
                  </a:cubicBezTo>
                  <a:cubicBezTo>
                    <a:pt x="0" y="41275"/>
                    <a:pt x="1270" y="35179"/>
                    <a:pt x="3683" y="29337"/>
                  </a:cubicBezTo>
                  <a:cubicBezTo>
                    <a:pt x="6096" y="23495"/>
                    <a:pt x="9525" y="18415"/>
                    <a:pt x="13970" y="13970"/>
                  </a:cubicBezTo>
                  <a:cubicBezTo>
                    <a:pt x="18415" y="9525"/>
                    <a:pt x="23622" y="6096"/>
                    <a:pt x="29337" y="3683"/>
                  </a:cubicBezTo>
                  <a:cubicBezTo>
                    <a:pt x="35052" y="1270"/>
                    <a:pt x="41275" y="0"/>
                    <a:pt x="47625" y="0"/>
                  </a:cubicBezTo>
                  <a:cubicBezTo>
                    <a:pt x="53975" y="0"/>
                    <a:pt x="60071" y="1270"/>
                    <a:pt x="65913" y="3683"/>
                  </a:cubicBezTo>
                  <a:cubicBezTo>
                    <a:pt x="71755" y="6096"/>
                    <a:pt x="76835" y="9525"/>
                    <a:pt x="81407" y="13970"/>
                  </a:cubicBezTo>
                  <a:cubicBezTo>
                    <a:pt x="85979" y="18415"/>
                    <a:pt x="89281" y="23622"/>
                    <a:pt x="91694" y="29464"/>
                  </a:cubicBezTo>
                  <a:cubicBezTo>
                    <a:pt x="94107" y="35306"/>
                    <a:pt x="95377" y="41402"/>
                    <a:pt x="95377" y="47752"/>
                  </a:cubicBezTo>
                  <a:close/>
                </a:path>
              </a:pathLst>
            </a:custGeom>
            <a:solidFill>
              <a:srgbClr val="3E3A4E"/>
            </a:solidFill>
          </p:spPr>
        </p:sp>
      </p:grpSp>
      <p:grpSp>
        <p:nvGrpSpPr>
          <p:cNvPr name="Group 16" id="16"/>
          <p:cNvGrpSpPr/>
          <p:nvPr/>
        </p:nvGrpSpPr>
        <p:grpSpPr>
          <a:xfrm rot="0">
            <a:off x="1097404" y="6388484"/>
            <a:ext cx="95250" cy="95250"/>
            <a:chOff x="0" y="0"/>
            <a:chExt cx="95250" cy="95250"/>
          </a:xfrm>
        </p:grpSpPr>
        <p:sp>
          <p:nvSpPr>
            <p:cNvPr name="Freeform 17" id="17"/>
            <p:cNvSpPr/>
            <p:nvPr/>
          </p:nvSpPr>
          <p:spPr>
            <a:xfrm flipH="false" flipV="false" rot="0">
              <a:off x="0" y="0"/>
              <a:ext cx="95377" cy="95377"/>
            </a:xfrm>
            <a:custGeom>
              <a:avLst/>
              <a:gdLst/>
              <a:ahLst/>
              <a:cxnLst/>
              <a:rect r="r" b="b" t="t" l="l"/>
              <a:pathLst>
                <a:path h="95377" w="95377">
                  <a:moveTo>
                    <a:pt x="95250" y="47625"/>
                  </a:moveTo>
                  <a:cubicBezTo>
                    <a:pt x="95250" y="53975"/>
                    <a:pt x="93980" y="60071"/>
                    <a:pt x="91567" y="65913"/>
                  </a:cubicBezTo>
                  <a:cubicBezTo>
                    <a:pt x="89154" y="71755"/>
                    <a:pt x="85725" y="76835"/>
                    <a:pt x="81280" y="81407"/>
                  </a:cubicBezTo>
                  <a:cubicBezTo>
                    <a:pt x="76835" y="85979"/>
                    <a:pt x="71628" y="89281"/>
                    <a:pt x="65786" y="91694"/>
                  </a:cubicBezTo>
                  <a:cubicBezTo>
                    <a:pt x="59944" y="94107"/>
                    <a:pt x="53848" y="95377"/>
                    <a:pt x="47498" y="95377"/>
                  </a:cubicBezTo>
                  <a:cubicBezTo>
                    <a:pt x="41148" y="95377"/>
                    <a:pt x="35052" y="94107"/>
                    <a:pt x="29210" y="91694"/>
                  </a:cubicBezTo>
                  <a:cubicBezTo>
                    <a:pt x="23368" y="89281"/>
                    <a:pt x="18288" y="85852"/>
                    <a:pt x="13716" y="81407"/>
                  </a:cubicBezTo>
                  <a:cubicBezTo>
                    <a:pt x="9144" y="76962"/>
                    <a:pt x="6096" y="71628"/>
                    <a:pt x="3683" y="65913"/>
                  </a:cubicBezTo>
                  <a:cubicBezTo>
                    <a:pt x="1270" y="60198"/>
                    <a:pt x="0" y="53975"/>
                    <a:pt x="0" y="47625"/>
                  </a:cubicBezTo>
                  <a:cubicBezTo>
                    <a:pt x="0" y="41275"/>
                    <a:pt x="1270" y="35179"/>
                    <a:pt x="3683" y="29337"/>
                  </a:cubicBezTo>
                  <a:cubicBezTo>
                    <a:pt x="6096" y="23495"/>
                    <a:pt x="9525" y="18415"/>
                    <a:pt x="13970" y="13970"/>
                  </a:cubicBezTo>
                  <a:cubicBezTo>
                    <a:pt x="18415" y="9525"/>
                    <a:pt x="23622" y="6096"/>
                    <a:pt x="29337" y="3683"/>
                  </a:cubicBezTo>
                  <a:cubicBezTo>
                    <a:pt x="35052" y="1270"/>
                    <a:pt x="41275" y="0"/>
                    <a:pt x="47625" y="0"/>
                  </a:cubicBezTo>
                  <a:cubicBezTo>
                    <a:pt x="53975" y="0"/>
                    <a:pt x="60071" y="1270"/>
                    <a:pt x="65913" y="3683"/>
                  </a:cubicBezTo>
                  <a:cubicBezTo>
                    <a:pt x="71755" y="6096"/>
                    <a:pt x="76835" y="9525"/>
                    <a:pt x="81407" y="13970"/>
                  </a:cubicBezTo>
                  <a:cubicBezTo>
                    <a:pt x="85979" y="18415"/>
                    <a:pt x="89281" y="23622"/>
                    <a:pt x="91694" y="29464"/>
                  </a:cubicBezTo>
                  <a:cubicBezTo>
                    <a:pt x="94107" y="35306"/>
                    <a:pt x="95377" y="41402"/>
                    <a:pt x="95377" y="47752"/>
                  </a:cubicBezTo>
                  <a:close/>
                </a:path>
              </a:pathLst>
            </a:custGeom>
            <a:solidFill>
              <a:srgbClr val="3E3A4E"/>
            </a:solidFill>
          </p:spPr>
        </p:sp>
      </p:grpSp>
      <p:grpSp>
        <p:nvGrpSpPr>
          <p:cNvPr name="Group 18" id="18"/>
          <p:cNvGrpSpPr/>
          <p:nvPr/>
        </p:nvGrpSpPr>
        <p:grpSpPr>
          <a:xfrm rot="0">
            <a:off x="1097404" y="6750434"/>
            <a:ext cx="95250" cy="95250"/>
            <a:chOff x="0" y="0"/>
            <a:chExt cx="95250" cy="95250"/>
          </a:xfrm>
        </p:grpSpPr>
        <p:sp>
          <p:nvSpPr>
            <p:cNvPr name="Freeform 19" id="19"/>
            <p:cNvSpPr/>
            <p:nvPr/>
          </p:nvSpPr>
          <p:spPr>
            <a:xfrm flipH="false" flipV="false" rot="0">
              <a:off x="0" y="0"/>
              <a:ext cx="95377" cy="95377"/>
            </a:xfrm>
            <a:custGeom>
              <a:avLst/>
              <a:gdLst/>
              <a:ahLst/>
              <a:cxnLst/>
              <a:rect r="r" b="b" t="t" l="l"/>
              <a:pathLst>
                <a:path h="95377" w="95377">
                  <a:moveTo>
                    <a:pt x="95250" y="47625"/>
                  </a:moveTo>
                  <a:cubicBezTo>
                    <a:pt x="95250" y="53975"/>
                    <a:pt x="93980" y="60071"/>
                    <a:pt x="91567" y="65913"/>
                  </a:cubicBezTo>
                  <a:cubicBezTo>
                    <a:pt x="89154" y="71755"/>
                    <a:pt x="85725" y="76835"/>
                    <a:pt x="81280" y="81407"/>
                  </a:cubicBezTo>
                  <a:cubicBezTo>
                    <a:pt x="76835" y="85979"/>
                    <a:pt x="71628" y="89281"/>
                    <a:pt x="65786" y="91694"/>
                  </a:cubicBezTo>
                  <a:cubicBezTo>
                    <a:pt x="59944" y="94107"/>
                    <a:pt x="53848" y="95377"/>
                    <a:pt x="47498" y="95377"/>
                  </a:cubicBezTo>
                  <a:cubicBezTo>
                    <a:pt x="41148" y="95377"/>
                    <a:pt x="35052" y="94107"/>
                    <a:pt x="29210" y="91694"/>
                  </a:cubicBezTo>
                  <a:cubicBezTo>
                    <a:pt x="23368" y="89281"/>
                    <a:pt x="18288" y="85852"/>
                    <a:pt x="13716" y="81407"/>
                  </a:cubicBezTo>
                  <a:cubicBezTo>
                    <a:pt x="9144" y="76962"/>
                    <a:pt x="6096" y="71628"/>
                    <a:pt x="3683" y="65913"/>
                  </a:cubicBezTo>
                  <a:cubicBezTo>
                    <a:pt x="1270" y="60198"/>
                    <a:pt x="0" y="53975"/>
                    <a:pt x="0" y="47625"/>
                  </a:cubicBezTo>
                  <a:cubicBezTo>
                    <a:pt x="0" y="41275"/>
                    <a:pt x="1270" y="35179"/>
                    <a:pt x="3683" y="29337"/>
                  </a:cubicBezTo>
                  <a:cubicBezTo>
                    <a:pt x="6096" y="23495"/>
                    <a:pt x="9525" y="18415"/>
                    <a:pt x="13970" y="13970"/>
                  </a:cubicBezTo>
                  <a:cubicBezTo>
                    <a:pt x="18415" y="9525"/>
                    <a:pt x="23622" y="6096"/>
                    <a:pt x="29337" y="3683"/>
                  </a:cubicBezTo>
                  <a:cubicBezTo>
                    <a:pt x="35052" y="1270"/>
                    <a:pt x="41275" y="0"/>
                    <a:pt x="47625" y="0"/>
                  </a:cubicBezTo>
                  <a:cubicBezTo>
                    <a:pt x="53975" y="0"/>
                    <a:pt x="60071" y="1270"/>
                    <a:pt x="65913" y="3683"/>
                  </a:cubicBezTo>
                  <a:cubicBezTo>
                    <a:pt x="71755" y="6096"/>
                    <a:pt x="76835" y="9525"/>
                    <a:pt x="81407" y="13970"/>
                  </a:cubicBezTo>
                  <a:cubicBezTo>
                    <a:pt x="85979" y="18415"/>
                    <a:pt x="89281" y="23622"/>
                    <a:pt x="91694" y="29464"/>
                  </a:cubicBezTo>
                  <a:cubicBezTo>
                    <a:pt x="94107" y="35306"/>
                    <a:pt x="95377" y="41402"/>
                    <a:pt x="95377" y="47752"/>
                  </a:cubicBezTo>
                  <a:close/>
                </a:path>
              </a:pathLst>
            </a:custGeom>
            <a:solidFill>
              <a:srgbClr val="3E3A4E"/>
            </a:solidFill>
          </p:spPr>
        </p:sp>
      </p:grpSp>
      <p:grpSp>
        <p:nvGrpSpPr>
          <p:cNvPr name="Group 20" id="20"/>
          <p:cNvGrpSpPr/>
          <p:nvPr/>
        </p:nvGrpSpPr>
        <p:grpSpPr>
          <a:xfrm rot="0">
            <a:off x="0" y="7530351"/>
            <a:ext cx="2573150" cy="1727949"/>
            <a:chOff x="0" y="0"/>
            <a:chExt cx="2573160" cy="1727949"/>
          </a:xfrm>
        </p:grpSpPr>
        <p:sp>
          <p:nvSpPr>
            <p:cNvPr name="Freeform 21" id="21"/>
            <p:cNvSpPr/>
            <p:nvPr/>
          </p:nvSpPr>
          <p:spPr>
            <a:xfrm flipH="false" flipV="false" rot="0">
              <a:off x="0" y="0"/>
              <a:ext cx="2573153" cy="1727965"/>
            </a:xfrm>
            <a:custGeom>
              <a:avLst/>
              <a:gdLst/>
              <a:ahLst/>
              <a:cxnLst/>
              <a:rect r="r" b="b" t="t" l="l"/>
              <a:pathLst>
                <a:path h="1727965" w="2573153">
                  <a:moveTo>
                    <a:pt x="0" y="0"/>
                  </a:moveTo>
                  <a:lnTo>
                    <a:pt x="0" y="1727965"/>
                  </a:lnTo>
                  <a:lnTo>
                    <a:pt x="2573153" y="1727965"/>
                  </a:lnTo>
                  <a:lnTo>
                    <a:pt x="2573153" y="0"/>
                  </a:lnTo>
                  <a:close/>
                </a:path>
              </a:pathLst>
            </a:custGeom>
            <a:solidFill>
              <a:srgbClr val="000000">
                <a:alpha val="0"/>
              </a:srgbClr>
            </a:solidFill>
          </p:spPr>
        </p:sp>
      </p:grpSp>
      <p:grpSp>
        <p:nvGrpSpPr>
          <p:cNvPr name="Group 22" id="22"/>
          <p:cNvGrpSpPr/>
          <p:nvPr/>
        </p:nvGrpSpPr>
        <p:grpSpPr>
          <a:xfrm rot="0">
            <a:off x="1343720" y="5093084"/>
            <a:ext cx="965149" cy="19050"/>
            <a:chOff x="0" y="0"/>
            <a:chExt cx="965149" cy="19050"/>
          </a:xfrm>
        </p:grpSpPr>
        <p:sp>
          <p:nvSpPr>
            <p:cNvPr name="Freeform 23" id="23"/>
            <p:cNvSpPr/>
            <p:nvPr/>
          </p:nvSpPr>
          <p:spPr>
            <a:xfrm flipH="false" flipV="false" rot="0">
              <a:off x="0" y="0"/>
              <a:ext cx="965199" cy="19050"/>
            </a:xfrm>
            <a:custGeom>
              <a:avLst/>
              <a:gdLst/>
              <a:ahLst/>
              <a:cxnLst/>
              <a:rect r="r" b="b" t="t" l="l"/>
              <a:pathLst>
                <a:path h="19050" w="965199">
                  <a:moveTo>
                    <a:pt x="0" y="0"/>
                  </a:moveTo>
                  <a:lnTo>
                    <a:pt x="0" y="19050"/>
                  </a:lnTo>
                  <a:lnTo>
                    <a:pt x="747521" y="19050"/>
                  </a:lnTo>
                  <a:lnTo>
                    <a:pt x="747521" y="0"/>
                  </a:lnTo>
                  <a:close/>
                  <a:moveTo>
                    <a:pt x="874902" y="0"/>
                  </a:moveTo>
                  <a:lnTo>
                    <a:pt x="874902" y="19050"/>
                  </a:lnTo>
                  <a:lnTo>
                    <a:pt x="965199" y="19050"/>
                  </a:lnTo>
                  <a:lnTo>
                    <a:pt x="965199" y="0"/>
                  </a:lnTo>
                  <a:close/>
                </a:path>
              </a:pathLst>
            </a:custGeom>
            <a:solidFill>
              <a:srgbClr val="3E3A4E"/>
            </a:solidFill>
          </p:spPr>
        </p:sp>
      </p:grpSp>
      <p:grpSp>
        <p:nvGrpSpPr>
          <p:cNvPr name="Group 24" id="24"/>
          <p:cNvGrpSpPr/>
          <p:nvPr/>
        </p:nvGrpSpPr>
        <p:grpSpPr>
          <a:xfrm rot="0">
            <a:off x="868804" y="1641091"/>
            <a:ext cx="4886925" cy="19050"/>
            <a:chOff x="0" y="0"/>
            <a:chExt cx="4886922" cy="19050"/>
          </a:xfrm>
        </p:grpSpPr>
        <p:sp>
          <p:nvSpPr>
            <p:cNvPr name="Freeform 25" id="25"/>
            <p:cNvSpPr/>
            <p:nvPr/>
          </p:nvSpPr>
          <p:spPr>
            <a:xfrm flipH="false" flipV="false" rot="0">
              <a:off x="0" y="0"/>
              <a:ext cx="4886961" cy="19050"/>
            </a:xfrm>
            <a:custGeom>
              <a:avLst/>
              <a:gdLst/>
              <a:ahLst/>
              <a:cxnLst/>
              <a:rect r="r" b="b" t="t" l="l"/>
              <a:pathLst>
                <a:path h="19050" w="4886961">
                  <a:moveTo>
                    <a:pt x="0" y="0"/>
                  </a:moveTo>
                  <a:lnTo>
                    <a:pt x="4886961" y="0"/>
                  </a:lnTo>
                  <a:lnTo>
                    <a:pt x="4886961" y="19050"/>
                  </a:lnTo>
                  <a:lnTo>
                    <a:pt x="0" y="19050"/>
                  </a:lnTo>
                  <a:close/>
                </a:path>
              </a:pathLst>
            </a:custGeom>
            <a:solidFill>
              <a:srgbClr val="3E3A4E"/>
            </a:solidFill>
          </p:spPr>
        </p:sp>
      </p:grpSp>
      <p:grpSp>
        <p:nvGrpSpPr>
          <p:cNvPr name="Group 26" id="26"/>
          <p:cNvGrpSpPr/>
          <p:nvPr/>
        </p:nvGrpSpPr>
        <p:grpSpPr>
          <a:xfrm rot="0">
            <a:off x="4118324" y="7264784"/>
            <a:ext cx="2232269" cy="19050"/>
            <a:chOff x="0" y="0"/>
            <a:chExt cx="2232279" cy="19050"/>
          </a:xfrm>
        </p:grpSpPr>
        <p:sp>
          <p:nvSpPr>
            <p:cNvPr name="Freeform 27" id="27"/>
            <p:cNvSpPr/>
            <p:nvPr/>
          </p:nvSpPr>
          <p:spPr>
            <a:xfrm flipH="false" flipV="false" rot="0">
              <a:off x="0" y="0"/>
              <a:ext cx="2232285" cy="19050"/>
            </a:xfrm>
            <a:custGeom>
              <a:avLst/>
              <a:gdLst/>
              <a:ahLst/>
              <a:cxnLst/>
              <a:rect r="r" b="b" t="t" l="l"/>
              <a:pathLst>
                <a:path h="19050" w="2232285">
                  <a:moveTo>
                    <a:pt x="0" y="0"/>
                  </a:moveTo>
                  <a:lnTo>
                    <a:pt x="0" y="19050"/>
                  </a:lnTo>
                  <a:lnTo>
                    <a:pt x="684913" y="19050"/>
                  </a:lnTo>
                  <a:lnTo>
                    <a:pt x="684913" y="0"/>
                  </a:lnTo>
                  <a:close/>
                  <a:moveTo>
                    <a:pt x="778512" y="0"/>
                  </a:moveTo>
                  <a:lnTo>
                    <a:pt x="778512" y="19050"/>
                  </a:lnTo>
                  <a:lnTo>
                    <a:pt x="2232285" y="19050"/>
                  </a:lnTo>
                  <a:lnTo>
                    <a:pt x="2232285" y="0"/>
                  </a:lnTo>
                  <a:close/>
                </a:path>
              </a:pathLst>
            </a:custGeom>
            <a:solidFill>
              <a:srgbClr val="3E3A4E"/>
            </a:solidFill>
          </p:spPr>
        </p:sp>
      </p:grpSp>
      <p:grpSp>
        <p:nvGrpSpPr>
          <p:cNvPr name="Group 28" id="28"/>
          <p:cNvGrpSpPr/>
          <p:nvPr/>
        </p:nvGrpSpPr>
        <p:grpSpPr>
          <a:xfrm rot="0">
            <a:off x="868804" y="4007234"/>
            <a:ext cx="8874919" cy="19050"/>
            <a:chOff x="0" y="0"/>
            <a:chExt cx="8874925" cy="19050"/>
          </a:xfrm>
        </p:grpSpPr>
        <p:sp>
          <p:nvSpPr>
            <p:cNvPr name="Freeform 29" id="29"/>
            <p:cNvSpPr/>
            <p:nvPr/>
          </p:nvSpPr>
          <p:spPr>
            <a:xfrm flipH="false" flipV="false" rot="0">
              <a:off x="0" y="0"/>
              <a:ext cx="8874893" cy="19050"/>
            </a:xfrm>
            <a:custGeom>
              <a:avLst/>
              <a:gdLst/>
              <a:ahLst/>
              <a:cxnLst/>
              <a:rect r="r" b="b" t="t" l="l"/>
              <a:pathLst>
                <a:path h="19050" w="8874893">
                  <a:moveTo>
                    <a:pt x="0" y="0"/>
                  </a:moveTo>
                  <a:lnTo>
                    <a:pt x="0" y="19050"/>
                  </a:lnTo>
                  <a:lnTo>
                    <a:pt x="4419222" y="19050"/>
                  </a:lnTo>
                  <a:lnTo>
                    <a:pt x="4419222" y="0"/>
                  </a:lnTo>
                  <a:close/>
                  <a:moveTo>
                    <a:pt x="4512059" y="0"/>
                  </a:moveTo>
                  <a:lnTo>
                    <a:pt x="4512059" y="19050"/>
                  </a:lnTo>
                  <a:lnTo>
                    <a:pt x="4822194" y="19050"/>
                  </a:lnTo>
                  <a:lnTo>
                    <a:pt x="4822194" y="0"/>
                  </a:lnTo>
                  <a:close/>
                  <a:moveTo>
                    <a:pt x="4914903" y="0"/>
                  </a:moveTo>
                  <a:lnTo>
                    <a:pt x="4914903" y="19050"/>
                  </a:lnTo>
                  <a:lnTo>
                    <a:pt x="8874893" y="19050"/>
                  </a:lnTo>
                  <a:lnTo>
                    <a:pt x="8874893" y="0"/>
                  </a:lnTo>
                  <a:close/>
                </a:path>
              </a:pathLst>
            </a:custGeom>
            <a:solidFill>
              <a:srgbClr val="3E3A4E"/>
            </a:solidFill>
          </p:spPr>
        </p:sp>
      </p:grpSp>
      <p:grpSp>
        <p:nvGrpSpPr>
          <p:cNvPr name="Group 30" id="30"/>
          <p:cNvGrpSpPr/>
          <p:nvPr/>
        </p:nvGrpSpPr>
        <p:grpSpPr>
          <a:xfrm rot="0">
            <a:off x="9120283" y="4731134"/>
            <a:ext cx="1911991" cy="19050"/>
            <a:chOff x="0" y="0"/>
            <a:chExt cx="1911998" cy="19050"/>
          </a:xfrm>
        </p:grpSpPr>
        <p:sp>
          <p:nvSpPr>
            <p:cNvPr name="Freeform 31" id="31"/>
            <p:cNvSpPr/>
            <p:nvPr/>
          </p:nvSpPr>
          <p:spPr>
            <a:xfrm flipH="false" flipV="false" rot="0">
              <a:off x="0" y="0"/>
              <a:ext cx="1911988" cy="19050"/>
            </a:xfrm>
            <a:custGeom>
              <a:avLst/>
              <a:gdLst/>
              <a:ahLst/>
              <a:cxnLst/>
              <a:rect r="r" b="b" t="t" l="l"/>
              <a:pathLst>
                <a:path h="19050" w="1911988">
                  <a:moveTo>
                    <a:pt x="0" y="0"/>
                  </a:moveTo>
                  <a:lnTo>
                    <a:pt x="1911988" y="0"/>
                  </a:lnTo>
                  <a:lnTo>
                    <a:pt x="1911988" y="19050"/>
                  </a:lnTo>
                  <a:lnTo>
                    <a:pt x="0" y="19050"/>
                  </a:lnTo>
                  <a:close/>
                </a:path>
              </a:pathLst>
            </a:custGeom>
            <a:solidFill>
              <a:srgbClr val="3E3A4E"/>
            </a:solidFill>
          </p:spPr>
        </p:sp>
      </p:grpSp>
      <p:grpSp>
        <p:nvGrpSpPr>
          <p:cNvPr name="Group 32" id="32"/>
          <p:cNvGrpSpPr/>
          <p:nvPr/>
        </p:nvGrpSpPr>
        <p:grpSpPr>
          <a:xfrm rot="0">
            <a:off x="11609546" y="3422209"/>
            <a:ext cx="6517405" cy="5261324"/>
            <a:chOff x="0" y="0"/>
            <a:chExt cx="6517399" cy="5261318"/>
          </a:xfrm>
        </p:grpSpPr>
        <p:sp>
          <p:nvSpPr>
            <p:cNvPr name="Freeform 33" id="33"/>
            <p:cNvSpPr/>
            <p:nvPr/>
          </p:nvSpPr>
          <p:spPr>
            <a:xfrm flipH="false" flipV="false" rot="0">
              <a:off x="0" y="0"/>
              <a:ext cx="6517384" cy="5261354"/>
            </a:xfrm>
            <a:custGeom>
              <a:avLst/>
              <a:gdLst/>
              <a:ahLst/>
              <a:cxnLst/>
              <a:rect r="r" b="b" t="t" l="l"/>
              <a:pathLst>
                <a:path h="5261354" w="6517384">
                  <a:moveTo>
                    <a:pt x="0" y="5261354"/>
                  </a:moveTo>
                  <a:lnTo>
                    <a:pt x="6517384" y="5261354"/>
                  </a:lnTo>
                  <a:lnTo>
                    <a:pt x="6517384" y="0"/>
                  </a:lnTo>
                  <a:lnTo>
                    <a:pt x="0" y="0"/>
                  </a:lnTo>
                  <a:close/>
                </a:path>
              </a:pathLst>
            </a:custGeom>
            <a:solidFill>
              <a:srgbClr val="000000">
                <a:alpha val="0"/>
              </a:srgbClr>
            </a:solidFill>
          </p:spPr>
        </p:sp>
      </p:grpSp>
      <p:grpSp>
        <p:nvGrpSpPr>
          <p:cNvPr name="Group 34" id="34"/>
          <p:cNvGrpSpPr/>
          <p:nvPr/>
        </p:nvGrpSpPr>
        <p:grpSpPr>
          <a:xfrm rot="0">
            <a:off x="12412008" y="0"/>
            <a:ext cx="5875992" cy="2847442"/>
            <a:chOff x="0" y="0"/>
            <a:chExt cx="5875998" cy="2847442"/>
          </a:xfrm>
        </p:grpSpPr>
        <p:sp>
          <p:nvSpPr>
            <p:cNvPr name="Freeform 35" id="35"/>
            <p:cNvSpPr/>
            <p:nvPr/>
          </p:nvSpPr>
          <p:spPr>
            <a:xfrm flipH="false" flipV="false" rot="0">
              <a:off x="0" y="0"/>
              <a:ext cx="5876040" cy="2847465"/>
            </a:xfrm>
            <a:custGeom>
              <a:avLst/>
              <a:gdLst/>
              <a:ahLst/>
              <a:cxnLst/>
              <a:rect r="r" b="b" t="t" l="l"/>
              <a:pathLst>
                <a:path h="2847465" w="5876040">
                  <a:moveTo>
                    <a:pt x="0" y="0"/>
                  </a:moveTo>
                  <a:lnTo>
                    <a:pt x="0" y="2847465"/>
                  </a:lnTo>
                  <a:lnTo>
                    <a:pt x="5876040" y="2847465"/>
                  </a:lnTo>
                  <a:lnTo>
                    <a:pt x="5876040" y="0"/>
                  </a:lnTo>
                  <a:close/>
                </a:path>
              </a:pathLst>
            </a:custGeom>
            <a:solidFill>
              <a:srgbClr val="000000">
                <a:alpha val="0"/>
              </a:srgbClr>
            </a:solidFill>
          </p:spPr>
        </p:sp>
      </p:grpSp>
      <p:sp>
        <p:nvSpPr>
          <p:cNvPr name="TextBox 36" id="36"/>
          <p:cNvSpPr txBox="true"/>
          <p:nvPr/>
        </p:nvSpPr>
        <p:spPr>
          <a:xfrm rot="0">
            <a:off x="1343720" y="6227293"/>
            <a:ext cx="9970122" cy="1080773"/>
          </a:xfrm>
          <a:prstGeom prst="rect">
            <a:avLst/>
          </a:prstGeom>
        </p:spPr>
        <p:txBody>
          <a:bodyPr anchor="t" rtlCol="false" tIns="0" lIns="0" bIns="0" rIns="0">
            <a:spAutoFit/>
          </a:bodyPr>
          <a:lstStyle/>
          <a:p>
            <a:pPr algn="l">
              <a:lnSpc>
                <a:spcPts val="2850"/>
              </a:lnSpc>
            </a:pPr>
            <a:r>
              <a:rPr lang="en-US" sz="2199">
                <a:solidFill>
                  <a:srgbClr val="3E3A4E"/>
                </a:solidFill>
                <a:latin typeface="Open Sauce"/>
                <a:ea typeface="Open Sauce"/>
                <a:cs typeface="Open Sauce"/>
                <a:sym typeface="Open Sauce"/>
              </a:rPr>
              <a:t>r is the discount rate, which will be equal to the WACC, we calculated earlier. finally add up the total value of all present values of future free cash flows., this total is called the </a:t>
            </a:r>
            <a:r>
              <a:rPr lang="en-US" b="true" sz="2199">
                <a:solidFill>
                  <a:srgbClr val="3E3A4E"/>
                </a:solidFill>
                <a:latin typeface="Open Sauce Bold"/>
                <a:ea typeface="Open Sauce Bold"/>
                <a:cs typeface="Open Sauce Bold"/>
                <a:sym typeface="Open Sauce Bold"/>
              </a:rPr>
              <a:t>Enterprise Value.</a:t>
            </a:r>
          </a:p>
        </p:txBody>
      </p:sp>
      <p:sp>
        <p:nvSpPr>
          <p:cNvPr name="TextBox 37" id="37"/>
          <p:cNvSpPr txBox="true"/>
          <p:nvPr/>
        </p:nvSpPr>
        <p:spPr>
          <a:xfrm rot="0">
            <a:off x="868804" y="1308449"/>
            <a:ext cx="4993186" cy="375923"/>
          </a:xfrm>
          <a:prstGeom prst="rect">
            <a:avLst/>
          </a:prstGeom>
        </p:spPr>
        <p:txBody>
          <a:bodyPr anchor="t" rtlCol="false" tIns="0" lIns="0" bIns="0" rIns="0">
            <a:spAutoFit/>
          </a:bodyPr>
          <a:lstStyle/>
          <a:p>
            <a:pPr algn="l">
              <a:lnSpc>
                <a:spcPts val="3079"/>
              </a:lnSpc>
            </a:pPr>
            <a:r>
              <a:rPr lang="en-US" b="true" sz="2199">
                <a:solidFill>
                  <a:srgbClr val="3E3A4E"/>
                </a:solidFill>
                <a:latin typeface="Open Sauce Bold"/>
                <a:ea typeface="Open Sauce Bold"/>
                <a:cs typeface="Open Sauce Bold"/>
                <a:sym typeface="Open Sauce Bold"/>
              </a:rPr>
              <a:t>STEP 4:- Calculate the terminal value:</a:t>
            </a:r>
          </a:p>
        </p:txBody>
      </p:sp>
      <p:sp>
        <p:nvSpPr>
          <p:cNvPr name="TextBox 38" id="38"/>
          <p:cNvSpPr txBox="true"/>
          <p:nvPr/>
        </p:nvSpPr>
        <p:spPr>
          <a:xfrm rot="0">
            <a:off x="1343720" y="1689449"/>
            <a:ext cx="14153245" cy="1804673"/>
          </a:xfrm>
          <a:prstGeom prst="rect">
            <a:avLst/>
          </a:prstGeom>
        </p:spPr>
        <p:txBody>
          <a:bodyPr anchor="t" rtlCol="false" tIns="0" lIns="0" bIns="0" rIns="0">
            <a:spAutoFit/>
          </a:bodyPr>
          <a:lstStyle/>
          <a:p>
            <a:pPr algn="l">
              <a:lnSpc>
                <a:spcPts val="2850"/>
              </a:lnSpc>
            </a:pPr>
            <a:r>
              <a:rPr lang="en-US" sz="2199">
                <a:solidFill>
                  <a:srgbClr val="3E3A4E"/>
                </a:solidFill>
                <a:latin typeface="Open Sauce"/>
                <a:ea typeface="Open Sauce"/>
                <a:cs typeface="Open Sauce"/>
                <a:sym typeface="Open Sauce"/>
              </a:rPr>
              <a:t>terminal value represents the total Free Cash Flow of the company beyond the explicit forecast period, up till infinity</a:t>
            </a:r>
          </a:p>
          <a:p>
            <a:pPr algn="l">
              <a:lnSpc>
                <a:spcPts val="2850"/>
              </a:lnSpc>
            </a:pPr>
            <a:r>
              <a:rPr lang="en-US" b="true" sz="2199">
                <a:solidFill>
                  <a:srgbClr val="3E3A4E"/>
                </a:solidFill>
                <a:latin typeface="Open Sauce Bold"/>
                <a:ea typeface="Open Sauce Bold"/>
                <a:cs typeface="Open Sauce Bold"/>
                <a:sym typeface="Open Sauce Bold"/>
              </a:rPr>
              <a:t>Terminal Value= (Last Future Free Cash Flow) * (1+ terminal growth rate) / (WACC - terminal growth rate) </a:t>
            </a:r>
            <a:r>
              <a:rPr lang="en-US" sz="2199">
                <a:solidFill>
                  <a:srgbClr val="3E3A4E"/>
                </a:solidFill>
                <a:latin typeface="Open Sauce"/>
                <a:ea typeface="Open Sauce"/>
                <a:cs typeface="Open Sauce"/>
                <a:sym typeface="Open Sauce"/>
              </a:rPr>
              <a:t>terminal growth rate is generally below 5%</a:t>
            </a:r>
          </a:p>
          <a:p>
            <a:pPr algn="l">
              <a:lnSpc>
                <a:spcPts val="2850"/>
              </a:lnSpc>
            </a:pPr>
            <a:r>
              <a:rPr lang="en-US" sz="2199">
                <a:solidFill>
                  <a:srgbClr val="3E3A4E"/>
                </a:solidFill>
                <a:latin typeface="Open Sauce"/>
                <a:ea typeface="Open Sauce"/>
                <a:cs typeface="Open Sauce"/>
                <a:sym typeface="Open Sauce"/>
              </a:rPr>
              <a:t>The formula which we have used above is called the Perpetuity Growth Terminal Value</a:t>
            </a:r>
          </a:p>
        </p:txBody>
      </p:sp>
      <p:sp>
        <p:nvSpPr>
          <p:cNvPr name="TextBox 39" id="39"/>
          <p:cNvSpPr txBox="true"/>
          <p:nvPr/>
        </p:nvSpPr>
        <p:spPr>
          <a:xfrm rot="0">
            <a:off x="868804" y="3674593"/>
            <a:ext cx="9060904" cy="375923"/>
          </a:xfrm>
          <a:prstGeom prst="rect">
            <a:avLst/>
          </a:prstGeom>
        </p:spPr>
        <p:txBody>
          <a:bodyPr anchor="t" rtlCol="false" tIns="0" lIns="0" bIns="0" rIns="0">
            <a:spAutoFit/>
          </a:bodyPr>
          <a:lstStyle/>
          <a:p>
            <a:pPr algn="l">
              <a:lnSpc>
                <a:spcPts val="3079"/>
              </a:lnSpc>
            </a:pPr>
            <a:r>
              <a:rPr lang="en-US" b="true" sz="2199">
                <a:solidFill>
                  <a:srgbClr val="3E3A4E"/>
                </a:solidFill>
                <a:latin typeface="Open Sauce Bold"/>
                <a:ea typeface="Open Sauce Bold"/>
                <a:cs typeface="Open Sauce Bold"/>
                <a:sym typeface="Open Sauce Bold"/>
              </a:rPr>
              <a:t>STEP 5:- Calculate Present Value (PV) of all Future Free Cash Flows:</a:t>
            </a:r>
          </a:p>
        </p:txBody>
      </p:sp>
      <p:sp>
        <p:nvSpPr>
          <p:cNvPr name="TextBox 40" id="40"/>
          <p:cNvSpPr txBox="true"/>
          <p:nvPr/>
        </p:nvSpPr>
        <p:spPr>
          <a:xfrm rot="0">
            <a:off x="1343720" y="4055593"/>
            <a:ext cx="9902038" cy="1080773"/>
          </a:xfrm>
          <a:prstGeom prst="rect">
            <a:avLst/>
          </a:prstGeom>
        </p:spPr>
        <p:txBody>
          <a:bodyPr anchor="t" rtlCol="false" tIns="0" lIns="0" bIns="0" rIns="0">
            <a:spAutoFit/>
          </a:bodyPr>
          <a:lstStyle/>
          <a:p>
            <a:pPr algn="just">
              <a:lnSpc>
                <a:spcPts val="2850"/>
              </a:lnSpc>
            </a:pPr>
            <a:r>
              <a:rPr lang="en-US" sz="2199">
                <a:solidFill>
                  <a:srgbClr val="3E3A4E"/>
                </a:solidFill>
                <a:latin typeface="Open Sauce"/>
                <a:ea typeface="Open Sauce"/>
                <a:cs typeface="Open Sauce"/>
                <a:sym typeface="Open Sauce"/>
              </a:rPr>
              <a:t>we will calculate the present value of the Future Free Cash Flows (FFCF of a forecast period + terminal value) according to the principle of</a:t>
            </a:r>
            <a:r>
              <a:rPr lang="en-US" b="true" sz="2199">
                <a:solidFill>
                  <a:srgbClr val="3E3A4E"/>
                </a:solidFill>
                <a:latin typeface="Open Sauce Bold"/>
                <a:ea typeface="Open Sauce Bold"/>
                <a:cs typeface="Open Sauce Bold"/>
                <a:sym typeface="Open Sauce Bold"/>
              </a:rPr>
              <a:t> Time Value Of Money.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197020" y="291989"/>
            <a:ext cx="4917700" cy="2228974"/>
          </a:xfrm>
          <a:custGeom>
            <a:avLst/>
            <a:gdLst/>
            <a:ahLst/>
            <a:cxnLst/>
            <a:rect r="r" b="b" t="t" l="l"/>
            <a:pathLst>
              <a:path h="2228974" w="4917700">
                <a:moveTo>
                  <a:pt x="0" y="0"/>
                </a:moveTo>
                <a:lnTo>
                  <a:pt x="4917700" y="0"/>
                </a:lnTo>
                <a:lnTo>
                  <a:pt x="4917700" y="2228974"/>
                </a:lnTo>
                <a:lnTo>
                  <a:pt x="0" y="22289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3503" y="5731650"/>
            <a:ext cx="18414997" cy="4618844"/>
          </a:xfrm>
          <a:custGeom>
            <a:avLst/>
            <a:gdLst/>
            <a:ahLst/>
            <a:cxnLst/>
            <a:rect r="r" b="b" t="t" l="l"/>
            <a:pathLst>
              <a:path h="4618844" w="18414997">
                <a:moveTo>
                  <a:pt x="0" y="0"/>
                </a:moveTo>
                <a:lnTo>
                  <a:pt x="18414997" y="0"/>
                </a:lnTo>
                <a:lnTo>
                  <a:pt x="18414997" y="4618844"/>
                </a:lnTo>
                <a:lnTo>
                  <a:pt x="0" y="46188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244764" y="4995462"/>
            <a:ext cx="11249025" cy="2800350"/>
            <a:chOff x="0" y="0"/>
            <a:chExt cx="14998700" cy="3733800"/>
          </a:xfrm>
        </p:grpSpPr>
        <p:sp>
          <p:nvSpPr>
            <p:cNvPr name="Freeform 5" id="5"/>
            <p:cNvSpPr/>
            <p:nvPr/>
          </p:nvSpPr>
          <p:spPr>
            <a:xfrm flipH="false" flipV="false" rot="0">
              <a:off x="0" y="0"/>
              <a:ext cx="14998700" cy="3733800"/>
            </a:xfrm>
            <a:custGeom>
              <a:avLst/>
              <a:gdLst/>
              <a:ahLst/>
              <a:cxnLst/>
              <a:rect r="r" b="b" t="t" l="l"/>
              <a:pathLst>
                <a:path h="3733800" w="14998700">
                  <a:moveTo>
                    <a:pt x="0" y="0"/>
                  </a:moveTo>
                  <a:lnTo>
                    <a:pt x="14998700" y="0"/>
                  </a:lnTo>
                  <a:lnTo>
                    <a:pt x="14998700" y="3733800"/>
                  </a:lnTo>
                  <a:lnTo>
                    <a:pt x="0" y="3733800"/>
                  </a:lnTo>
                  <a:lnTo>
                    <a:pt x="0" y="0"/>
                  </a:lnTo>
                  <a:close/>
                </a:path>
              </a:pathLst>
            </a:custGeom>
            <a:blipFill>
              <a:blip r:embed="rId6"/>
              <a:stretch>
                <a:fillRect l="0" t="0" r="0" b="0"/>
              </a:stretch>
            </a:blipFill>
          </p:spPr>
        </p:sp>
      </p:grpSp>
      <p:grpSp>
        <p:nvGrpSpPr>
          <p:cNvPr name="Group 6" id="6"/>
          <p:cNvGrpSpPr/>
          <p:nvPr/>
        </p:nvGrpSpPr>
        <p:grpSpPr>
          <a:xfrm rot="0">
            <a:off x="737502" y="987409"/>
            <a:ext cx="8130626" cy="28575"/>
            <a:chOff x="0" y="0"/>
            <a:chExt cx="8130629" cy="28575"/>
          </a:xfrm>
        </p:grpSpPr>
        <p:sp>
          <p:nvSpPr>
            <p:cNvPr name="Freeform 7" id="7"/>
            <p:cNvSpPr/>
            <p:nvPr/>
          </p:nvSpPr>
          <p:spPr>
            <a:xfrm flipH="false" flipV="false" rot="0">
              <a:off x="0" y="0"/>
              <a:ext cx="8130667" cy="28575"/>
            </a:xfrm>
            <a:custGeom>
              <a:avLst/>
              <a:gdLst/>
              <a:ahLst/>
              <a:cxnLst/>
              <a:rect r="r" b="b" t="t" l="l"/>
              <a:pathLst>
                <a:path h="28575" w="8130667">
                  <a:moveTo>
                    <a:pt x="0" y="0"/>
                  </a:moveTo>
                  <a:lnTo>
                    <a:pt x="0" y="28575"/>
                  </a:lnTo>
                  <a:lnTo>
                    <a:pt x="7391273" y="28575"/>
                  </a:lnTo>
                  <a:lnTo>
                    <a:pt x="7391273" y="0"/>
                  </a:lnTo>
                  <a:close/>
                  <a:moveTo>
                    <a:pt x="7489063" y="0"/>
                  </a:moveTo>
                  <a:lnTo>
                    <a:pt x="7489063" y="28575"/>
                  </a:lnTo>
                  <a:lnTo>
                    <a:pt x="7904226" y="28575"/>
                  </a:lnTo>
                  <a:lnTo>
                    <a:pt x="7904226" y="0"/>
                  </a:lnTo>
                  <a:close/>
                  <a:moveTo>
                    <a:pt x="8037830" y="0"/>
                  </a:moveTo>
                  <a:lnTo>
                    <a:pt x="8037830" y="28575"/>
                  </a:lnTo>
                  <a:lnTo>
                    <a:pt x="8130667" y="28575"/>
                  </a:lnTo>
                  <a:lnTo>
                    <a:pt x="8130667" y="0"/>
                  </a:lnTo>
                  <a:close/>
                </a:path>
              </a:pathLst>
            </a:custGeom>
            <a:solidFill>
              <a:srgbClr val="3E3A4E"/>
            </a:solidFill>
          </p:spPr>
        </p:sp>
      </p:grpSp>
      <p:grpSp>
        <p:nvGrpSpPr>
          <p:cNvPr name="Group 8" id="8"/>
          <p:cNvGrpSpPr/>
          <p:nvPr/>
        </p:nvGrpSpPr>
        <p:grpSpPr>
          <a:xfrm rot="0">
            <a:off x="975627" y="1196959"/>
            <a:ext cx="95250" cy="95250"/>
            <a:chOff x="0" y="0"/>
            <a:chExt cx="95250" cy="95250"/>
          </a:xfrm>
        </p:grpSpPr>
        <p:sp>
          <p:nvSpPr>
            <p:cNvPr name="Freeform 9" id="9"/>
            <p:cNvSpPr/>
            <p:nvPr/>
          </p:nvSpPr>
          <p:spPr>
            <a:xfrm flipH="false" flipV="false" rot="0">
              <a:off x="0" y="0"/>
              <a:ext cx="95377" cy="95377"/>
            </a:xfrm>
            <a:custGeom>
              <a:avLst/>
              <a:gdLst/>
              <a:ahLst/>
              <a:cxnLst/>
              <a:rect r="r" b="b" t="t" l="l"/>
              <a:pathLst>
                <a:path h="95377" w="95377">
                  <a:moveTo>
                    <a:pt x="95250" y="47625"/>
                  </a:moveTo>
                  <a:cubicBezTo>
                    <a:pt x="95250" y="53975"/>
                    <a:pt x="93980" y="60071"/>
                    <a:pt x="91567" y="65913"/>
                  </a:cubicBezTo>
                  <a:cubicBezTo>
                    <a:pt x="89154" y="71755"/>
                    <a:pt x="85725" y="76835"/>
                    <a:pt x="81280" y="81407"/>
                  </a:cubicBezTo>
                  <a:cubicBezTo>
                    <a:pt x="76835" y="85979"/>
                    <a:pt x="71628" y="89281"/>
                    <a:pt x="65786" y="91694"/>
                  </a:cubicBezTo>
                  <a:cubicBezTo>
                    <a:pt x="59944" y="94107"/>
                    <a:pt x="53848" y="95377"/>
                    <a:pt x="47498" y="95377"/>
                  </a:cubicBezTo>
                  <a:cubicBezTo>
                    <a:pt x="41148" y="95377"/>
                    <a:pt x="35052" y="94107"/>
                    <a:pt x="29210" y="91694"/>
                  </a:cubicBezTo>
                  <a:cubicBezTo>
                    <a:pt x="23368" y="89281"/>
                    <a:pt x="18288" y="85852"/>
                    <a:pt x="13716" y="81407"/>
                  </a:cubicBezTo>
                  <a:cubicBezTo>
                    <a:pt x="9144" y="76962"/>
                    <a:pt x="6096" y="71628"/>
                    <a:pt x="3683" y="65913"/>
                  </a:cubicBezTo>
                  <a:cubicBezTo>
                    <a:pt x="1270" y="60198"/>
                    <a:pt x="0" y="53975"/>
                    <a:pt x="0" y="47625"/>
                  </a:cubicBezTo>
                  <a:cubicBezTo>
                    <a:pt x="0" y="41275"/>
                    <a:pt x="1270" y="35179"/>
                    <a:pt x="3683" y="29337"/>
                  </a:cubicBezTo>
                  <a:cubicBezTo>
                    <a:pt x="6096" y="23495"/>
                    <a:pt x="9525" y="18415"/>
                    <a:pt x="13970" y="13970"/>
                  </a:cubicBezTo>
                  <a:cubicBezTo>
                    <a:pt x="18415" y="9525"/>
                    <a:pt x="23622" y="6096"/>
                    <a:pt x="29337" y="3683"/>
                  </a:cubicBezTo>
                  <a:cubicBezTo>
                    <a:pt x="35052" y="1270"/>
                    <a:pt x="41275" y="0"/>
                    <a:pt x="47625" y="0"/>
                  </a:cubicBezTo>
                  <a:cubicBezTo>
                    <a:pt x="53975" y="0"/>
                    <a:pt x="60071" y="1270"/>
                    <a:pt x="65913" y="3683"/>
                  </a:cubicBezTo>
                  <a:cubicBezTo>
                    <a:pt x="71755" y="6096"/>
                    <a:pt x="76835" y="9525"/>
                    <a:pt x="81407" y="13970"/>
                  </a:cubicBezTo>
                  <a:cubicBezTo>
                    <a:pt x="85979" y="18415"/>
                    <a:pt x="89281" y="23622"/>
                    <a:pt x="91694" y="29464"/>
                  </a:cubicBezTo>
                  <a:cubicBezTo>
                    <a:pt x="94107" y="35306"/>
                    <a:pt x="95377" y="41402"/>
                    <a:pt x="95377" y="47752"/>
                  </a:cubicBezTo>
                  <a:close/>
                </a:path>
              </a:pathLst>
            </a:custGeom>
            <a:solidFill>
              <a:srgbClr val="3E3A4E"/>
            </a:solidFill>
          </p:spPr>
        </p:sp>
      </p:grpSp>
      <p:grpSp>
        <p:nvGrpSpPr>
          <p:cNvPr name="Group 10" id="10"/>
          <p:cNvGrpSpPr/>
          <p:nvPr/>
        </p:nvGrpSpPr>
        <p:grpSpPr>
          <a:xfrm rot="0">
            <a:off x="975627" y="2311384"/>
            <a:ext cx="95250" cy="95250"/>
            <a:chOff x="0" y="0"/>
            <a:chExt cx="95250" cy="95250"/>
          </a:xfrm>
        </p:grpSpPr>
        <p:sp>
          <p:nvSpPr>
            <p:cNvPr name="Freeform 11" id="11"/>
            <p:cNvSpPr/>
            <p:nvPr/>
          </p:nvSpPr>
          <p:spPr>
            <a:xfrm flipH="false" flipV="false" rot="0">
              <a:off x="0" y="0"/>
              <a:ext cx="95377" cy="95377"/>
            </a:xfrm>
            <a:custGeom>
              <a:avLst/>
              <a:gdLst/>
              <a:ahLst/>
              <a:cxnLst/>
              <a:rect r="r" b="b" t="t" l="l"/>
              <a:pathLst>
                <a:path h="95377" w="95377">
                  <a:moveTo>
                    <a:pt x="95250" y="47625"/>
                  </a:moveTo>
                  <a:cubicBezTo>
                    <a:pt x="95250" y="53975"/>
                    <a:pt x="93980" y="60071"/>
                    <a:pt x="91567" y="65913"/>
                  </a:cubicBezTo>
                  <a:cubicBezTo>
                    <a:pt x="89154" y="71755"/>
                    <a:pt x="85725" y="76835"/>
                    <a:pt x="81280" y="81407"/>
                  </a:cubicBezTo>
                  <a:cubicBezTo>
                    <a:pt x="76835" y="85979"/>
                    <a:pt x="71628" y="89281"/>
                    <a:pt x="65786" y="91694"/>
                  </a:cubicBezTo>
                  <a:cubicBezTo>
                    <a:pt x="59944" y="94107"/>
                    <a:pt x="53848" y="95377"/>
                    <a:pt x="47498" y="95377"/>
                  </a:cubicBezTo>
                  <a:cubicBezTo>
                    <a:pt x="41148" y="95377"/>
                    <a:pt x="35052" y="94107"/>
                    <a:pt x="29210" y="91694"/>
                  </a:cubicBezTo>
                  <a:cubicBezTo>
                    <a:pt x="23368" y="89281"/>
                    <a:pt x="18288" y="85852"/>
                    <a:pt x="13716" y="81407"/>
                  </a:cubicBezTo>
                  <a:cubicBezTo>
                    <a:pt x="9144" y="76962"/>
                    <a:pt x="6096" y="71628"/>
                    <a:pt x="3683" y="65913"/>
                  </a:cubicBezTo>
                  <a:cubicBezTo>
                    <a:pt x="1270" y="60198"/>
                    <a:pt x="0" y="53975"/>
                    <a:pt x="0" y="47625"/>
                  </a:cubicBezTo>
                  <a:cubicBezTo>
                    <a:pt x="0" y="41275"/>
                    <a:pt x="1270" y="35179"/>
                    <a:pt x="3683" y="29337"/>
                  </a:cubicBezTo>
                  <a:cubicBezTo>
                    <a:pt x="6096" y="23495"/>
                    <a:pt x="9525" y="18415"/>
                    <a:pt x="13970" y="13970"/>
                  </a:cubicBezTo>
                  <a:cubicBezTo>
                    <a:pt x="18415" y="9525"/>
                    <a:pt x="23622" y="6096"/>
                    <a:pt x="29337" y="3683"/>
                  </a:cubicBezTo>
                  <a:cubicBezTo>
                    <a:pt x="35052" y="1270"/>
                    <a:pt x="41275" y="0"/>
                    <a:pt x="47625" y="0"/>
                  </a:cubicBezTo>
                  <a:cubicBezTo>
                    <a:pt x="53975" y="0"/>
                    <a:pt x="60071" y="1270"/>
                    <a:pt x="65913" y="3683"/>
                  </a:cubicBezTo>
                  <a:cubicBezTo>
                    <a:pt x="71755" y="6096"/>
                    <a:pt x="76835" y="9525"/>
                    <a:pt x="81407" y="13970"/>
                  </a:cubicBezTo>
                  <a:cubicBezTo>
                    <a:pt x="85979" y="18415"/>
                    <a:pt x="89281" y="23622"/>
                    <a:pt x="91694" y="29464"/>
                  </a:cubicBezTo>
                  <a:cubicBezTo>
                    <a:pt x="94107" y="35306"/>
                    <a:pt x="95377" y="41402"/>
                    <a:pt x="95377" y="47752"/>
                  </a:cubicBezTo>
                  <a:close/>
                </a:path>
              </a:pathLst>
            </a:custGeom>
            <a:solidFill>
              <a:srgbClr val="3E3A4E"/>
            </a:solidFill>
          </p:spPr>
        </p:sp>
      </p:grpSp>
      <p:sp>
        <p:nvSpPr>
          <p:cNvPr name="Freeform 12" id="12"/>
          <p:cNvSpPr/>
          <p:nvPr/>
        </p:nvSpPr>
        <p:spPr>
          <a:xfrm flipH="false" flipV="false" rot="0">
            <a:off x="11823878" y="3614290"/>
            <a:ext cx="165135" cy="5420477"/>
          </a:xfrm>
          <a:custGeom>
            <a:avLst/>
            <a:gdLst/>
            <a:ahLst/>
            <a:cxnLst/>
            <a:rect r="r" b="b" t="t" l="l"/>
            <a:pathLst>
              <a:path h="5420477" w="165135">
                <a:moveTo>
                  <a:pt x="0" y="0"/>
                </a:moveTo>
                <a:lnTo>
                  <a:pt x="165135" y="0"/>
                </a:lnTo>
                <a:lnTo>
                  <a:pt x="165135" y="5420477"/>
                </a:lnTo>
                <a:lnTo>
                  <a:pt x="0" y="542047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3" id="13"/>
          <p:cNvGrpSpPr/>
          <p:nvPr/>
        </p:nvGrpSpPr>
        <p:grpSpPr>
          <a:xfrm rot="0">
            <a:off x="12252589" y="304914"/>
            <a:ext cx="4819202" cy="2174110"/>
            <a:chOff x="0" y="0"/>
            <a:chExt cx="4819205" cy="2174113"/>
          </a:xfrm>
        </p:grpSpPr>
        <p:sp>
          <p:nvSpPr>
            <p:cNvPr name="Freeform 14" id="14"/>
            <p:cNvSpPr/>
            <p:nvPr/>
          </p:nvSpPr>
          <p:spPr>
            <a:xfrm flipH="false" flipV="false" rot="0">
              <a:off x="0" y="0"/>
              <a:ext cx="4819145" cy="2174118"/>
            </a:xfrm>
            <a:custGeom>
              <a:avLst/>
              <a:gdLst/>
              <a:ahLst/>
              <a:cxnLst/>
              <a:rect r="r" b="b" t="t" l="l"/>
              <a:pathLst>
                <a:path h="2174118" w="4819145">
                  <a:moveTo>
                    <a:pt x="0" y="2174118"/>
                  </a:moveTo>
                  <a:lnTo>
                    <a:pt x="4819145" y="2174118"/>
                  </a:lnTo>
                  <a:lnTo>
                    <a:pt x="4819145" y="0"/>
                  </a:lnTo>
                  <a:lnTo>
                    <a:pt x="0" y="0"/>
                  </a:lnTo>
                  <a:close/>
                </a:path>
              </a:pathLst>
            </a:custGeom>
            <a:solidFill>
              <a:srgbClr val="000000">
                <a:alpha val="0"/>
              </a:srgbClr>
            </a:solidFill>
          </p:spPr>
        </p:sp>
      </p:grpSp>
      <p:grpSp>
        <p:nvGrpSpPr>
          <p:cNvPr name="Group 15" id="15"/>
          <p:cNvGrpSpPr/>
          <p:nvPr/>
        </p:nvGrpSpPr>
        <p:grpSpPr>
          <a:xfrm rot="0">
            <a:off x="15178297" y="5795124"/>
            <a:ext cx="3109703" cy="3977526"/>
            <a:chOff x="0" y="0"/>
            <a:chExt cx="3109709" cy="3977526"/>
          </a:xfrm>
        </p:grpSpPr>
        <p:sp>
          <p:nvSpPr>
            <p:cNvPr name="Freeform 16" id="16"/>
            <p:cNvSpPr/>
            <p:nvPr/>
          </p:nvSpPr>
          <p:spPr>
            <a:xfrm flipH="false" flipV="false" rot="0">
              <a:off x="0" y="0"/>
              <a:ext cx="3109728" cy="3977510"/>
            </a:xfrm>
            <a:custGeom>
              <a:avLst/>
              <a:gdLst/>
              <a:ahLst/>
              <a:cxnLst/>
              <a:rect r="r" b="b" t="t" l="l"/>
              <a:pathLst>
                <a:path h="3977510" w="3109728">
                  <a:moveTo>
                    <a:pt x="0" y="3977510"/>
                  </a:moveTo>
                  <a:lnTo>
                    <a:pt x="3109728" y="3977510"/>
                  </a:lnTo>
                  <a:lnTo>
                    <a:pt x="3109728" y="0"/>
                  </a:lnTo>
                  <a:lnTo>
                    <a:pt x="0" y="0"/>
                  </a:lnTo>
                  <a:close/>
                </a:path>
              </a:pathLst>
            </a:custGeom>
            <a:solidFill>
              <a:srgbClr val="000000">
                <a:alpha val="0"/>
              </a:srgbClr>
            </a:solidFill>
          </p:spPr>
        </p:sp>
      </p:grpSp>
      <p:sp>
        <p:nvSpPr>
          <p:cNvPr name="TextBox 17" id="17"/>
          <p:cNvSpPr txBox="true"/>
          <p:nvPr/>
        </p:nvSpPr>
        <p:spPr>
          <a:xfrm rot="0">
            <a:off x="9728711" y="1375705"/>
            <a:ext cx="83401" cy="400774"/>
          </a:xfrm>
          <a:prstGeom prst="rect">
            <a:avLst/>
          </a:prstGeom>
        </p:spPr>
        <p:txBody>
          <a:bodyPr anchor="t" rtlCol="false" tIns="0" lIns="0" bIns="0" rIns="0">
            <a:spAutoFit/>
          </a:bodyPr>
          <a:lstStyle/>
          <a:p>
            <a:pPr algn="l">
              <a:lnSpc>
                <a:spcPts val="3219"/>
              </a:lnSpc>
            </a:pPr>
            <a:r>
              <a:rPr lang="en-US" sz="2299">
                <a:solidFill>
                  <a:srgbClr val="3E3A4E"/>
                </a:solidFill>
                <a:latin typeface="Open Sauce"/>
                <a:ea typeface="Open Sauce"/>
                <a:cs typeface="Open Sauce"/>
                <a:sym typeface="Open Sauce"/>
              </a:rPr>
              <a:t> </a:t>
            </a:r>
          </a:p>
        </p:txBody>
      </p:sp>
      <p:sp>
        <p:nvSpPr>
          <p:cNvPr name="TextBox 18" id="18"/>
          <p:cNvSpPr txBox="true"/>
          <p:nvPr/>
        </p:nvSpPr>
        <p:spPr>
          <a:xfrm rot="0">
            <a:off x="244764" y="3238605"/>
            <a:ext cx="9355007" cy="1799234"/>
          </a:xfrm>
          <a:prstGeom prst="rect">
            <a:avLst/>
          </a:prstGeom>
        </p:spPr>
        <p:txBody>
          <a:bodyPr anchor="t" rtlCol="false" tIns="0" lIns="0" bIns="0" rIns="0">
            <a:spAutoFit/>
          </a:bodyPr>
          <a:lstStyle/>
          <a:p>
            <a:pPr algn="l">
              <a:lnSpc>
                <a:spcPts val="13999"/>
              </a:lnSpc>
            </a:pPr>
            <a:r>
              <a:rPr lang="en-US" sz="9999">
                <a:solidFill>
                  <a:srgbClr val="3E3A4E"/>
                </a:solidFill>
                <a:latin typeface="Anton"/>
                <a:ea typeface="Anton"/>
                <a:cs typeface="Anton"/>
                <a:sym typeface="Anton"/>
              </a:rPr>
              <a:t>ASSUMPTIONS MADE</a:t>
            </a:r>
          </a:p>
        </p:txBody>
      </p:sp>
      <p:sp>
        <p:nvSpPr>
          <p:cNvPr name="TextBox 19" id="19"/>
          <p:cNvSpPr txBox="true"/>
          <p:nvPr/>
        </p:nvSpPr>
        <p:spPr>
          <a:xfrm rot="0">
            <a:off x="12035857" y="3238605"/>
            <a:ext cx="3823878" cy="1799234"/>
          </a:xfrm>
          <a:prstGeom prst="rect">
            <a:avLst/>
          </a:prstGeom>
        </p:spPr>
        <p:txBody>
          <a:bodyPr anchor="t" rtlCol="false" tIns="0" lIns="0" bIns="0" rIns="0">
            <a:spAutoFit/>
          </a:bodyPr>
          <a:lstStyle/>
          <a:p>
            <a:pPr algn="l">
              <a:lnSpc>
                <a:spcPts val="13999"/>
              </a:lnSpc>
            </a:pPr>
            <a:r>
              <a:rPr lang="en-US" sz="9999">
                <a:solidFill>
                  <a:srgbClr val="3E3A4E"/>
                </a:solidFill>
                <a:latin typeface="Anton"/>
                <a:ea typeface="Anton"/>
                <a:cs typeface="Anton"/>
                <a:sym typeface="Anton"/>
              </a:rPr>
              <a:t>RESULTS</a:t>
            </a:r>
          </a:p>
        </p:txBody>
      </p:sp>
      <p:sp>
        <p:nvSpPr>
          <p:cNvPr name="TextBox 20" id="20"/>
          <p:cNvSpPr txBox="true"/>
          <p:nvPr/>
        </p:nvSpPr>
        <p:spPr>
          <a:xfrm rot="0">
            <a:off x="13203517" y="4942751"/>
            <a:ext cx="86782" cy="431521"/>
          </a:xfrm>
          <a:prstGeom prst="rect">
            <a:avLst/>
          </a:prstGeom>
        </p:spPr>
        <p:txBody>
          <a:bodyPr anchor="t" rtlCol="false" tIns="0" lIns="0" bIns="0" rIns="0">
            <a:spAutoFit/>
          </a:bodyPr>
          <a:lstStyle/>
          <a:p>
            <a:pPr algn="l">
              <a:lnSpc>
                <a:spcPts val="3499"/>
              </a:lnSpc>
            </a:pPr>
            <a:r>
              <a:rPr lang="en-US" b="true" sz="2499">
                <a:solidFill>
                  <a:srgbClr val="3E3A4E"/>
                </a:solidFill>
                <a:latin typeface="Open Sauce Bold"/>
                <a:ea typeface="Open Sauce Bold"/>
                <a:cs typeface="Open Sauce Bold"/>
                <a:sym typeface="Open Sauce Bold"/>
              </a:rPr>
              <a:t> </a:t>
            </a:r>
          </a:p>
        </p:txBody>
      </p:sp>
      <p:sp>
        <p:nvSpPr>
          <p:cNvPr name="TextBox 21" id="21"/>
          <p:cNvSpPr txBox="true"/>
          <p:nvPr/>
        </p:nvSpPr>
        <p:spPr>
          <a:xfrm rot="0">
            <a:off x="737502" y="632755"/>
            <a:ext cx="8302161" cy="400774"/>
          </a:xfrm>
          <a:prstGeom prst="rect">
            <a:avLst/>
          </a:prstGeom>
        </p:spPr>
        <p:txBody>
          <a:bodyPr anchor="t" rtlCol="false" tIns="0" lIns="0" bIns="0" rIns="0">
            <a:spAutoFit/>
          </a:bodyPr>
          <a:lstStyle/>
          <a:p>
            <a:pPr algn="l">
              <a:lnSpc>
                <a:spcPts val="3219"/>
              </a:lnSpc>
            </a:pPr>
            <a:r>
              <a:rPr lang="en-US" b="true" sz="2299">
                <a:solidFill>
                  <a:srgbClr val="3E3A4E"/>
                </a:solidFill>
                <a:latin typeface="Open Sauce Bold"/>
                <a:ea typeface="Open Sauce Bold"/>
                <a:cs typeface="Open Sauce Bold"/>
                <a:sym typeface="Open Sauce Bold"/>
              </a:rPr>
              <a:t>STEP 6:- Calculate the intrinsic Share Price of the company:</a:t>
            </a:r>
          </a:p>
        </p:txBody>
      </p:sp>
      <p:sp>
        <p:nvSpPr>
          <p:cNvPr name="TextBox 22" id="22"/>
          <p:cNvSpPr txBox="true"/>
          <p:nvPr/>
        </p:nvSpPr>
        <p:spPr>
          <a:xfrm rot="0">
            <a:off x="1233992" y="1004230"/>
            <a:ext cx="9618897" cy="400774"/>
          </a:xfrm>
          <a:prstGeom prst="rect">
            <a:avLst/>
          </a:prstGeom>
        </p:spPr>
        <p:txBody>
          <a:bodyPr anchor="t" rtlCol="false" tIns="0" lIns="0" bIns="0" rIns="0">
            <a:spAutoFit/>
          </a:bodyPr>
          <a:lstStyle/>
          <a:p>
            <a:pPr algn="l">
              <a:lnSpc>
                <a:spcPts val="3219"/>
              </a:lnSpc>
            </a:pPr>
            <a:r>
              <a:rPr lang="en-US" sz="2299">
                <a:solidFill>
                  <a:srgbClr val="3E3A4E"/>
                </a:solidFill>
                <a:latin typeface="Open Sauce"/>
                <a:ea typeface="Open Sauce"/>
                <a:cs typeface="Open Sauce"/>
                <a:sym typeface="Open Sauce"/>
              </a:rPr>
              <a:t>after getting the Enterprise Value(EV) , we calculate the Equity value by</a:t>
            </a:r>
          </a:p>
        </p:txBody>
      </p:sp>
      <p:sp>
        <p:nvSpPr>
          <p:cNvPr name="TextBox 23" id="23"/>
          <p:cNvSpPr txBox="true"/>
          <p:nvPr/>
        </p:nvSpPr>
        <p:spPr>
          <a:xfrm rot="0">
            <a:off x="1233992" y="1404280"/>
            <a:ext cx="9897970" cy="1486624"/>
          </a:xfrm>
          <a:prstGeom prst="rect">
            <a:avLst/>
          </a:prstGeom>
        </p:spPr>
        <p:txBody>
          <a:bodyPr anchor="t" rtlCol="false" tIns="0" lIns="0" bIns="0" rIns="0">
            <a:spAutoFit/>
          </a:bodyPr>
          <a:lstStyle/>
          <a:p>
            <a:pPr algn="l">
              <a:lnSpc>
                <a:spcPts val="2924"/>
              </a:lnSpc>
            </a:pPr>
            <a:r>
              <a:rPr lang="en-US" sz="2299">
                <a:solidFill>
                  <a:srgbClr val="3E3A4E"/>
                </a:solidFill>
                <a:latin typeface="Open Sauce"/>
                <a:ea typeface="Open Sauce"/>
                <a:cs typeface="Open Sauce"/>
                <a:sym typeface="Open Sauce"/>
              </a:rPr>
              <a:t>subtracting the Net Debt (total debt- cash and cash equivalents)from the EV</a:t>
            </a:r>
          </a:p>
          <a:p>
            <a:pPr algn="l">
              <a:lnSpc>
                <a:spcPts val="2924"/>
              </a:lnSpc>
            </a:pPr>
            <a:r>
              <a:rPr lang="en-US" sz="2299">
                <a:solidFill>
                  <a:srgbClr val="3E3A4E"/>
                </a:solidFill>
                <a:latin typeface="Open Sauce"/>
                <a:ea typeface="Open Sauce"/>
                <a:cs typeface="Open Sauce"/>
                <a:sym typeface="Open Sauce"/>
              </a:rPr>
              <a:t>thisequity value is divided by thetotal number ofoutstandingshares, to gettheIntrinsic Shareprice</a:t>
            </a:r>
          </a:p>
        </p:txBody>
      </p:sp>
      <p:sp>
        <p:nvSpPr>
          <p:cNvPr name="TextBox 24" id="24"/>
          <p:cNvSpPr txBox="true"/>
          <p:nvPr/>
        </p:nvSpPr>
        <p:spPr>
          <a:xfrm rot="0">
            <a:off x="12035857" y="4942751"/>
            <a:ext cx="5017970" cy="431521"/>
          </a:xfrm>
          <a:prstGeom prst="rect">
            <a:avLst/>
          </a:prstGeom>
        </p:spPr>
        <p:txBody>
          <a:bodyPr anchor="t" rtlCol="false" tIns="0" lIns="0" bIns="0" rIns="0">
            <a:spAutoFit/>
          </a:bodyPr>
          <a:lstStyle/>
          <a:p>
            <a:pPr algn="l">
              <a:lnSpc>
                <a:spcPts val="3499"/>
              </a:lnSpc>
            </a:pPr>
            <a:r>
              <a:rPr lang="en-US" sz="2499">
                <a:solidFill>
                  <a:srgbClr val="3E3A4E"/>
                </a:solidFill>
                <a:latin typeface="Open Sauce"/>
                <a:ea typeface="Open Sauce"/>
                <a:cs typeface="Open Sauce"/>
                <a:sym typeface="Open Sauce"/>
              </a:rPr>
              <a:t>I</a:t>
            </a:r>
            <a:r>
              <a:rPr lang="en-US" b="true" sz="2499">
                <a:solidFill>
                  <a:srgbClr val="3E3A4E"/>
                </a:solidFill>
                <a:latin typeface="Open Sauce Bold"/>
                <a:ea typeface="Open Sauce Bold"/>
                <a:cs typeface="Open Sauce Bold"/>
                <a:sym typeface="Open Sauce Bold"/>
              </a:rPr>
              <a:t>ntrinsic</a:t>
            </a:r>
            <a:r>
              <a:rPr lang="en-US" b="true" sz="2499">
                <a:solidFill>
                  <a:srgbClr val="000000"/>
                </a:solidFill>
                <a:latin typeface="Open Sauce Bold"/>
                <a:ea typeface="Open Sauce Bold"/>
                <a:cs typeface="Open Sauce Bold"/>
                <a:sym typeface="Open Sauce Bold"/>
              </a:rPr>
              <a:t> </a:t>
            </a:r>
            <a:r>
              <a:rPr lang="en-US" b="true" sz="2499">
                <a:solidFill>
                  <a:srgbClr val="3E3A4E"/>
                </a:solidFill>
                <a:latin typeface="Open Sauce Bold"/>
                <a:ea typeface="Open Sauce Bold"/>
                <a:cs typeface="Open Sauce Bold"/>
                <a:sym typeface="Open Sauce Bold"/>
              </a:rPr>
              <a:t>Share</a:t>
            </a:r>
            <a:r>
              <a:rPr lang="en-US" b="true" sz="2499">
                <a:solidFill>
                  <a:srgbClr val="000000"/>
                </a:solidFill>
                <a:latin typeface="Open Sauce Bold"/>
                <a:ea typeface="Open Sauce Bold"/>
                <a:cs typeface="Open Sauce Bold"/>
                <a:sym typeface="Open Sauce Bold"/>
              </a:rPr>
              <a:t> </a:t>
            </a:r>
            <a:r>
              <a:rPr lang="en-US" b="true" sz="2499">
                <a:solidFill>
                  <a:srgbClr val="3E3A4E"/>
                </a:solidFill>
                <a:latin typeface="Open Sauce Bold"/>
                <a:ea typeface="Open Sauce Bold"/>
                <a:cs typeface="Open Sauce Bold"/>
                <a:sym typeface="Open Sauce Bold"/>
              </a:rPr>
              <a:t>Price=</a:t>
            </a:r>
            <a:r>
              <a:rPr lang="en-US" b="true" sz="2499">
                <a:solidFill>
                  <a:srgbClr val="000000"/>
                </a:solidFill>
                <a:latin typeface="Open Sauce Bold"/>
                <a:ea typeface="Open Sauce Bold"/>
                <a:cs typeface="Open Sauce Bold"/>
                <a:sym typeface="Open Sauce Bold"/>
              </a:rPr>
              <a:t> </a:t>
            </a:r>
            <a:r>
              <a:rPr lang="en-US" b="true" sz="2499">
                <a:solidFill>
                  <a:srgbClr val="3E3A4E"/>
                </a:solidFill>
                <a:latin typeface="Open Sauce Bold"/>
                <a:ea typeface="Open Sauce Bold"/>
                <a:cs typeface="Open Sauce Bold"/>
                <a:sym typeface="Open Sauce Bold"/>
              </a:rPr>
              <a:t>Rs.</a:t>
            </a:r>
            <a:r>
              <a:rPr lang="en-US" b="true" sz="2499">
                <a:solidFill>
                  <a:srgbClr val="000000"/>
                </a:solidFill>
                <a:latin typeface="Open Sauce Bold"/>
                <a:ea typeface="Open Sauce Bold"/>
                <a:cs typeface="Open Sauce Bold"/>
                <a:sym typeface="Open Sauce Bold"/>
              </a:rPr>
              <a:t> </a:t>
            </a:r>
            <a:r>
              <a:rPr lang="en-US" b="true" sz="2499">
                <a:solidFill>
                  <a:srgbClr val="3E3A4E"/>
                </a:solidFill>
                <a:latin typeface="Open Sauce Bold"/>
                <a:ea typeface="Open Sauce Bold"/>
                <a:cs typeface="Open Sauce Bold"/>
                <a:sym typeface="Open Sauce Bold"/>
              </a:rPr>
              <a:t>1975.60</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3503" y="2107940"/>
            <a:ext cx="18414997" cy="8242554"/>
          </a:xfrm>
          <a:custGeom>
            <a:avLst/>
            <a:gdLst/>
            <a:ahLst/>
            <a:cxnLst/>
            <a:rect r="r" b="b" t="t" l="l"/>
            <a:pathLst>
              <a:path h="8242554" w="18414997">
                <a:moveTo>
                  <a:pt x="0" y="0"/>
                </a:moveTo>
                <a:lnTo>
                  <a:pt x="18414997" y="0"/>
                </a:lnTo>
                <a:lnTo>
                  <a:pt x="18414997" y="8242554"/>
                </a:lnTo>
                <a:lnTo>
                  <a:pt x="0" y="82425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237515"/>
            <a:ext cx="15417241" cy="1799234"/>
          </a:xfrm>
          <a:prstGeom prst="rect">
            <a:avLst/>
          </a:prstGeom>
        </p:spPr>
        <p:txBody>
          <a:bodyPr anchor="t" rtlCol="false" tIns="0" lIns="0" bIns="0" rIns="0">
            <a:spAutoFit/>
          </a:bodyPr>
          <a:lstStyle/>
          <a:p>
            <a:pPr algn="l">
              <a:lnSpc>
                <a:spcPts val="13999"/>
              </a:lnSpc>
            </a:pPr>
            <a:r>
              <a:rPr lang="en-US" sz="9999">
                <a:solidFill>
                  <a:srgbClr val="3E3A4E"/>
                </a:solidFill>
                <a:latin typeface="Anton"/>
                <a:ea typeface="Anton"/>
                <a:cs typeface="Anton"/>
                <a:sym typeface="Anton"/>
              </a:rPr>
              <a:t>COMPARABLE COMPANY ANALYSIS</a:t>
            </a:r>
          </a:p>
        </p:txBody>
      </p:sp>
      <p:sp>
        <p:nvSpPr>
          <p:cNvPr name="TextBox 4" id="4"/>
          <p:cNvSpPr txBox="true"/>
          <p:nvPr/>
        </p:nvSpPr>
        <p:spPr>
          <a:xfrm rot="0">
            <a:off x="10156746" y="2506075"/>
            <a:ext cx="1787042" cy="1745971"/>
          </a:xfrm>
          <a:prstGeom prst="rect">
            <a:avLst/>
          </a:prstGeom>
        </p:spPr>
        <p:txBody>
          <a:bodyPr anchor="t" rtlCol="false" tIns="0" lIns="0" bIns="0" rIns="0">
            <a:spAutoFit/>
          </a:bodyPr>
          <a:lstStyle/>
          <a:p>
            <a:pPr algn="ctr">
              <a:lnSpc>
                <a:spcPts val="3449"/>
              </a:lnSpc>
            </a:pPr>
            <a:r>
              <a:rPr lang="en-US" b="true" sz="2499">
                <a:solidFill>
                  <a:srgbClr val="000000"/>
                </a:solidFill>
                <a:latin typeface="Open Sauce Bold"/>
                <a:ea typeface="Open Sauce Bold"/>
                <a:cs typeface="Open Sauce Bold"/>
                <a:sym typeface="Open Sauce Bold"/>
              </a:rPr>
              <a:t>STEP 1</a:t>
            </a:r>
          </a:p>
          <a:p>
            <a:pPr algn="ctr" rtl="true">
              <a:lnSpc>
                <a:spcPts val="3449"/>
              </a:lnSpc>
            </a:pPr>
          </a:p>
          <a:p>
            <a:pPr algn="ctr" rtl="true">
              <a:lnSpc>
                <a:spcPts val="3449"/>
              </a:lnSpc>
            </a:pPr>
          </a:p>
          <a:p>
            <a:pPr algn="ctr">
              <a:lnSpc>
                <a:spcPts val="3449"/>
              </a:lnSpc>
            </a:pPr>
            <a:r>
              <a:rPr lang="en-US" sz="2499">
                <a:solidFill>
                  <a:srgbClr val="000000"/>
                </a:solidFill>
                <a:latin typeface="Open Sauce"/>
                <a:ea typeface="Open Sauce"/>
                <a:cs typeface="Open Sauce"/>
                <a:sym typeface="Open Sauce"/>
              </a:rPr>
              <a:t>Select comparable companies</a:t>
            </a:r>
          </a:p>
        </p:txBody>
      </p:sp>
      <p:sp>
        <p:nvSpPr>
          <p:cNvPr name="TextBox 5" id="5"/>
          <p:cNvSpPr txBox="true"/>
          <p:nvPr/>
        </p:nvSpPr>
        <p:spPr>
          <a:xfrm rot="0">
            <a:off x="15381865" y="2578779"/>
            <a:ext cx="79829" cy="400774"/>
          </a:xfrm>
          <a:prstGeom prst="rect">
            <a:avLst/>
          </a:prstGeom>
        </p:spPr>
        <p:txBody>
          <a:bodyPr anchor="t" rtlCol="false" tIns="0" lIns="0" bIns="0" rIns="0">
            <a:spAutoFit/>
          </a:bodyPr>
          <a:lstStyle/>
          <a:p>
            <a:pPr algn="l">
              <a:lnSpc>
                <a:spcPts val="3219"/>
              </a:lnSpc>
            </a:pPr>
            <a:r>
              <a:rPr lang="en-US" b="true" sz="2299">
                <a:solidFill>
                  <a:srgbClr val="000000"/>
                </a:solidFill>
                <a:latin typeface="Open Sauce Bold"/>
                <a:ea typeface="Open Sauce Bold"/>
                <a:cs typeface="Open Sauce Bold"/>
                <a:sym typeface="Open Sauce Bold"/>
              </a:rPr>
              <a:t> </a:t>
            </a:r>
          </a:p>
        </p:txBody>
      </p:sp>
      <p:sp>
        <p:nvSpPr>
          <p:cNvPr name="TextBox 6" id="6"/>
          <p:cNvSpPr txBox="true"/>
          <p:nvPr/>
        </p:nvSpPr>
        <p:spPr>
          <a:xfrm rot="0">
            <a:off x="14945382" y="2978829"/>
            <a:ext cx="83401" cy="400774"/>
          </a:xfrm>
          <a:prstGeom prst="rect">
            <a:avLst/>
          </a:prstGeom>
        </p:spPr>
        <p:txBody>
          <a:bodyPr anchor="t" rtlCol="false" tIns="0" lIns="0" bIns="0" rIns="0">
            <a:spAutoFit/>
          </a:bodyPr>
          <a:lstStyle/>
          <a:p>
            <a:pPr algn="l">
              <a:lnSpc>
                <a:spcPts val="3219"/>
              </a:lnSpc>
            </a:pPr>
            <a:r>
              <a:rPr lang="en-US" sz="2299">
                <a:solidFill>
                  <a:srgbClr val="000000"/>
                </a:solidFill>
                <a:latin typeface="Open Sauce"/>
                <a:ea typeface="Open Sauce"/>
                <a:cs typeface="Open Sauce"/>
                <a:sym typeface="Open Sauce"/>
              </a:rPr>
              <a:t> </a:t>
            </a:r>
          </a:p>
        </p:txBody>
      </p:sp>
      <p:sp>
        <p:nvSpPr>
          <p:cNvPr name="TextBox 7" id="7"/>
          <p:cNvSpPr txBox="true"/>
          <p:nvPr/>
        </p:nvSpPr>
        <p:spPr>
          <a:xfrm rot="0">
            <a:off x="14747386" y="3378879"/>
            <a:ext cx="83401" cy="400774"/>
          </a:xfrm>
          <a:prstGeom prst="rect">
            <a:avLst/>
          </a:prstGeom>
        </p:spPr>
        <p:txBody>
          <a:bodyPr anchor="t" rtlCol="false" tIns="0" lIns="0" bIns="0" rIns="0">
            <a:spAutoFit/>
          </a:bodyPr>
          <a:lstStyle/>
          <a:p>
            <a:pPr algn="l">
              <a:lnSpc>
                <a:spcPts val="3219"/>
              </a:lnSpc>
            </a:pPr>
            <a:r>
              <a:rPr lang="en-US" sz="2299">
                <a:solidFill>
                  <a:srgbClr val="000000"/>
                </a:solidFill>
                <a:latin typeface="Open Sauce"/>
                <a:ea typeface="Open Sauce"/>
                <a:cs typeface="Open Sauce"/>
                <a:sym typeface="Open Sauce"/>
              </a:rPr>
              <a:t> </a:t>
            </a:r>
          </a:p>
        </p:txBody>
      </p:sp>
      <p:sp>
        <p:nvSpPr>
          <p:cNvPr name="TextBox 8" id="8"/>
          <p:cNvSpPr txBox="true"/>
          <p:nvPr/>
        </p:nvSpPr>
        <p:spPr>
          <a:xfrm rot="0">
            <a:off x="14657127" y="2578779"/>
            <a:ext cx="1003135" cy="400774"/>
          </a:xfrm>
          <a:prstGeom prst="rect">
            <a:avLst/>
          </a:prstGeom>
        </p:spPr>
        <p:txBody>
          <a:bodyPr anchor="t" rtlCol="false" tIns="0" lIns="0" bIns="0" rIns="0">
            <a:spAutoFit/>
          </a:bodyPr>
          <a:lstStyle/>
          <a:p>
            <a:pPr algn="l">
              <a:lnSpc>
                <a:spcPts val="3219"/>
              </a:lnSpc>
            </a:pPr>
            <a:r>
              <a:rPr lang="en-US" b="true" sz="2299">
                <a:solidFill>
                  <a:srgbClr val="000000"/>
                </a:solidFill>
                <a:latin typeface="Open Sauce Bold"/>
                <a:ea typeface="Open Sauce Bold"/>
                <a:cs typeface="Open Sauce Bold"/>
                <a:sym typeface="Open Sauce Bold"/>
              </a:rPr>
              <a:t>STEP</a:t>
            </a:r>
            <a:r>
              <a:rPr lang="en-US" b="true" sz="2299">
                <a:solidFill>
                  <a:srgbClr val="000000"/>
                </a:solidFill>
                <a:latin typeface="Open Sauce Bold"/>
                <a:ea typeface="Open Sauce Bold"/>
                <a:cs typeface="Open Sauce Bold"/>
                <a:sym typeface="Open Sauce Bold"/>
              </a:rPr>
              <a:t> </a:t>
            </a:r>
            <a:r>
              <a:rPr lang="en-US" b="true" sz="2299">
                <a:solidFill>
                  <a:srgbClr val="000000"/>
                </a:solidFill>
                <a:latin typeface="Open Sauce Bold"/>
                <a:ea typeface="Open Sauce Bold"/>
                <a:cs typeface="Open Sauce Bold"/>
                <a:sym typeface="Open Sauce Bold"/>
              </a:rPr>
              <a:t>2</a:t>
            </a:r>
          </a:p>
        </p:txBody>
      </p:sp>
      <p:sp>
        <p:nvSpPr>
          <p:cNvPr name="TextBox 9" id="9"/>
          <p:cNvSpPr txBox="true"/>
          <p:nvPr/>
        </p:nvSpPr>
        <p:spPr>
          <a:xfrm rot="0">
            <a:off x="14030563" y="2978829"/>
            <a:ext cx="2281438" cy="400774"/>
          </a:xfrm>
          <a:prstGeom prst="rect">
            <a:avLst/>
          </a:prstGeom>
        </p:spPr>
        <p:txBody>
          <a:bodyPr anchor="t" rtlCol="false" tIns="0" lIns="0" bIns="0" rIns="0">
            <a:spAutoFit/>
          </a:bodyPr>
          <a:lstStyle/>
          <a:p>
            <a:pPr algn="l">
              <a:lnSpc>
                <a:spcPts val="3219"/>
              </a:lnSpc>
            </a:pPr>
            <a:r>
              <a:rPr lang="en-US" sz="2299">
                <a:solidFill>
                  <a:srgbClr val="000000"/>
                </a:solidFill>
                <a:latin typeface="Open Sauce"/>
                <a:ea typeface="Open Sauce"/>
                <a:cs typeface="Open Sauce"/>
                <a:sym typeface="Open Sauce"/>
              </a:rPr>
              <a:t>Gather</a:t>
            </a:r>
            <a:r>
              <a:rPr lang="en-US" sz="2299">
                <a:solidFill>
                  <a:srgbClr val="000000"/>
                </a:solidFill>
                <a:latin typeface="Open Sauce"/>
                <a:ea typeface="Open Sauce"/>
                <a:cs typeface="Open Sauce"/>
                <a:sym typeface="Open Sauce"/>
              </a:rPr>
              <a:t> </a:t>
            </a:r>
            <a:r>
              <a:rPr lang="en-US" sz="2299">
                <a:solidFill>
                  <a:srgbClr val="000000"/>
                </a:solidFill>
                <a:latin typeface="Open Sauce"/>
                <a:ea typeface="Open Sauce"/>
                <a:cs typeface="Open Sauce"/>
                <a:sym typeface="Open Sauce"/>
              </a:rPr>
              <a:t>financials</a:t>
            </a:r>
          </a:p>
        </p:txBody>
      </p:sp>
      <p:sp>
        <p:nvSpPr>
          <p:cNvPr name="TextBox 10" id="10"/>
          <p:cNvSpPr txBox="true"/>
          <p:nvPr/>
        </p:nvSpPr>
        <p:spPr>
          <a:xfrm rot="0">
            <a:off x="14252162" y="3378879"/>
            <a:ext cx="1829324" cy="400774"/>
          </a:xfrm>
          <a:prstGeom prst="rect">
            <a:avLst/>
          </a:prstGeom>
        </p:spPr>
        <p:txBody>
          <a:bodyPr anchor="t" rtlCol="false" tIns="0" lIns="0" bIns="0" rIns="0">
            <a:spAutoFit/>
          </a:bodyPr>
          <a:lstStyle/>
          <a:p>
            <a:pPr algn="l">
              <a:lnSpc>
                <a:spcPts val="3219"/>
              </a:lnSpc>
            </a:pPr>
            <a:r>
              <a:rPr lang="en-US" sz="2299">
                <a:solidFill>
                  <a:srgbClr val="000000"/>
                </a:solidFill>
                <a:latin typeface="Open Sauce"/>
                <a:ea typeface="Open Sauce"/>
                <a:cs typeface="Open Sauce"/>
                <a:sym typeface="Open Sauce"/>
              </a:rPr>
              <a:t>and</a:t>
            </a:r>
            <a:r>
              <a:rPr lang="en-US" sz="2299">
                <a:solidFill>
                  <a:srgbClr val="000000"/>
                </a:solidFill>
                <a:latin typeface="Open Sauce"/>
                <a:ea typeface="Open Sauce"/>
                <a:cs typeface="Open Sauce"/>
                <a:sym typeface="Open Sauce"/>
              </a:rPr>
              <a:t> </a:t>
            </a:r>
            <a:r>
              <a:rPr lang="en-US" sz="2299">
                <a:solidFill>
                  <a:srgbClr val="000000"/>
                </a:solidFill>
                <a:latin typeface="Open Sauce"/>
                <a:ea typeface="Open Sauce"/>
                <a:cs typeface="Open Sauce"/>
                <a:sym typeface="Open Sauce"/>
              </a:rPr>
              <a:t>calculate</a:t>
            </a:r>
          </a:p>
        </p:txBody>
      </p:sp>
      <p:sp>
        <p:nvSpPr>
          <p:cNvPr name="TextBox 11" id="11"/>
          <p:cNvSpPr txBox="true"/>
          <p:nvPr/>
        </p:nvSpPr>
        <p:spPr>
          <a:xfrm rot="0">
            <a:off x="14542675" y="3778929"/>
            <a:ext cx="1236631" cy="400774"/>
          </a:xfrm>
          <a:prstGeom prst="rect">
            <a:avLst/>
          </a:prstGeom>
        </p:spPr>
        <p:txBody>
          <a:bodyPr anchor="t" rtlCol="false" tIns="0" lIns="0" bIns="0" rIns="0">
            <a:spAutoFit/>
          </a:bodyPr>
          <a:lstStyle/>
          <a:p>
            <a:pPr algn="l">
              <a:lnSpc>
                <a:spcPts val="3219"/>
              </a:lnSpc>
            </a:pPr>
            <a:r>
              <a:rPr lang="en-US" sz="2299">
                <a:solidFill>
                  <a:srgbClr val="000000"/>
                </a:solidFill>
                <a:latin typeface="Open Sauce"/>
                <a:ea typeface="Open Sauce"/>
                <a:cs typeface="Open Sauce"/>
                <a:sym typeface="Open Sauce"/>
              </a:rPr>
              <a:t>multiples</a:t>
            </a:r>
          </a:p>
        </p:txBody>
      </p:sp>
      <p:sp>
        <p:nvSpPr>
          <p:cNvPr name="TextBox 12" id="12"/>
          <p:cNvSpPr txBox="true"/>
          <p:nvPr/>
        </p:nvSpPr>
        <p:spPr>
          <a:xfrm rot="0">
            <a:off x="9934937" y="6473409"/>
            <a:ext cx="2246509" cy="1307821"/>
          </a:xfrm>
          <a:prstGeom prst="rect">
            <a:avLst/>
          </a:prstGeom>
        </p:spPr>
        <p:txBody>
          <a:bodyPr anchor="t" rtlCol="false" tIns="0" lIns="0" bIns="0" rIns="0">
            <a:spAutoFit/>
          </a:bodyPr>
          <a:lstStyle/>
          <a:p>
            <a:pPr algn="ctr">
              <a:lnSpc>
                <a:spcPts val="3449"/>
              </a:lnSpc>
            </a:pPr>
            <a:r>
              <a:rPr lang="en-US" b="true" sz="2499">
                <a:solidFill>
                  <a:srgbClr val="000000"/>
                </a:solidFill>
                <a:latin typeface="Open Sauce Bold"/>
                <a:ea typeface="Open Sauce Bold"/>
                <a:cs typeface="Open Sauce Bold"/>
                <a:sym typeface="Open Sauce Bold"/>
              </a:rPr>
              <a:t>STEP 4 </a:t>
            </a:r>
            <a:r>
              <a:rPr lang="en-US" sz="2499">
                <a:solidFill>
                  <a:srgbClr val="000000"/>
                </a:solidFill>
                <a:latin typeface="Open Sauce"/>
                <a:ea typeface="Open Sauce"/>
                <a:cs typeface="Open Sauce"/>
                <a:sym typeface="Open Sauce"/>
              </a:rPr>
              <a:t>Determine a valuation range</a:t>
            </a:r>
          </a:p>
        </p:txBody>
      </p:sp>
      <p:sp>
        <p:nvSpPr>
          <p:cNvPr name="TextBox 13" id="13"/>
          <p:cNvSpPr txBox="true"/>
          <p:nvPr/>
        </p:nvSpPr>
        <p:spPr>
          <a:xfrm rot="0">
            <a:off x="14045355" y="6482934"/>
            <a:ext cx="2251367" cy="1307821"/>
          </a:xfrm>
          <a:prstGeom prst="rect">
            <a:avLst/>
          </a:prstGeom>
        </p:spPr>
        <p:txBody>
          <a:bodyPr anchor="t" rtlCol="false" tIns="0" lIns="0" bIns="0" rIns="0">
            <a:spAutoFit/>
          </a:bodyPr>
          <a:lstStyle/>
          <a:p>
            <a:pPr algn="ctr">
              <a:lnSpc>
                <a:spcPts val="3449"/>
              </a:lnSpc>
            </a:pPr>
            <a:r>
              <a:rPr lang="en-US" b="true" sz="2499">
                <a:solidFill>
                  <a:srgbClr val="000000"/>
                </a:solidFill>
                <a:latin typeface="Open Sauce Bold"/>
                <a:ea typeface="Open Sauce Bold"/>
                <a:cs typeface="Open Sauce Bold"/>
                <a:sym typeface="Open Sauce Bold"/>
              </a:rPr>
              <a:t>STEP 3 </a:t>
            </a:r>
            <a:r>
              <a:rPr lang="en-US" sz="2499">
                <a:solidFill>
                  <a:srgbClr val="000000"/>
                </a:solidFill>
                <a:latin typeface="Open Sauce"/>
                <a:ea typeface="Open Sauce"/>
                <a:cs typeface="Open Sauce"/>
                <a:sym typeface="Open Sauce"/>
              </a:rPr>
              <a:t>Benchmark the multiples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42589" y="3061449"/>
            <a:ext cx="104775" cy="104775"/>
          </a:xfrm>
          <a:custGeom>
            <a:avLst/>
            <a:gdLst/>
            <a:ahLst/>
            <a:cxnLst/>
            <a:rect r="r" b="b" t="t" l="l"/>
            <a:pathLst>
              <a:path h="104775" w="104775">
                <a:moveTo>
                  <a:pt x="0" y="0"/>
                </a:moveTo>
                <a:lnTo>
                  <a:pt x="104775" y="0"/>
                </a:lnTo>
                <a:lnTo>
                  <a:pt x="104775" y="104775"/>
                </a:lnTo>
                <a:lnTo>
                  <a:pt x="0" y="1047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42589" y="3480549"/>
            <a:ext cx="104775" cy="104775"/>
          </a:xfrm>
          <a:custGeom>
            <a:avLst/>
            <a:gdLst/>
            <a:ahLst/>
            <a:cxnLst/>
            <a:rect r="r" b="b" t="t" l="l"/>
            <a:pathLst>
              <a:path h="104775" w="104775">
                <a:moveTo>
                  <a:pt x="0" y="0"/>
                </a:moveTo>
                <a:lnTo>
                  <a:pt x="104775" y="0"/>
                </a:lnTo>
                <a:lnTo>
                  <a:pt x="104775" y="104775"/>
                </a:lnTo>
                <a:lnTo>
                  <a:pt x="0" y="104775"/>
                </a:lnTo>
                <a:lnTo>
                  <a:pt x="0" y="0"/>
                </a:lnTo>
                <a:close/>
              </a:path>
            </a:pathLst>
          </a:custGeom>
          <a:blipFill>
            <a:blip r:embed="rId2">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42589" y="3899649"/>
            <a:ext cx="104775" cy="104775"/>
          </a:xfrm>
          <a:custGeom>
            <a:avLst/>
            <a:gdLst/>
            <a:ahLst/>
            <a:cxnLst/>
            <a:rect r="r" b="b" t="t" l="l"/>
            <a:pathLst>
              <a:path h="104775" w="104775">
                <a:moveTo>
                  <a:pt x="0" y="0"/>
                </a:moveTo>
                <a:lnTo>
                  <a:pt x="104775" y="0"/>
                </a:lnTo>
                <a:lnTo>
                  <a:pt x="104775" y="104775"/>
                </a:lnTo>
                <a:lnTo>
                  <a:pt x="0" y="1047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63503" y="5079997"/>
            <a:ext cx="18414997" cy="5270497"/>
          </a:xfrm>
          <a:custGeom>
            <a:avLst/>
            <a:gdLst/>
            <a:ahLst/>
            <a:cxnLst/>
            <a:rect r="r" b="b" t="t" l="l"/>
            <a:pathLst>
              <a:path h="5270497" w="18414997">
                <a:moveTo>
                  <a:pt x="0" y="0"/>
                </a:moveTo>
                <a:lnTo>
                  <a:pt x="18414997" y="0"/>
                </a:lnTo>
                <a:lnTo>
                  <a:pt x="18414997" y="5270497"/>
                </a:lnTo>
                <a:lnTo>
                  <a:pt x="0" y="527049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5498909" y="-63503"/>
            <a:ext cx="2852585" cy="2084965"/>
          </a:xfrm>
          <a:custGeom>
            <a:avLst/>
            <a:gdLst/>
            <a:ahLst/>
            <a:cxnLst/>
            <a:rect r="r" b="b" t="t" l="l"/>
            <a:pathLst>
              <a:path h="2084965" w="2852585">
                <a:moveTo>
                  <a:pt x="0" y="0"/>
                </a:moveTo>
                <a:lnTo>
                  <a:pt x="2852585" y="0"/>
                </a:lnTo>
                <a:lnTo>
                  <a:pt x="2852585" y="2084965"/>
                </a:lnTo>
                <a:lnTo>
                  <a:pt x="0" y="208496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7" id="7"/>
          <p:cNvSpPr txBox="true"/>
          <p:nvPr/>
        </p:nvSpPr>
        <p:spPr>
          <a:xfrm rot="0">
            <a:off x="2613508" y="8680447"/>
            <a:ext cx="899341" cy="314535"/>
          </a:xfrm>
          <a:prstGeom prst="rect">
            <a:avLst/>
          </a:prstGeom>
        </p:spPr>
        <p:txBody>
          <a:bodyPr anchor="t" rtlCol="false" tIns="0" lIns="0" bIns="0" rIns="0">
            <a:spAutoFit/>
          </a:bodyPr>
          <a:lstStyle/>
          <a:p>
            <a:pPr algn="l">
              <a:lnSpc>
                <a:spcPts val="2520"/>
              </a:lnSpc>
            </a:pPr>
            <a:r>
              <a:rPr lang="en-US" sz="1800">
                <a:solidFill>
                  <a:srgbClr val="000000"/>
                </a:solidFill>
                <a:latin typeface="Open Sauce"/>
                <a:ea typeface="Open Sauce"/>
                <a:cs typeface="Open Sauce"/>
                <a:sym typeface="Open Sauce"/>
              </a:rPr>
              <a:t>Industry</a:t>
            </a:r>
          </a:p>
        </p:txBody>
      </p:sp>
      <p:sp>
        <p:nvSpPr>
          <p:cNvPr name="TextBox 8" id="8"/>
          <p:cNvSpPr txBox="true"/>
          <p:nvPr/>
        </p:nvSpPr>
        <p:spPr>
          <a:xfrm rot="0">
            <a:off x="2183397" y="7619438"/>
            <a:ext cx="1776765" cy="619335"/>
          </a:xfrm>
          <a:prstGeom prst="rect">
            <a:avLst/>
          </a:prstGeom>
        </p:spPr>
        <p:txBody>
          <a:bodyPr anchor="t" rtlCol="false" tIns="0" lIns="0" bIns="0" rIns="0">
            <a:spAutoFit/>
          </a:bodyPr>
          <a:lstStyle/>
          <a:p>
            <a:pPr algn="ctr">
              <a:lnSpc>
                <a:spcPts val="2475"/>
              </a:lnSpc>
            </a:pPr>
            <a:r>
              <a:rPr lang="en-US" sz="1800">
                <a:solidFill>
                  <a:srgbClr val="000000"/>
                </a:solidFill>
                <a:latin typeface="Open Sauce"/>
                <a:ea typeface="Open Sauce"/>
                <a:cs typeface="Open Sauce"/>
                <a:sym typeface="Open Sauce"/>
              </a:rPr>
              <a:t>Operating profit margin</a:t>
            </a:r>
          </a:p>
        </p:txBody>
      </p:sp>
      <p:sp>
        <p:nvSpPr>
          <p:cNvPr name="TextBox 9" id="9"/>
          <p:cNvSpPr txBox="true"/>
          <p:nvPr/>
        </p:nvSpPr>
        <p:spPr>
          <a:xfrm rot="0">
            <a:off x="5144214" y="7771838"/>
            <a:ext cx="740083" cy="314535"/>
          </a:xfrm>
          <a:prstGeom prst="rect">
            <a:avLst/>
          </a:prstGeom>
        </p:spPr>
        <p:txBody>
          <a:bodyPr anchor="t" rtlCol="false" tIns="0" lIns="0" bIns="0" rIns="0">
            <a:spAutoFit/>
          </a:bodyPr>
          <a:lstStyle/>
          <a:p>
            <a:pPr algn="l">
              <a:lnSpc>
                <a:spcPts val="2520"/>
              </a:lnSpc>
            </a:pPr>
            <a:r>
              <a:rPr lang="en-US" sz="1800">
                <a:solidFill>
                  <a:srgbClr val="000000"/>
                </a:solidFill>
                <a:latin typeface="Open Sauce"/>
                <a:ea typeface="Open Sauce"/>
                <a:cs typeface="Open Sauce"/>
                <a:sym typeface="Open Sauce"/>
              </a:rPr>
              <a:t>13.13%</a:t>
            </a:r>
          </a:p>
        </p:txBody>
      </p:sp>
      <p:sp>
        <p:nvSpPr>
          <p:cNvPr name="TextBox 10" id="10"/>
          <p:cNvSpPr txBox="true"/>
          <p:nvPr/>
        </p:nvSpPr>
        <p:spPr>
          <a:xfrm rot="0">
            <a:off x="5117573" y="8680447"/>
            <a:ext cx="794414" cy="314535"/>
          </a:xfrm>
          <a:prstGeom prst="rect">
            <a:avLst/>
          </a:prstGeom>
        </p:spPr>
        <p:txBody>
          <a:bodyPr anchor="t" rtlCol="false" tIns="0" lIns="0" bIns="0" rIns="0">
            <a:spAutoFit/>
          </a:bodyPr>
          <a:lstStyle/>
          <a:p>
            <a:pPr algn="l">
              <a:lnSpc>
                <a:spcPts val="2520"/>
              </a:lnSpc>
            </a:pPr>
            <a:r>
              <a:rPr lang="en-US" sz="1800">
                <a:solidFill>
                  <a:srgbClr val="000000"/>
                </a:solidFill>
                <a:latin typeface="Open Sauce"/>
                <a:ea typeface="Open Sauce"/>
                <a:cs typeface="Open Sauce"/>
                <a:sym typeface="Open Sauce"/>
              </a:rPr>
              <a:t>CV+PV</a:t>
            </a:r>
          </a:p>
        </p:txBody>
      </p:sp>
      <p:sp>
        <p:nvSpPr>
          <p:cNvPr name="TextBox 11" id="11"/>
          <p:cNvSpPr txBox="true"/>
          <p:nvPr/>
        </p:nvSpPr>
        <p:spPr>
          <a:xfrm rot="0">
            <a:off x="4736268" y="6543113"/>
            <a:ext cx="1572273" cy="314535"/>
          </a:xfrm>
          <a:prstGeom prst="rect">
            <a:avLst/>
          </a:prstGeom>
        </p:spPr>
        <p:txBody>
          <a:bodyPr anchor="t" rtlCol="false" tIns="0" lIns="0" bIns="0" rIns="0">
            <a:spAutoFit/>
          </a:bodyPr>
          <a:lstStyle/>
          <a:p>
            <a:pPr algn="l">
              <a:lnSpc>
                <a:spcPts val="2520"/>
              </a:lnSpc>
            </a:pPr>
            <a:r>
              <a:rPr lang="en-US" b="true" sz="1800">
                <a:solidFill>
                  <a:srgbClr val="000000"/>
                </a:solidFill>
                <a:latin typeface="Open Sauce Bold"/>
                <a:ea typeface="Open Sauce Bold"/>
                <a:cs typeface="Open Sauce Bold"/>
                <a:sym typeface="Open Sauce Bold"/>
              </a:rPr>
              <a:t>Maruti Suzuki</a:t>
            </a:r>
          </a:p>
        </p:txBody>
      </p:sp>
      <p:sp>
        <p:nvSpPr>
          <p:cNvPr name="TextBox 12" id="12"/>
          <p:cNvSpPr txBox="true"/>
          <p:nvPr/>
        </p:nvSpPr>
        <p:spPr>
          <a:xfrm rot="0">
            <a:off x="7121052" y="7771838"/>
            <a:ext cx="631193" cy="314535"/>
          </a:xfrm>
          <a:prstGeom prst="rect">
            <a:avLst/>
          </a:prstGeom>
        </p:spPr>
        <p:txBody>
          <a:bodyPr anchor="t" rtlCol="false" tIns="0" lIns="0" bIns="0" rIns="0">
            <a:spAutoFit/>
          </a:bodyPr>
          <a:lstStyle/>
          <a:p>
            <a:pPr algn="l">
              <a:lnSpc>
                <a:spcPts val="2520"/>
              </a:lnSpc>
            </a:pPr>
            <a:r>
              <a:rPr lang="en-US" sz="1800">
                <a:solidFill>
                  <a:srgbClr val="000000"/>
                </a:solidFill>
                <a:latin typeface="Open Sauce"/>
                <a:ea typeface="Open Sauce"/>
                <a:cs typeface="Open Sauce"/>
                <a:sym typeface="Open Sauce"/>
              </a:rPr>
              <a:t>17.9%</a:t>
            </a:r>
          </a:p>
        </p:txBody>
      </p:sp>
      <p:sp>
        <p:nvSpPr>
          <p:cNvPr name="TextBox 13" id="13"/>
          <p:cNvSpPr txBox="true"/>
          <p:nvPr/>
        </p:nvSpPr>
        <p:spPr>
          <a:xfrm rot="0">
            <a:off x="7040985" y="8680447"/>
            <a:ext cx="794414" cy="314535"/>
          </a:xfrm>
          <a:prstGeom prst="rect">
            <a:avLst/>
          </a:prstGeom>
        </p:spPr>
        <p:txBody>
          <a:bodyPr anchor="t" rtlCol="false" tIns="0" lIns="0" bIns="0" rIns="0">
            <a:spAutoFit/>
          </a:bodyPr>
          <a:lstStyle/>
          <a:p>
            <a:pPr algn="l">
              <a:lnSpc>
                <a:spcPts val="2520"/>
              </a:lnSpc>
            </a:pPr>
            <a:r>
              <a:rPr lang="en-US" sz="1800">
                <a:solidFill>
                  <a:srgbClr val="000000"/>
                </a:solidFill>
                <a:latin typeface="Open Sauce"/>
                <a:ea typeface="Open Sauce"/>
                <a:cs typeface="Open Sauce"/>
                <a:sym typeface="Open Sauce"/>
              </a:rPr>
              <a:t>CV+PV</a:t>
            </a:r>
          </a:p>
        </p:txBody>
      </p:sp>
      <p:sp>
        <p:nvSpPr>
          <p:cNvPr name="TextBox 14" id="14"/>
          <p:cNvSpPr txBox="true"/>
          <p:nvPr/>
        </p:nvSpPr>
        <p:spPr>
          <a:xfrm rot="0">
            <a:off x="6903910" y="6238313"/>
            <a:ext cx="1074220" cy="933660"/>
          </a:xfrm>
          <a:prstGeom prst="rect">
            <a:avLst/>
          </a:prstGeom>
        </p:spPr>
        <p:txBody>
          <a:bodyPr anchor="t" rtlCol="false" tIns="0" lIns="0" bIns="0" rIns="0">
            <a:spAutoFit/>
          </a:bodyPr>
          <a:lstStyle/>
          <a:p>
            <a:pPr algn="ctr">
              <a:lnSpc>
                <a:spcPts val="2475"/>
              </a:lnSpc>
            </a:pPr>
            <a:r>
              <a:rPr lang="en-US" b="true" sz="1800">
                <a:solidFill>
                  <a:srgbClr val="000000"/>
                </a:solidFill>
                <a:latin typeface="Open Sauce Bold"/>
                <a:ea typeface="Open Sauce Bold"/>
                <a:cs typeface="Open Sauce Bold"/>
                <a:sym typeface="Open Sauce Bold"/>
              </a:rPr>
              <a:t>Mahindra &amp; Mahindra</a:t>
            </a:r>
          </a:p>
        </p:txBody>
      </p:sp>
      <p:sp>
        <p:nvSpPr>
          <p:cNvPr name="TextBox 15" id="15"/>
          <p:cNvSpPr txBox="true"/>
          <p:nvPr/>
        </p:nvSpPr>
        <p:spPr>
          <a:xfrm rot="0">
            <a:off x="8959529" y="8680447"/>
            <a:ext cx="311048" cy="314535"/>
          </a:xfrm>
          <a:prstGeom prst="rect">
            <a:avLst/>
          </a:prstGeom>
        </p:spPr>
        <p:txBody>
          <a:bodyPr anchor="t" rtlCol="false" tIns="0" lIns="0" bIns="0" rIns="0">
            <a:spAutoFit/>
          </a:bodyPr>
          <a:lstStyle/>
          <a:p>
            <a:pPr algn="l">
              <a:lnSpc>
                <a:spcPts val="2520"/>
              </a:lnSpc>
            </a:pPr>
            <a:r>
              <a:rPr lang="en-US" sz="1800">
                <a:solidFill>
                  <a:srgbClr val="000000"/>
                </a:solidFill>
                <a:latin typeface="Open Sauce"/>
                <a:ea typeface="Open Sauce"/>
                <a:cs typeface="Open Sauce"/>
                <a:sym typeface="Open Sauce"/>
              </a:rPr>
              <a:t>PV</a:t>
            </a:r>
          </a:p>
        </p:txBody>
      </p:sp>
      <p:sp>
        <p:nvSpPr>
          <p:cNvPr name="TextBox 16" id="16"/>
          <p:cNvSpPr txBox="true"/>
          <p:nvPr/>
        </p:nvSpPr>
        <p:spPr>
          <a:xfrm rot="0">
            <a:off x="8724090" y="7771838"/>
            <a:ext cx="791385" cy="314535"/>
          </a:xfrm>
          <a:prstGeom prst="rect">
            <a:avLst/>
          </a:prstGeom>
        </p:spPr>
        <p:txBody>
          <a:bodyPr anchor="t" rtlCol="false" tIns="0" lIns="0" bIns="0" rIns="0">
            <a:spAutoFit/>
          </a:bodyPr>
          <a:lstStyle/>
          <a:p>
            <a:pPr algn="l">
              <a:lnSpc>
                <a:spcPts val="2520"/>
              </a:lnSpc>
            </a:pPr>
            <a:r>
              <a:rPr lang="en-US" sz="1800">
                <a:solidFill>
                  <a:srgbClr val="000000"/>
                </a:solidFill>
                <a:latin typeface="Open Sauce"/>
                <a:ea typeface="Open Sauce"/>
                <a:cs typeface="Open Sauce"/>
                <a:sym typeface="Open Sauce"/>
              </a:rPr>
              <a:t>13.08%</a:t>
            </a:r>
          </a:p>
        </p:txBody>
      </p:sp>
      <p:sp>
        <p:nvSpPr>
          <p:cNvPr name="TextBox 17" id="17"/>
          <p:cNvSpPr txBox="true"/>
          <p:nvPr/>
        </p:nvSpPr>
        <p:spPr>
          <a:xfrm rot="0">
            <a:off x="8652500" y="6238313"/>
            <a:ext cx="937346" cy="933660"/>
          </a:xfrm>
          <a:prstGeom prst="rect">
            <a:avLst/>
          </a:prstGeom>
        </p:spPr>
        <p:txBody>
          <a:bodyPr anchor="t" rtlCol="false" tIns="0" lIns="0" bIns="0" rIns="0">
            <a:spAutoFit/>
          </a:bodyPr>
          <a:lstStyle/>
          <a:p>
            <a:pPr algn="ctr">
              <a:lnSpc>
                <a:spcPts val="2475"/>
              </a:lnSpc>
            </a:pPr>
            <a:r>
              <a:rPr lang="en-US" b="true" sz="1800">
                <a:solidFill>
                  <a:srgbClr val="000000"/>
                </a:solidFill>
                <a:latin typeface="Open Sauce Bold"/>
                <a:ea typeface="Open Sauce Bold"/>
                <a:cs typeface="Open Sauce Bold"/>
                <a:sym typeface="Open Sauce Bold"/>
              </a:rPr>
              <a:t>Hyundai Motors India</a:t>
            </a:r>
          </a:p>
        </p:txBody>
      </p:sp>
      <p:sp>
        <p:nvSpPr>
          <p:cNvPr name="TextBox 18" id="18"/>
          <p:cNvSpPr txBox="true"/>
          <p:nvPr/>
        </p:nvSpPr>
        <p:spPr>
          <a:xfrm rot="0">
            <a:off x="10412806" y="8680447"/>
            <a:ext cx="335070" cy="314535"/>
          </a:xfrm>
          <a:prstGeom prst="rect">
            <a:avLst/>
          </a:prstGeom>
        </p:spPr>
        <p:txBody>
          <a:bodyPr anchor="t" rtlCol="false" tIns="0" lIns="0" bIns="0" rIns="0">
            <a:spAutoFit/>
          </a:bodyPr>
          <a:lstStyle/>
          <a:p>
            <a:pPr algn="l">
              <a:lnSpc>
                <a:spcPts val="2520"/>
              </a:lnSpc>
            </a:pPr>
            <a:r>
              <a:rPr lang="en-US" sz="1800">
                <a:solidFill>
                  <a:srgbClr val="000000"/>
                </a:solidFill>
                <a:latin typeface="Open Sauce"/>
                <a:ea typeface="Open Sauce"/>
                <a:cs typeface="Open Sauce"/>
                <a:sym typeface="Open Sauce"/>
              </a:rPr>
              <a:t>CV</a:t>
            </a:r>
          </a:p>
        </p:txBody>
      </p:sp>
      <p:sp>
        <p:nvSpPr>
          <p:cNvPr name="TextBox 19" id="19"/>
          <p:cNvSpPr txBox="true"/>
          <p:nvPr/>
        </p:nvSpPr>
        <p:spPr>
          <a:xfrm rot="0">
            <a:off x="10262045" y="7771838"/>
            <a:ext cx="642623" cy="314535"/>
          </a:xfrm>
          <a:prstGeom prst="rect">
            <a:avLst/>
          </a:prstGeom>
        </p:spPr>
        <p:txBody>
          <a:bodyPr anchor="t" rtlCol="false" tIns="0" lIns="0" bIns="0" rIns="0">
            <a:spAutoFit/>
          </a:bodyPr>
          <a:lstStyle/>
          <a:p>
            <a:pPr algn="l">
              <a:lnSpc>
                <a:spcPts val="2520"/>
              </a:lnSpc>
            </a:pPr>
            <a:r>
              <a:rPr lang="en-US" sz="1800">
                <a:solidFill>
                  <a:srgbClr val="000000"/>
                </a:solidFill>
                <a:latin typeface="Open Sauce"/>
                <a:ea typeface="Open Sauce"/>
                <a:cs typeface="Open Sauce"/>
                <a:sym typeface="Open Sauce"/>
              </a:rPr>
              <a:t>12.8%</a:t>
            </a:r>
          </a:p>
        </p:txBody>
      </p:sp>
      <p:sp>
        <p:nvSpPr>
          <p:cNvPr name="TextBox 20" id="20"/>
          <p:cNvSpPr txBox="true"/>
          <p:nvPr/>
        </p:nvSpPr>
        <p:spPr>
          <a:xfrm rot="0">
            <a:off x="10169319" y="6400238"/>
            <a:ext cx="831952" cy="619335"/>
          </a:xfrm>
          <a:prstGeom prst="rect">
            <a:avLst/>
          </a:prstGeom>
        </p:spPr>
        <p:txBody>
          <a:bodyPr anchor="t" rtlCol="false" tIns="0" lIns="0" bIns="0" rIns="0">
            <a:spAutoFit/>
          </a:bodyPr>
          <a:lstStyle/>
          <a:p>
            <a:pPr algn="ctr">
              <a:lnSpc>
                <a:spcPts val="2475"/>
              </a:lnSpc>
            </a:pPr>
            <a:r>
              <a:rPr lang="en-US" b="true" sz="1800">
                <a:solidFill>
                  <a:srgbClr val="000000"/>
                </a:solidFill>
                <a:latin typeface="Open Sauce Bold"/>
                <a:ea typeface="Open Sauce Bold"/>
                <a:cs typeface="Open Sauce Bold"/>
                <a:sym typeface="Open Sauce Bold"/>
              </a:rPr>
              <a:t>Force Motors</a:t>
            </a:r>
          </a:p>
        </p:txBody>
      </p:sp>
      <p:sp>
        <p:nvSpPr>
          <p:cNvPr name="TextBox 21" id="21"/>
          <p:cNvSpPr txBox="true"/>
          <p:nvPr/>
        </p:nvSpPr>
        <p:spPr>
          <a:xfrm rot="0">
            <a:off x="11714388" y="8680447"/>
            <a:ext cx="335070" cy="314535"/>
          </a:xfrm>
          <a:prstGeom prst="rect">
            <a:avLst/>
          </a:prstGeom>
        </p:spPr>
        <p:txBody>
          <a:bodyPr anchor="t" rtlCol="false" tIns="0" lIns="0" bIns="0" rIns="0">
            <a:spAutoFit/>
          </a:bodyPr>
          <a:lstStyle/>
          <a:p>
            <a:pPr algn="l">
              <a:lnSpc>
                <a:spcPts val="2520"/>
              </a:lnSpc>
            </a:pPr>
            <a:r>
              <a:rPr lang="en-US" sz="1800">
                <a:solidFill>
                  <a:srgbClr val="000000"/>
                </a:solidFill>
                <a:latin typeface="Open Sauce"/>
                <a:ea typeface="Open Sauce"/>
                <a:cs typeface="Open Sauce"/>
                <a:sym typeface="Open Sauce"/>
              </a:rPr>
              <a:t>CV</a:t>
            </a:r>
          </a:p>
        </p:txBody>
      </p:sp>
      <p:sp>
        <p:nvSpPr>
          <p:cNvPr name="TextBox 22" id="22"/>
          <p:cNvSpPr txBox="true"/>
          <p:nvPr/>
        </p:nvSpPr>
        <p:spPr>
          <a:xfrm rot="0">
            <a:off x="11569732" y="7771838"/>
            <a:ext cx="630260" cy="314535"/>
          </a:xfrm>
          <a:prstGeom prst="rect">
            <a:avLst/>
          </a:prstGeom>
        </p:spPr>
        <p:txBody>
          <a:bodyPr anchor="t" rtlCol="false" tIns="0" lIns="0" bIns="0" rIns="0">
            <a:spAutoFit/>
          </a:bodyPr>
          <a:lstStyle/>
          <a:p>
            <a:pPr algn="l">
              <a:lnSpc>
                <a:spcPts val="2520"/>
              </a:lnSpc>
            </a:pPr>
            <a:r>
              <a:rPr lang="en-US" sz="1800">
                <a:solidFill>
                  <a:srgbClr val="000000"/>
                </a:solidFill>
                <a:latin typeface="Open Sauce"/>
                <a:ea typeface="Open Sauce"/>
                <a:cs typeface="Open Sauce"/>
                <a:sym typeface="Open Sauce"/>
              </a:rPr>
              <a:t>17.8%</a:t>
            </a:r>
          </a:p>
        </p:txBody>
      </p:sp>
      <p:sp>
        <p:nvSpPr>
          <p:cNvPr name="TextBox 23" id="23"/>
          <p:cNvSpPr txBox="true"/>
          <p:nvPr/>
        </p:nvSpPr>
        <p:spPr>
          <a:xfrm rot="0">
            <a:off x="11434448" y="6400238"/>
            <a:ext cx="906104" cy="619335"/>
          </a:xfrm>
          <a:prstGeom prst="rect">
            <a:avLst/>
          </a:prstGeom>
        </p:spPr>
        <p:txBody>
          <a:bodyPr anchor="t" rtlCol="false" tIns="0" lIns="0" bIns="0" rIns="0">
            <a:spAutoFit/>
          </a:bodyPr>
          <a:lstStyle/>
          <a:p>
            <a:pPr algn="ctr">
              <a:lnSpc>
                <a:spcPts val="2475"/>
              </a:lnSpc>
            </a:pPr>
            <a:r>
              <a:rPr lang="en-US" b="true" sz="1800">
                <a:solidFill>
                  <a:srgbClr val="000000"/>
                </a:solidFill>
                <a:latin typeface="Open Sauce Bold"/>
                <a:ea typeface="Open Sauce Bold"/>
                <a:cs typeface="Open Sauce Bold"/>
                <a:sym typeface="Open Sauce Bold"/>
              </a:rPr>
              <a:t>Ashok Leyland</a:t>
            </a:r>
          </a:p>
        </p:txBody>
      </p:sp>
      <p:sp>
        <p:nvSpPr>
          <p:cNvPr name="TextBox 24" id="24"/>
          <p:cNvSpPr txBox="true"/>
          <p:nvPr/>
        </p:nvSpPr>
        <p:spPr>
          <a:xfrm rot="0">
            <a:off x="487747" y="30670"/>
            <a:ext cx="16573986" cy="1799234"/>
          </a:xfrm>
          <a:prstGeom prst="rect">
            <a:avLst/>
          </a:prstGeom>
        </p:spPr>
        <p:txBody>
          <a:bodyPr anchor="t" rtlCol="false" tIns="0" lIns="0" bIns="0" rIns="0">
            <a:spAutoFit/>
          </a:bodyPr>
          <a:lstStyle/>
          <a:p>
            <a:pPr algn="l">
              <a:lnSpc>
                <a:spcPts val="13999"/>
              </a:lnSpc>
            </a:pPr>
            <a:r>
              <a:rPr lang="en-US" sz="9999">
                <a:solidFill>
                  <a:srgbClr val="3E3A4E"/>
                </a:solidFill>
                <a:latin typeface="Anton"/>
                <a:ea typeface="Anton"/>
                <a:cs typeface="Anton"/>
                <a:sym typeface="Anton"/>
              </a:rPr>
              <a:t>SELECTING COMPARABLE COMPANIES</a:t>
            </a:r>
          </a:p>
        </p:txBody>
      </p:sp>
      <p:sp>
        <p:nvSpPr>
          <p:cNvPr name="TextBox 25" id="25"/>
          <p:cNvSpPr txBox="true"/>
          <p:nvPr/>
        </p:nvSpPr>
        <p:spPr>
          <a:xfrm rot="0">
            <a:off x="3747383" y="2036226"/>
            <a:ext cx="87268" cy="407603"/>
          </a:xfrm>
          <a:prstGeom prst="rect">
            <a:avLst/>
          </a:prstGeom>
        </p:spPr>
        <p:txBody>
          <a:bodyPr anchor="t" rtlCol="false" tIns="0" lIns="0" bIns="0" rIns="0">
            <a:spAutoFit/>
          </a:bodyPr>
          <a:lstStyle/>
          <a:p>
            <a:pPr algn="l">
              <a:lnSpc>
                <a:spcPts val="3368"/>
              </a:lnSpc>
            </a:pPr>
            <a:r>
              <a:rPr lang="en-US" sz="2406">
                <a:solidFill>
                  <a:srgbClr val="3E3A4E"/>
                </a:solidFill>
                <a:latin typeface="Open Sauce"/>
                <a:ea typeface="Open Sauce"/>
                <a:cs typeface="Open Sauce"/>
                <a:sym typeface="Open Sauce"/>
              </a:rPr>
              <a:t> </a:t>
            </a:r>
          </a:p>
        </p:txBody>
      </p:sp>
      <p:sp>
        <p:nvSpPr>
          <p:cNvPr name="TextBox 26" id="26"/>
          <p:cNvSpPr txBox="true"/>
          <p:nvPr/>
        </p:nvSpPr>
        <p:spPr>
          <a:xfrm rot="0">
            <a:off x="185414" y="2036226"/>
            <a:ext cx="12848377" cy="407603"/>
          </a:xfrm>
          <a:prstGeom prst="rect">
            <a:avLst/>
          </a:prstGeom>
        </p:spPr>
        <p:txBody>
          <a:bodyPr anchor="t" rtlCol="false" tIns="0" lIns="0" bIns="0" rIns="0">
            <a:spAutoFit/>
          </a:bodyPr>
          <a:lstStyle/>
          <a:p>
            <a:pPr algn="l">
              <a:lnSpc>
                <a:spcPts val="3368"/>
              </a:lnSpc>
            </a:pPr>
            <a:r>
              <a:rPr lang="en-US" sz="2406">
                <a:solidFill>
                  <a:srgbClr val="3E3A4E"/>
                </a:solidFill>
                <a:latin typeface="Open Sauce"/>
                <a:ea typeface="Open Sauce"/>
                <a:cs typeface="Open Sauce"/>
                <a:sym typeface="Open Sauce"/>
              </a:rPr>
              <a:t>Tata Motors is associatedwith both thecommercial vehicle(CV)andpassengervehicle(PV)</a:t>
            </a:r>
          </a:p>
        </p:txBody>
      </p:sp>
      <p:sp>
        <p:nvSpPr>
          <p:cNvPr name="TextBox 27" id="27"/>
          <p:cNvSpPr txBox="true"/>
          <p:nvPr/>
        </p:nvSpPr>
        <p:spPr>
          <a:xfrm rot="0">
            <a:off x="185414" y="2455326"/>
            <a:ext cx="5930703" cy="407603"/>
          </a:xfrm>
          <a:prstGeom prst="rect">
            <a:avLst/>
          </a:prstGeom>
        </p:spPr>
        <p:txBody>
          <a:bodyPr anchor="t" rtlCol="false" tIns="0" lIns="0" bIns="0" rIns="0">
            <a:spAutoFit/>
          </a:bodyPr>
          <a:lstStyle/>
          <a:p>
            <a:pPr algn="l">
              <a:lnSpc>
                <a:spcPts val="3368"/>
              </a:lnSpc>
            </a:pPr>
            <a:r>
              <a:rPr lang="en-US" sz="2406">
                <a:solidFill>
                  <a:srgbClr val="3E3A4E"/>
                </a:solidFill>
                <a:latin typeface="Open Sauce"/>
                <a:ea typeface="Open Sauce"/>
                <a:cs typeface="Open Sauce"/>
                <a:sym typeface="Open Sauce"/>
              </a:rPr>
              <a:t>industry with an operatingmargin of 13.5%</a:t>
            </a:r>
          </a:p>
        </p:txBody>
      </p:sp>
      <p:sp>
        <p:nvSpPr>
          <p:cNvPr name="TextBox 28" id="28"/>
          <p:cNvSpPr txBox="true"/>
          <p:nvPr/>
        </p:nvSpPr>
        <p:spPr>
          <a:xfrm rot="0">
            <a:off x="704821" y="2874426"/>
            <a:ext cx="13276583" cy="2084003"/>
          </a:xfrm>
          <a:prstGeom prst="rect">
            <a:avLst/>
          </a:prstGeom>
        </p:spPr>
        <p:txBody>
          <a:bodyPr anchor="t" rtlCol="false" tIns="0" lIns="0" bIns="0" rIns="0">
            <a:spAutoFit/>
          </a:bodyPr>
          <a:lstStyle/>
          <a:p>
            <a:pPr algn="l">
              <a:lnSpc>
                <a:spcPts val="3301"/>
              </a:lnSpc>
            </a:pPr>
            <a:r>
              <a:rPr lang="en-US" sz="2406">
                <a:solidFill>
                  <a:srgbClr val="3E3A4E"/>
                </a:solidFill>
                <a:latin typeface="Open Sauce"/>
                <a:ea typeface="Open Sauce"/>
                <a:cs typeface="Open Sauce"/>
                <a:sym typeface="Open Sauce"/>
              </a:rPr>
              <a:t>it has 13% sharein domestic PV market and 53% shareinEVmarket</a:t>
            </a:r>
          </a:p>
          <a:p>
            <a:pPr algn="l">
              <a:lnSpc>
                <a:spcPts val="3301"/>
              </a:lnSpc>
            </a:pPr>
            <a:r>
              <a:rPr lang="en-US" sz="2406">
                <a:solidFill>
                  <a:srgbClr val="3E3A4E"/>
                </a:solidFill>
                <a:latin typeface="Open Sauce"/>
                <a:ea typeface="Open Sauce"/>
                <a:cs typeface="Open Sauce"/>
                <a:sym typeface="Open Sauce"/>
              </a:rPr>
              <a:t>it boasts the largestdomestic CV market share of 37.7%</a:t>
            </a:r>
          </a:p>
          <a:p>
            <a:pPr algn="l">
              <a:lnSpc>
                <a:spcPts val="3301"/>
              </a:lnSpc>
            </a:pPr>
            <a:r>
              <a:rPr lang="en-US" sz="2406">
                <a:solidFill>
                  <a:srgbClr val="FF3131"/>
                </a:solidFill>
                <a:latin typeface="Open Sauce"/>
                <a:ea typeface="Open Sauce"/>
                <a:cs typeface="Open Sauce"/>
                <a:sym typeface="Open Sauce"/>
              </a:rPr>
              <a:t>While Tata Motors owns the luxury car brand JLR, no comparableIndia-listedluxuryautomaker exists. The CCA includes Indian peers in CV and PV segments,thereforethismightaffectthe Comparable Company Analysis.</a:t>
            </a:r>
          </a:p>
        </p:txBody>
      </p:sp>
      <p:sp>
        <p:nvSpPr>
          <p:cNvPr name="TextBox 29" id="29"/>
          <p:cNvSpPr txBox="true"/>
          <p:nvPr/>
        </p:nvSpPr>
        <p:spPr>
          <a:xfrm rot="0">
            <a:off x="240582" y="4867789"/>
            <a:ext cx="14865544" cy="1046855"/>
          </a:xfrm>
          <a:prstGeom prst="rect">
            <a:avLst/>
          </a:prstGeom>
        </p:spPr>
        <p:txBody>
          <a:bodyPr anchor="t" rtlCol="false" tIns="0" lIns="0" bIns="0" rIns="0">
            <a:spAutoFit/>
          </a:bodyPr>
          <a:lstStyle/>
          <a:p>
            <a:pPr algn="ctr">
              <a:lnSpc>
                <a:spcPts val="4165"/>
              </a:lnSpc>
            </a:pPr>
            <a:r>
              <a:rPr lang="en-US" sz="3062">
                <a:solidFill>
                  <a:srgbClr val="000000"/>
                </a:solidFill>
                <a:latin typeface="Open Sauce"/>
                <a:ea typeface="Open Sauce"/>
                <a:cs typeface="Open Sauce"/>
                <a:sym typeface="Open Sauce"/>
              </a:rPr>
              <a:t>The</a:t>
            </a:r>
            <a:r>
              <a:rPr lang="en-US" sz="3062">
                <a:solidFill>
                  <a:srgbClr val="000000"/>
                </a:solidFill>
                <a:latin typeface="Open Sauce"/>
                <a:ea typeface="Open Sauce"/>
                <a:cs typeface="Open Sauce"/>
                <a:sym typeface="Open Sauce"/>
              </a:rPr>
              <a:t> </a:t>
            </a:r>
            <a:r>
              <a:rPr lang="en-US" sz="3062">
                <a:solidFill>
                  <a:srgbClr val="000000"/>
                </a:solidFill>
                <a:latin typeface="Open Sauce"/>
                <a:ea typeface="Open Sauce"/>
                <a:cs typeface="Open Sauce"/>
                <a:sym typeface="Open Sauce"/>
              </a:rPr>
              <a:t>following</a:t>
            </a:r>
            <a:r>
              <a:rPr lang="en-US" sz="3062">
                <a:solidFill>
                  <a:srgbClr val="000000"/>
                </a:solidFill>
                <a:latin typeface="Open Sauce"/>
                <a:ea typeface="Open Sauce"/>
                <a:cs typeface="Open Sauce"/>
                <a:sym typeface="Open Sauce"/>
              </a:rPr>
              <a:t> </a:t>
            </a:r>
            <a:r>
              <a:rPr lang="en-US" sz="3062">
                <a:solidFill>
                  <a:srgbClr val="000000"/>
                </a:solidFill>
                <a:latin typeface="Open Sauce"/>
                <a:ea typeface="Open Sauce"/>
                <a:cs typeface="Open Sauce"/>
                <a:sym typeface="Open Sauce"/>
              </a:rPr>
              <a:t>peers</a:t>
            </a:r>
            <a:r>
              <a:rPr lang="en-US" sz="3062">
                <a:solidFill>
                  <a:srgbClr val="000000"/>
                </a:solidFill>
                <a:latin typeface="Open Sauce"/>
                <a:ea typeface="Open Sauce"/>
                <a:cs typeface="Open Sauce"/>
                <a:sym typeface="Open Sauce"/>
              </a:rPr>
              <a:t> </a:t>
            </a:r>
            <a:r>
              <a:rPr lang="en-US" sz="3062">
                <a:solidFill>
                  <a:srgbClr val="000000"/>
                </a:solidFill>
                <a:latin typeface="Open Sauce"/>
                <a:ea typeface="Open Sauce"/>
                <a:cs typeface="Open Sauce"/>
                <a:sym typeface="Open Sauce"/>
              </a:rPr>
              <a:t>are</a:t>
            </a:r>
            <a:r>
              <a:rPr lang="en-US" sz="3062">
                <a:solidFill>
                  <a:srgbClr val="000000"/>
                </a:solidFill>
                <a:latin typeface="Open Sauce"/>
                <a:ea typeface="Open Sauce"/>
                <a:cs typeface="Open Sauce"/>
                <a:sym typeface="Open Sauce"/>
              </a:rPr>
              <a:t> </a:t>
            </a:r>
            <a:r>
              <a:rPr lang="en-US" sz="3062">
                <a:solidFill>
                  <a:srgbClr val="000000"/>
                </a:solidFill>
                <a:latin typeface="Open Sauce"/>
                <a:ea typeface="Open Sauce"/>
                <a:cs typeface="Open Sauce"/>
                <a:sym typeface="Open Sauce"/>
              </a:rPr>
              <a:t>selected</a:t>
            </a:r>
            <a:r>
              <a:rPr lang="en-US" sz="3062">
                <a:solidFill>
                  <a:srgbClr val="000000"/>
                </a:solidFill>
                <a:latin typeface="Open Sauce"/>
                <a:ea typeface="Open Sauce"/>
                <a:cs typeface="Open Sauce"/>
                <a:sym typeface="Open Sauce"/>
              </a:rPr>
              <a:t> </a:t>
            </a:r>
            <a:r>
              <a:rPr lang="en-US" sz="3062">
                <a:solidFill>
                  <a:srgbClr val="000000"/>
                </a:solidFill>
                <a:latin typeface="Open Sauce"/>
                <a:ea typeface="Open Sauce"/>
                <a:cs typeface="Open Sauce"/>
                <a:sym typeface="Open Sauce"/>
              </a:rPr>
              <a:t>based</a:t>
            </a:r>
            <a:r>
              <a:rPr lang="en-US" sz="3062">
                <a:solidFill>
                  <a:srgbClr val="000000"/>
                </a:solidFill>
                <a:latin typeface="Open Sauce"/>
                <a:ea typeface="Open Sauce"/>
                <a:cs typeface="Open Sauce"/>
                <a:sym typeface="Open Sauce"/>
              </a:rPr>
              <a:t> </a:t>
            </a:r>
            <a:r>
              <a:rPr lang="en-US" sz="3062">
                <a:solidFill>
                  <a:srgbClr val="000000"/>
                </a:solidFill>
                <a:latin typeface="Open Sauce"/>
                <a:ea typeface="Open Sauce"/>
                <a:cs typeface="Open Sauce"/>
                <a:sym typeface="Open Sauce"/>
              </a:rPr>
              <a:t>on</a:t>
            </a:r>
            <a:r>
              <a:rPr lang="en-US" sz="3062">
                <a:solidFill>
                  <a:srgbClr val="000000"/>
                </a:solidFill>
                <a:latin typeface="Open Sauce"/>
                <a:ea typeface="Open Sauce"/>
                <a:cs typeface="Open Sauce"/>
                <a:sym typeface="Open Sauce"/>
              </a:rPr>
              <a:t> </a:t>
            </a:r>
            <a:r>
              <a:rPr lang="en-US" sz="3062">
                <a:solidFill>
                  <a:srgbClr val="000000"/>
                </a:solidFill>
                <a:latin typeface="Open Sauce"/>
                <a:ea typeface="Open Sauce"/>
                <a:cs typeface="Open Sauce"/>
                <a:sym typeface="Open Sauce"/>
              </a:rPr>
              <a:t>geographical</a:t>
            </a:r>
            <a:r>
              <a:rPr lang="en-US" sz="3062">
                <a:solidFill>
                  <a:srgbClr val="000000"/>
                </a:solidFill>
                <a:latin typeface="Open Sauce"/>
                <a:ea typeface="Open Sauce"/>
                <a:cs typeface="Open Sauce"/>
                <a:sym typeface="Open Sauce"/>
              </a:rPr>
              <a:t> </a:t>
            </a:r>
            <a:r>
              <a:rPr lang="en-US" sz="3062">
                <a:solidFill>
                  <a:srgbClr val="000000"/>
                </a:solidFill>
                <a:latin typeface="Open Sauce"/>
                <a:ea typeface="Open Sauce"/>
                <a:cs typeface="Open Sauce"/>
                <a:sym typeface="Open Sauce"/>
              </a:rPr>
              <a:t>factors,</a:t>
            </a:r>
            <a:r>
              <a:rPr lang="en-US" sz="3062">
                <a:solidFill>
                  <a:srgbClr val="000000"/>
                </a:solidFill>
                <a:latin typeface="Open Sauce"/>
                <a:ea typeface="Open Sauce"/>
                <a:cs typeface="Open Sauce"/>
                <a:sym typeface="Open Sauce"/>
              </a:rPr>
              <a:t> </a:t>
            </a:r>
            <a:r>
              <a:rPr lang="en-US" sz="3062">
                <a:solidFill>
                  <a:srgbClr val="000000"/>
                </a:solidFill>
                <a:latin typeface="Open Sauce"/>
                <a:ea typeface="Open Sauce"/>
                <a:cs typeface="Open Sauce"/>
                <a:sym typeface="Open Sauce"/>
              </a:rPr>
              <a:t>industry</a:t>
            </a:r>
            <a:r>
              <a:rPr lang="en-US" sz="3062">
                <a:solidFill>
                  <a:srgbClr val="000000"/>
                </a:solidFill>
                <a:latin typeface="Open Sauce"/>
                <a:ea typeface="Open Sauce"/>
                <a:cs typeface="Open Sauce"/>
                <a:sym typeface="Open Sauce"/>
              </a:rPr>
              <a:t> </a:t>
            </a:r>
            <a:r>
              <a:rPr lang="en-US" sz="3062">
                <a:solidFill>
                  <a:srgbClr val="000000"/>
                </a:solidFill>
                <a:latin typeface="Open Sauce"/>
                <a:ea typeface="Open Sauce"/>
                <a:cs typeface="Open Sauce"/>
                <a:sym typeface="Open Sauce"/>
              </a:rPr>
              <a:t>specific, operating</a:t>
            </a:r>
            <a:r>
              <a:rPr lang="en-US" sz="3062">
                <a:solidFill>
                  <a:srgbClr val="000000"/>
                </a:solidFill>
                <a:latin typeface="Open Sauce"/>
                <a:ea typeface="Open Sauce"/>
                <a:cs typeface="Open Sauce"/>
                <a:sym typeface="Open Sauce"/>
              </a:rPr>
              <a:t> </a:t>
            </a:r>
            <a:r>
              <a:rPr lang="en-US" sz="3062">
                <a:solidFill>
                  <a:srgbClr val="000000"/>
                </a:solidFill>
                <a:latin typeface="Open Sauce"/>
                <a:ea typeface="Open Sauce"/>
                <a:cs typeface="Open Sauce"/>
                <a:sym typeface="Open Sauce"/>
              </a:rPr>
              <a:t>profit</a:t>
            </a:r>
            <a:r>
              <a:rPr lang="en-US" sz="3062">
                <a:solidFill>
                  <a:srgbClr val="000000"/>
                </a:solidFill>
                <a:latin typeface="Open Sauce"/>
                <a:ea typeface="Open Sauce"/>
                <a:cs typeface="Open Sauce"/>
                <a:sym typeface="Open Sauce"/>
              </a:rPr>
              <a:t> </a:t>
            </a:r>
            <a:r>
              <a:rPr lang="en-US" sz="3062">
                <a:solidFill>
                  <a:srgbClr val="000000"/>
                </a:solidFill>
                <a:latin typeface="Open Sauce"/>
                <a:ea typeface="Open Sauce"/>
                <a:cs typeface="Open Sauce"/>
                <a:sym typeface="Open Sauce"/>
              </a:rPr>
              <a:t>margin,</a:t>
            </a:r>
            <a:r>
              <a:rPr lang="en-US" sz="3062">
                <a:solidFill>
                  <a:srgbClr val="000000"/>
                </a:solidFill>
                <a:latin typeface="Open Sauce"/>
                <a:ea typeface="Open Sauce"/>
                <a:cs typeface="Open Sauce"/>
                <a:sym typeface="Open Sauce"/>
              </a:rPr>
              <a:t> </a:t>
            </a:r>
            <a:r>
              <a:rPr lang="en-US" sz="3062">
                <a:solidFill>
                  <a:srgbClr val="000000"/>
                </a:solidFill>
                <a:latin typeface="Open Sauce"/>
                <a:ea typeface="Open Sauce"/>
                <a:cs typeface="Open Sauce"/>
                <a:sym typeface="Open Sauce"/>
              </a:rPr>
              <a:t>etc.</a:t>
            </a:r>
            <a:r>
              <a:rPr lang="en-US" sz="3062">
                <a:solidFill>
                  <a:srgbClr val="000000"/>
                </a:solidFill>
                <a:latin typeface="Open Sauce"/>
                <a:ea typeface="Open Sauce"/>
                <a:cs typeface="Open Sauce"/>
                <a:sym typeface="Open Sauce"/>
              </a:rPr>
              <a:t> </a:t>
            </a:r>
            <a:r>
              <a:rPr lang="en-US" sz="3062">
                <a:solidFill>
                  <a:srgbClr val="000000"/>
                </a:solidFill>
                <a:latin typeface="Open Sauce"/>
                <a:ea typeface="Open Sauce"/>
                <a:cs typeface="Open Sauce"/>
                <a:sym typeface="Open Sauce"/>
              </a:rPr>
              <a:t>-&gt;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3503" y="5740432"/>
            <a:ext cx="3875418" cy="3398110"/>
          </a:xfrm>
          <a:custGeom>
            <a:avLst/>
            <a:gdLst/>
            <a:ahLst/>
            <a:cxnLst/>
            <a:rect r="r" b="b" t="t" l="l"/>
            <a:pathLst>
              <a:path h="3398110" w="3875418">
                <a:moveTo>
                  <a:pt x="0" y="0"/>
                </a:moveTo>
                <a:lnTo>
                  <a:pt x="3875418" y="0"/>
                </a:lnTo>
                <a:lnTo>
                  <a:pt x="3875418" y="3398110"/>
                </a:lnTo>
                <a:lnTo>
                  <a:pt x="0" y="33981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9929" y="4098617"/>
            <a:ext cx="104775" cy="104775"/>
          </a:xfrm>
          <a:custGeom>
            <a:avLst/>
            <a:gdLst/>
            <a:ahLst/>
            <a:cxnLst/>
            <a:rect r="r" b="b" t="t" l="l"/>
            <a:pathLst>
              <a:path h="104775" w="104775">
                <a:moveTo>
                  <a:pt x="0" y="0"/>
                </a:moveTo>
                <a:lnTo>
                  <a:pt x="104775" y="0"/>
                </a:lnTo>
                <a:lnTo>
                  <a:pt x="104775" y="104775"/>
                </a:lnTo>
                <a:lnTo>
                  <a:pt x="0" y="1047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59929" y="4508192"/>
            <a:ext cx="104775" cy="104775"/>
          </a:xfrm>
          <a:custGeom>
            <a:avLst/>
            <a:gdLst/>
            <a:ahLst/>
            <a:cxnLst/>
            <a:rect r="r" b="b" t="t" l="l"/>
            <a:pathLst>
              <a:path h="104775" w="104775">
                <a:moveTo>
                  <a:pt x="0" y="0"/>
                </a:moveTo>
                <a:lnTo>
                  <a:pt x="104775" y="0"/>
                </a:lnTo>
                <a:lnTo>
                  <a:pt x="104775" y="104775"/>
                </a:lnTo>
                <a:lnTo>
                  <a:pt x="0" y="104775"/>
                </a:lnTo>
                <a:lnTo>
                  <a:pt x="0" y="0"/>
                </a:lnTo>
                <a:close/>
              </a:path>
            </a:pathLst>
          </a:custGeom>
          <a:blipFill>
            <a:blip r:embed="rId4">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259929" y="4917767"/>
            <a:ext cx="104775" cy="104775"/>
          </a:xfrm>
          <a:custGeom>
            <a:avLst/>
            <a:gdLst/>
            <a:ahLst/>
            <a:cxnLst/>
            <a:rect r="r" b="b" t="t" l="l"/>
            <a:pathLst>
              <a:path h="104775" w="104775">
                <a:moveTo>
                  <a:pt x="0" y="0"/>
                </a:moveTo>
                <a:lnTo>
                  <a:pt x="104775" y="0"/>
                </a:lnTo>
                <a:lnTo>
                  <a:pt x="104775" y="104775"/>
                </a:lnTo>
                <a:lnTo>
                  <a:pt x="0" y="104775"/>
                </a:lnTo>
                <a:lnTo>
                  <a:pt x="0" y="0"/>
                </a:lnTo>
                <a:close/>
              </a:path>
            </a:pathLst>
          </a:custGeom>
          <a:blipFill>
            <a:blip r:embed="rId4">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4738888" y="7733338"/>
            <a:ext cx="104775" cy="104775"/>
          </a:xfrm>
          <a:custGeom>
            <a:avLst/>
            <a:gdLst/>
            <a:ahLst/>
            <a:cxnLst/>
            <a:rect r="r" b="b" t="t" l="l"/>
            <a:pathLst>
              <a:path h="104775" w="104775">
                <a:moveTo>
                  <a:pt x="0" y="0"/>
                </a:moveTo>
                <a:lnTo>
                  <a:pt x="104775" y="0"/>
                </a:lnTo>
                <a:lnTo>
                  <a:pt x="104775" y="104775"/>
                </a:lnTo>
                <a:lnTo>
                  <a:pt x="0" y="104775"/>
                </a:lnTo>
                <a:lnTo>
                  <a:pt x="0" y="0"/>
                </a:lnTo>
                <a:close/>
              </a:path>
            </a:pathLst>
          </a:custGeom>
          <a:blipFill>
            <a:blip r:embed="rId4">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4738888" y="8142913"/>
            <a:ext cx="104775" cy="104775"/>
          </a:xfrm>
          <a:custGeom>
            <a:avLst/>
            <a:gdLst/>
            <a:ahLst/>
            <a:cxnLst/>
            <a:rect r="r" b="b" t="t" l="l"/>
            <a:pathLst>
              <a:path h="104775" w="104775">
                <a:moveTo>
                  <a:pt x="0" y="0"/>
                </a:moveTo>
                <a:lnTo>
                  <a:pt x="104775" y="0"/>
                </a:lnTo>
                <a:lnTo>
                  <a:pt x="104775" y="104775"/>
                </a:lnTo>
                <a:lnTo>
                  <a:pt x="0" y="104775"/>
                </a:lnTo>
                <a:lnTo>
                  <a:pt x="0" y="0"/>
                </a:lnTo>
                <a:close/>
              </a:path>
            </a:pathLst>
          </a:custGeom>
          <a:blipFill>
            <a:blip r:embed="rId4">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7751616" y="3831269"/>
            <a:ext cx="104775" cy="104775"/>
          </a:xfrm>
          <a:custGeom>
            <a:avLst/>
            <a:gdLst/>
            <a:ahLst/>
            <a:cxnLst/>
            <a:rect r="r" b="b" t="t" l="l"/>
            <a:pathLst>
              <a:path h="104775" w="104775">
                <a:moveTo>
                  <a:pt x="0" y="0"/>
                </a:moveTo>
                <a:lnTo>
                  <a:pt x="104775" y="0"/>
                </a:lnTo>
                <a:lnTo>
                  <a:pt x="104775" y="104775"/>
                </a:lnTo>
                <a:lnTo>
                  <a:pt x="0" y="104775"/>
                </a:lnTo>
                <a:lnTo>
                  <a:pt x="0" y="0"/>
                </a:lnTo>
                <a:close/>
              </a:path>
            </a:pathLst>
          </a:custGeom>
          <a:blipFill>
            <a:blip r:embed="rId4">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7751616" y="4240844"/>
            <a:ext cx="104775" cy="104775"/>
          </a:xfrm>
          <a:custGeom>
            <a:avLst/>
            <a:gdLst/>
            <a:ahLst/>
            <a:cxnLst/>
            <a:rect r="r" b="b" t="t" l="l"/>
            <a:pathLst>
              <a:path h="104775" w="104775">
                <a:moveTo>
                  <a:pt x="0" y="0"/>
                </a:moveTo>
                <a:lnTo>
                  <a:pt x="104775" y="0"/>
                </a:lnTo>
                <a:lnTo>
                  <a:pt x="104775" y="104775"/>
                </a:lnTo>
                <a:lnTo>
                  <a:pt x="0" y="104775"/>
                </a:lnTo>
                <a:lnTo>
                  <a:pt x="0" y="0"/>
                </a:lnTo>
                <a:close/>
              </a:path>
            </a:pathLst>
          </a:custGeom>
          <a:blipFill>
            <a:blip r:embed="rId4">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7751616" y="5059994"/>
            <a:ext cx="104775" cy="104775"/>
          </a:xfrm>
          <a:custGeom>
            <a:avLst/>
            <a:gdLst/>
            <a:ahLst/>
            <a:cxnLst/>
            <a:rect r="r" b="b" t="t" l="l"/>
            <a:pathLst>
              <a:path h="104775" w="104775">
                <a:moveTo>
                  <a:pt x="0" y="0"/>
                </a:moveTo>
                <a:lnTo>
                  <a:pt x="104775" y="0"/>
                </a:lnTo>
                <a:lnTo>
                  <a:pt x="104775" y="104775"/>
                </a:lnTo>
                <a:lnTo>
                  <a:pt x="0" y="104775"/>
                </a:lnTo>
                <a:lnTo>
                  <a:pt x="0" y="0"/>
                </a:lnTo>
                <a:close/>
              </a:path>
            </a:pathLst>
          </a:custGeom>
          <a:blipFill>
            <a:blip r:embed="rId4">
              <a:extLst>
                <a:ext uri="{96DAC541-7B7A-43D3-8B79-37D633B846F1}">
                  <asvg:svgBlip xmlns:asvg="http://schemas.microsoft.com/office/drawing/2016/SVG/main" r:embed="rId12"/>
                </a:ext>
              </a:extLst>
            </a:blip>
            <a:stretch>
              <a:fillRect l="0" t="0" r="0" b="0"/>
            </a:stretch>
          </a:blipFill>
        </p:spPr>
      </p:sp>
      <p:sp>
        <p:nvSpPr>
          <p:cNvPr name="Freeform 11" id="11"/>
          <p:cNvSpPr/>
          <p:nvPr/>
        </p:nvSpPr>
        <p:spPr>
          <a:xfrm flipH="false" flipV="false" rot="0">
            <a:off x="7751616" y="5469569"/>
            <a:ext cx="104775" cy="104775"/>
          </a:xfrm>
          <a:custGeom>
            <a:avLst/>
            <a:gdLst/>
            <a:ahLst/>
            <a:cxnLst/>
            <a:rect r="r" b="b" t="t" l="l"/>
            <a:pathLst>
              <a:path h="104775" w="104775">
                <a:moveTo>
                  <a:pt x="0" y="0"/>
                </a:moveTo>
                <a:lnTo>
                  <a:pt x="104775" y="0"/>
                </a:lnTo>
                <a:lnTo>
                  <a:pt x="104775" y="104775"/>
                </a:lnTo>
                <a:lnTo>
                  <a:pt x="0" y="104775"/>
                </a:lnTo>
                <a:lnTo>
                  <a:pt x="0" y="0"/>
                </a:lnTo>
                <a:close/>
              </a:path>
            </a:pathLst>
          </a:custGeom>
          <a:blipFill>
            <a:blip r:embed="rId4">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7751616" y="5879144"/>
            <a:ext cx="104775" cy="104775"/>
          </a:xfrm>
          <a:custGeom>
            <a:avLst/>
            <a:gdLst/>
            <a:ahLst/>
            <a:cxnLst/>
            <a:rect r="r" b="b" t="t" l="l"/>
            <a:pathLst>
              <a:path h="104775" w="104775">
                <a:moveTo>
                  <a:pt x="0" y="0"/>
                </a:moveTo>
                <a:lnTo>
                  <a:pt x="104775" y="0"/>
                </a:lnTo>
                <a:lnTo>
                  <a:pt x="104775" y="104775"/>
                </a:lnTo>
                <a:lnTo>
                  <a:pt x="0" y="104775"/>
                </a:lnTo>
                <a:lnTo>
                  <a:pt x="0" y="0"/>
                </a:lnTo>
                <a:close/>
              </a:path>
            </a:pathLst>
          </a:custGeom>
          <a:blipFill>
            <a:blip r:embed="rId4">
              <a:extLst>
                <a:ext uri="{96DAC541-7B7A-43D3-8B79-37D633B846F1}">
                  <asvg:svgBlip xmlns:asvg="http://schemas.microsoft.com/office/drawing/2016/SVG/main" r:embed="rId14"/>
                </a:ext>
              </a:extLst>
            </a:blip>
            <a:stretch>
              <a:fillRect l="0" t="0" r="0" b="0"/>
            </a:stretch>
          </a:blipFill>
        </p:spPr>
      </p:sp>
      <p:sp>
        <p:nvSpPr>
          <p:cNvPr name="Freeform 13" id="13"/>
          <p:cNvSpPr/>
          <p:nvPr/>
        </p:nvSpPr>
        <p:spPr>
          <a:xfrm flipH="false" flipV="false" rot="0">
            <a:off x="7751616" y="6288719"/>
            <a:ext cx="104775" cy="104775"/>
          </a:xfrm>
          <a:custGeom>
            <a:avLst/>
            <a:gdLst/>
            <a:ahLst/>
            <a:cxnLst/>
            <a:rect r="r" b="b" t="t" l="l"/>
            <a:pathLst>
              <a:path h="104775" w="104775">
                <a:moveTo>
                  <a:pt x="0" y="0"/>
                </a:moveTo>
                <a:lnTo>
                  <a:pt x="104775" y="0"/>
                </a:lnTo>
                <a:lnTo>
                  <a:pt x="104775" y="104775"/>
                </a:lnTo>
                <a:lnTo>
                  <a:pt x="0" y="104775"/>
                </a:lnTo>
                <a:lnTo>
                  <a:pt x="0" y="0"/>
                </a:lnTo>
                <a:close/>
              </a:path>
            </a:pathLst>
          </a:custGeom>
          <a:blipFill>
            <a:blip r:embed="rId4">
              <a:extLst>
                <a:ext uri="{96DAC541-7B7A-43D3-8B79-37D633B846F1}">
                  <asvg:svgBlip xmlns:asvg="http://schemas.microsoft.com/office/drawing/2016/SVG/main" r:embed="rId15"/>
                </a:ext>
              </a:extLst>
            </a:blip>
            <a:stretch>
              <a:fillRect l="0" t="0" r="0" b="0"/>
            </a:stretch>
          </a:blipFill>
        </p:spPr>
      </p:sp>
      <p:grpSp>
        <p:nvGrpSpPr>
          <p:cNvPr name="Group 14" id="14"/>
          <p:cNvGrpSpPr/>
          <p:nvPr/>
        </p:nvGrpSpPr>
        <p:grpSpPr>
          <a:xfrm rot="0">
            <a:off x="0" y="9258300"/>
            <a:ext cx="18288000" cy="1028700"/>
            <a:chOff x="0" y="0"/>
            <a:chExt cx="18288000" cy="1028700"/>
          </a:xfrm>
        </p:grpSpPr>
        <p:sp>
          <p:nvSpPr>
            <p:cNvPr name="Freeform 15" id="15"/>
            <p:cNvSpPr/>
            <p:nvPr/>
          </p:nvSpPr>
          <p:spPr>
            <a:xfrm flipH="false" flipV="false" rot="0">
              <a:off x="0" y="0"/>
              <a:ext cx="18288000" cy="1028700"/>
            </a:xfrm>
            <a:custGeom>
              <a:avLst/>
              <a:gdLst/>
              <a:ahLst/>
              <a:cxnLst/>
              <a:rect r="r" b="b" t="t" l="l"/>
              <a:pathLst>
                <a:path h="1028700" w="18288000">
                  <a:moveTo>
                    <a:pt x="0" y="0"/>
                  </a:moveTo>
                  <a:lnTo>
                    <a:pt x="0" y="1028700"/>
                  </a:lnTo>
                  <a:lnTo>
                    <a:pt x="18288000" y="1028700"/>
                  </a:lnTo>
                  <a:lnTo>
                    <a:pt x="18288000" y="0"/>
                  </a:lnTo>
                  <a:close/>
                </a:path>
              </a:pathLst>
            </a:custGeom>
            <a:solidFill>
              <a:srgbClr val="5EC57E"/>
            </a:solidFill>
          </p:spPr>
        </p:sp>
      </p:grpSp>
      <p:sp>
        <p:nvSpPr>
          <p:cNvPr name="Freeform 16" id="16"/>
          <p:cNvSpPr/>
          <p:nvPr/>
        </p:nvSpPr>
        <p:spPr>
          <a:xfrm flipH="false" flipV="false" rot="0">
            <a:off x="13793276" y="1955711"/>
            <a:ext cx="4558217" cy="6840598"/>
          </a:xfrm>
          <a:custGeom>
            <a:avLst/>
            <a:gdLst/>
            <a:ahLst/>
            <a:cxnLst/>
            <a:rect r="r" b="b" t="t" l="l"/>
            <a:pathLst>
              <a:path h="6840598" w="4558217">
                <a:moveTo>
                  <a:pt x="0" y="0"/>
                </a:moveTo>
                <a:lnTo>
                  <a:pt x="4558218" y="0"/>
                </a:lnTo>
                <a:lnTo>
                  <a:pt x="4558218" y="6840598"/>
                </a:lnTo>
                <a:lnTo>
                  <a:pt x="0" y="684059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7" id="17"/>
          <p:cNvSpPr txBox="true"/>
          <p:nvPr/>
        </p:nvSpPr>
        <p:spPr>
          <a:xfrm rot="0">
            <a:off x="697297" y="360207"/>
            <a:ext cx="12032494" cy="2570759"/>
          </a:xfrm>
          <a:prstGeom prst="rect">
            <a:avLst/>
          </a:prstGeom>
        </p:spPr>
        <p:txBody>
          <a:bodyPr anchor="t" rtlCol="false" tIns="0" lIns="0" bIns="0" rIns="0">
            <a:spAutoFit/>
          </a:bodyPr>
          <a:lstStyle/>
          <a:p>
            <a:pPr algn="l">
              <a:lnSpc>
                <a:spcPts val="9449"/>
              </a:lnSpc>
            </a:pPr>
            <a:r>
              <a:rPr lang="en-US" sz="9999">
                <a:solidFill>
                  <a:srgbClr val="3E3A4E"/>
                </a:solidFill>
                <a:latin typeface="Anton"/>
                <a:ea typeface="Anton"/>
                <a:cs typeface="Anton"/>
                <a:sym typeface="Anton"/>
              </a:rPr>
              <a:t>GATHER FINANCIALS AND</a:t>
            </a:r>
          </a:p>
          <a:p>
            <a:pPr algn="l">
              <a:lnSpc>
                <a:spcPts val="9449"/>
              </a:lnSpc>
            </a:pPr>
            <a:r>
              <a:rPr lang="en-US" sz="9999">
                <a:solidFill>
                  <a:srgbClr val="3E3A4E"/>
                </a:solidFill>
                <a:latin typeface="Anton"/>
                <a:ea typeface="Anton"/>
                <a:cs typeface="Anton"/>
                <a:sym typeface="Anton"/>
              </a:rPr>
              <a:t>CALCULATE THE MULTIPLES</a:t>
            </a:r>
          </a:p>
        </p:txBody>
      </p:sp>
      <p:sp>
        <p:nvSpPr>
          <p:cNvPr name="TextBox 18" id="18"/>
          <p:cNvSpPr txBox="true"/>
          <p:nvPr/>
        </p:nvSpPr>
        <p:spPr>
          <a:xfrm rot="0">
            <a:off x="8807082" y="3222927"/>
            <a:ext cx="86782" cy="431521"/>
          </a:xfrm>
          <a:prstGeom prst="rect">
            <a:avLst/>
          </a:prstGeom>
        </p:spPr>
        <p:txBody>
          <a:bodyPr anchor="t" rtlCol="false" tIns="0" lIns="0" bIns="0" rIns="0">
            <a:spAutoFit/>
          </a:bodyPr>
          <a:lstStyle/>
          <a:p>
            <a:pPr algn="l">
              <a:lnSpc>
                <a:spcPts val="3499"/>
              </a:lnSpc>
            </a:pPr>
            <a:r>
              <a:rPr lang="en-US" b="true" sz="2499">
                <a:solidFill>
                  <a:srgbClr val="3E3A4E"/>
                </a:solidFill>
                <a:latin typeface="Open Sauce Bold"/>
                <a:ea typeface="Open Sauce Bold"/>
                <a:cs typeface="Open Sauce Bold"/>
                <a:sym typeface="Open Sauce Bold"/>
              </a:rPr>
              <a:t> </a:t>
            </a:r>
          </a:p>
        </p:txBody>
      </p:sp>
      <p:sp>
        <p:nvSpPr>
          <p:cNvPr name="TextBox 19" id="19"/>
          <p:cNvSpPr txBox="true"/>
          <p:nvPr/>
        </p:nvSpPr>
        <p:spPr>
          <a:xfrm rot="0">
            <a:off x="993229" y="3490274"/>
            <a:ext cx="4164025" cy="431521"/>
          </a:xfrm>
          <a:prstGeom prst="rect">
            <a:avLst/>
          </a:prstGeom>
        </p:spPr>
        <p:txBody>
          <a:bodyPr anchor="t" rtlCol="false" tIns="0" lIns="0" bIns="0" rIns="0">
            <a:spAutoFit/>
          </a:bodyPr>
          <a:lstStyle/>
          <a:p>
            <a:pPr algn="l">
              <a:lnSpc>
                <a:spcPts val="3499"/>
              </a:lnSpc>
            </a:pPr>
            <a:r>
              <a:rPr lang="en-US" b="true" sz="2499">
                <a:solidFill>
                  <a:srgbClr val="3E3A4E"/>
                </a:solidFill>
                <a:latin typeface="Open Sauce Bold"/>
                <a:ea typeface="Open Sauce Bold"/>
                <a:cs typeface="Open Sauce Bold"/>
                <a:sym typeface="Open Sauce Bold"/>
              </a:rPr>
              <a:t>MUTIPLES</a:t>
            </a:r>
            <a:r>
              <a:rPr lang="en-US" b="true" sz="2499">
                <a:solidFill>
                  <a:srgbClr val="000000"/>
                </a:solidFill>
                <a:latin typeface="Open Sauce Bold"/>
                <a:ea typeface="Open Sauce Bold"/>
                <a:cs typeface="Open Sauce Bold"/>
                <a:sym typeface="Open Sauce Bold"/>
              </a:rPr>
              <a:t> </a:t>
            </a:r>
            <a:r>
              <a:rPr lang="en-US" b="true" sz="2499">
                <a:solidFill>
                  <a:srgbClr val="3E3A4E"/>
                </a:solidFill>
                <a:latin typeface="Open Sauce Bold"/>
                <a:ea typeface="Open Sauce Bold"/>
                <a:cs typeface="Open Sauce Bold"/>
                <a:sym typeface="Open Sauce Bold"/>
              </a:rPr>
              <a:t>TO</a:t>
            </a:r>
            <a:r>
              <a:rPr lang="en-US" b="true" sz="2499">
                <a:solidFill>
                  <a:srgbClr val="000000"/>
                </a:solidFill>
                <a:latin typeface="Open Sauce Bold"/>
                <a:ea typeface="Open Sauce Bold"/>
                <a:cs typeface="Open Sauce Bold"/>
                <a:sym typeface="Open Sauce Bold"/>
              </a:rPr>
              <a:t> </a:t>
            </a:r>
            <a:r>
              <a:rPr lang="en-US" b="true" sz="2499">
                <a:solidFill>
                  <a:srgbClr val="3E3A4E"/>
                </a:solidFill>
                <a:latin typeface="Open Sauce Bold"/>
                <a:ea typeface="Open Sauce Bold"/>
                <a:cs typeface="Open Sauce Bold"/>
                <a:sym typeface="Open Sauce Bold"/>
              </a:rPr>
              <a:t>CALCULATE-</a:t>
            </a:r>
          </a:p>
        </p:txBody>
      </p:sp>
      <p:sp>
        <p:nvSpPr>
          <p:cNvPr name="TextBox 20" id="20"/>
          <p:cNvSpPr txBox="true"/>
          <p:nvPr/>
        </p:nvSpPr>
        <p:spPr>
          <a:xfrm rot="0">
            <a:off x="1532877" y="3918899"/>
            <a:ext cx="4656525" cy="1231621"/>
          </a:xfrm>
          <a:prstGeom prst="rect">
            <a:avLst/>
          </a:prstGeom>
        </p:spPr>
        <p:txBody>
          <a:bodyPr anchor="t" rtlCol="false" tIns="0" lIns="0" bIns="0" rIns="0">
            <a:spAutoFit/>
          </a:bodyPr>
          <a:lstStyle/>
          <a:p>
            <a:pPr algn="l">
              <a:lnSpc>
                <a:spcPts val="3224"/>
              </a:lnSpc>
            </a:pPr>
            <a:r>
              <a:rPr lang="en-US" b="true" sz="2499">
                <a:solidFill>
                  <a:srgbClr val="3E3A4E"/>
                </a:solidFill>
                <a:latin typeface="Open Sauce Bold"/>
                <a:ea typeface="Open Sauce Bold"/>
                <a:cs typeface="Open Sauce Bold"/>
                <a:sym typeface="Open Sauce Bold"/>
              </a:rPr>
              <a:t>ENTERPRISE VALUE/REVENUE ENTERPRISE VALUE/EBITDA P/E RATIO</a:t>
            </a:r>
          </a:p>
        </p:txBody>
      </p:sp>
      <p:sp>
        <p:nvSpPr>
          <p:cNvPr name="TextBox 21" id="21"/>
          <p:cNvSpPr txBox="true"/>
          <p:nvPr/>
        </p:nvSpPr>
        <p:spPr>
          <a:xfrm rot="0">
            <a:off x="7484916" y="3222927"/>
            <a:ext cx="3583124" cy="431521"/>
          </a:xfrm>
          <a:prstGeom prst="rect">
            <a:avLst/>
          </a:prstGeom>
        </p:spPr>
        <p:txBody>
          <a:bodyPr anchor="t" rtlCol="false" tIns="0" lIns="0" bIns="0" rIns="0">
            <a:spAutoFit/>
          </a:bodyPr>
          <a:lstStyle/>
          <a:p>
            <a:pPr algn="l">
              <a:lnSpc>
                <a:spcPts val="3499"/>
              </a:lnSpc>
            </a:pPr>
            <a:r>
              <a:rPr lang="en-US" b="true" sz="2499">
                <a:solidFill>
                  <a:srgbClr val="3E3A4E"/>
                </a:solidFill>
                <a:latin typeface="Open Sauce Bold"/>
                <a:ea typeface="Open Sauce Bold"/>
                <a:cs typeface="Open Sauce Bold"/>
                <a:sym typeface="Open Sauce Bold"/>
              </a:rPr>
              <a:t>Financial</a:t>
            </a:r>
            <a:r>
              <a:rPr lang="en-US" b="true" sz="2499">
                <a:solidFill>
                  <a:srgbClr val="000000"/>
                </a:solidFill>
                <a:latin typeface="Open Sauce Bold"/>
                <a:ea typeface="Open Sauce Bold"/>
                <a:cs typeface="Open Sauce Bold"/>
                <a:sym typeface="Open Sauce Bold"/>
              </a:rPr>
              <a:t> </a:t>
            </a:r>
            <a:r>
              <a:rPr lang="en-US" b="true" sz="2499">
                <a:solidFill>
                  <a:srgbClr val="3E3A4E"/>
                </a:solidFill>
                <a:latin typeface="Open Sauce Bold"/>
                <a:ea typeface="Open Sauce Bold"/>
                <a:cs typeface="Open Sauce Bold"/>
                <a:sym typeface="Open Sauce Bold"/>
              </a:rPr>
              <a:t>data</a:t>
            </a:r>
            <a:r>
              <a:rPr lang="en-US" b="true" sz="2499">
                <a:solidFill>
                  <a:srgbClr val="000000"/>
                </a:solidFill>
                <a:latin typeface="Open Sauce Bold"/>
                <a:ea typeface="Open Sauce Bold"/>
                <a:cs typeface="Open Sauce Bold"/>
                <a:sym typeface="Open Sauce Bold"/>
              </a:rPr>
              <a:t> </a:t>
            </a:r>
            <a:r>
              <a:rPr lang="en-US" b="true" sz="2499">
                <a:solidFill>
                  <a:srgbClr val="3E3A4E"/>
                </a:solidFill>
                <a:latin typeface="Open Sauce Bold"/>
                <a:ea typeface="Open Sauce Bold"/>
                <a:cs typeface="Open Sauce Bold"/>
                <a:sym typeface="Open Sauce Bold"/>
              </a:rPr>
              <a:t>required-</a:t>
            </a:r>
          </a:p>
        </p:txBody>
      </p:sp>
      <p:sp>
        <p:nvSpPr>
          <p:cNvPr name="TextBox 22" id="22"/>
          <p:cNvSpPr txBox="true"/>
          <p:nvPr/>
        </p:nvSpPr>
        <p:spPr>
          <a:xfrm rot="0">
            <a:off x="8024565" y="3651552"/>
            <a:ext cx="4574600" cy="2869921"/>
          </a:xfrm>
          <a:prstGeom prst="rect">
            <a:avLst/>
          </a:prstGeom>
        </p:spPr>
        <p:txBody>
          <a:bodyPr anchor="t" rtlCol="false" tIns="0" lIns="0" bIns="0" rIns="0">
            <a:spAutoFit/>
          </a:bodyPr>
          <a:lstStyle/>
          <a:p>
            <a:pPr algn="just">
              <a:lnSpc>
                <a:spcPts val="3224"/>
              </a:lnSpc>
            </a:pPr>
            <a:r>
              <a:rPr lang="en-US" b="true" sz="2499">
                <a:solidFill>
                  <a:srgbClr val="3E3A4E"/>
                </a:solidFill>
                <a:latin typeface="Open Sauce Bold"/>
                <a:ea typeface="Open Sauce Bold"/>
                <a:cs typeface="Open Sauce Bold"/>
                <a:sym typeface="Open Sauce Bold"/>
              </a:rPr>
              <a:t>Total</a:t>
            </a:r>
            <a:r>
              <a:rPr lang="en-US" b="true" sz="2499">
                <a:solidFill>
                  <a:srgbClr val="000000"/>
                </a:solidFill>
                <a:latin typeface="Open Sauce Bold"/>
                <a:ea typeface="Open Sauce Bold"/>
                <a:cs typeface="Open Sauce Bold"/>
                <a:sym typeface="Open Sauce Bold"/>
              </a:rPr>
              <a:t> </a:t>
            </a:r>
            <a:r>
              <a:rPr lang="en-US" b="true" sz="2499">
                <a:solidFill>
                  <a:srgbClr val="3E3A4E"/>
                </a:solidFill>
                <a:latin typeface="Open Sauce Bold"/>
                <a:ea typeface="Open Sauce Bold"/>
                <a:cs typeface="Open Sauce Bold"/>
                <a:sym typeface="Open Sauce Bold"/>
              </a:rPr>
              <a:t>Outstanding</a:t>
            </a:r>
            <a:r>
              <a:rPr lang="en-US" b="true" sz="2499">
                <a:solidFill>
                  <a:srgbClr val="000000"/>
                </a:solidFill>
                <a:latin typeface="Open Sauce Bold"/>
                <a:ea typeface="Open Sauce Bold"/>
                <a:cs typeface="Open Sauce Bold"/>
                <a:sym typeface="Open Sauce Bold"/>
              </a:rPr>
              <a:t> </a:t>
            </a:r>
            <a:r>
              <a:rPr lang="en-US" b="true" sz="2499">
                <a:solidFill>
                  <a:srgbClr val="3E3A4E"/>
                </a:solidFill>
                <a:latin typeface="Open Sauce Bold"/>
                <a:ea typeface="Open Sauce Bold"/>
                <a:cs typeface="Open Sauce Bold"/>
                <a:sym typeface="Open Sauce Bold"/>
              </a:rPr>
              <a:t>Shares Share</a:t>
            </a:r>
            <a:r>
              <a:rPr lang="en-US" b="true" sz="2499">
                <a:solidFill>
                  <a:srgbClr val="000000"/>
                </a:solidFill>
                <a:latin typeface="Open Sauce Bold"/>
                <a:ea typeface="Open Sauce Bold"/>
                <a:cs typeface="Open Sauce Bold"/>
                <a:sym typeface="Open Sauce Bold"/>
              </a:rPr>
              <a:t> </a:t>
            </a:r>
            <a:r>
              <a:rPr lang="en-US" b="true" sz="2499">
                <a:solidFill>
                  <a:srgbClr val="3E3A4E"/>
                </a:solidFill>
                <a:latin typeface="Open Sauce Bold"/>
                <a:ea typeface="Open Sauce Bold"/>
                <a:cs typeface="Open Sauce Bold"/>
                <a:sym typeface="Open Sauce Bold"/>
              </a:rPr>
              <a:t>Price(used</a:t>
            </a:r>
            <a:r>
              <a:rPr lang="en-US" b="true" sz="2499">
                <a:solidFill>
                  <a:srgbClr val="000000"/>
                </a:solidFill>
                <a:latin typeface="Open Sauce Bold"/>
                <a:ea typeface="Open Sauce Bold"/>
                <a:cs typeface="Open Sauce Bold"/>
                <a:sym typeface="Open Sauce Bold"/>
              </a:rPr>
              <a:t> </a:t>
            </a:r>
            <a:r>
              <a:rPr lang="en-US" b="true" sz="2499">
                <a:solidFill>
                  <a:srgbClr val="3E3A4E"/>
                </a:solidFill>
                <a:latin typeface="Open Sauce Bold"/>
                <a:ea typeface="Open Sauce Bold"/>
                <a:cs typeface="Open Sauce Bold"/>
                <a:sym typeface="Open Sauce Bold"/>
              </a:rPr>
              <a:t>as</a:t>
            </a:r>
            <a:r>
              <a:rPr lang="en-US" b="true" sz="2499">
                <a:solidFill>
                  <a:srgbClr val="000000"/>
                </a:solidFill>
                <a:latin typeface="Open Sauce Bold"/>
                <a:ea typeface="Open Sauce Bold"/>
                <a:cs typeface="Open Sauce Bold"/>
                <a:sym typeface="Open Sauce Bold"/>
              </a:rPr>
              <a:t> </a:t>
            </a:r>
            <a:r>
              <a:rPr lang="en-US" b="true" sz="2499">
                <a:solidFill>
                  <a:srgbClr val="3E3A4E"/>
                </a:solidFill>
                <a:latin typeface="Open Sauce Bold"/>
                <a:ea typeface="Open Sauce Bold"/>
                <a:cs typeface="Open Sauce Bold"/>
                <a:sym typeface="Open Sauce Bold"/>
              </a:rPr>
              <a:t>of</a:t>
            </a:r>
            <a:r>
              <a:rPr lang="en-US" b="true" sz="2499">
                <a:solidFill>
                  <a:srgbClr val="000000"/>
                </a:solidFill>
                <a:latin typeface="Open Sauce Bold"/>
                <a:ea typeface="Open Sauce Bold"/>
                <a:cs typeface="Open Sauce Bold"/>
                <a:sym typeface="Open Sauce Bold"/>
              </a:rPr>
              <a:t> </a:t>
            </a:r>
            <a:r>
              <a:rPr lang="en-US" b="true" sz="2499">
                <a:solidFill>
                  <a:srgbClr val="3E3A4E"/>
                </a:solidFill>
                <a:latin typeface="Open Sauce Bold"/>
                <a:ea typeface="Open Sauce Bold"/>
                <a:cs typeface="Open Sauce Bold"/>
                <a:sym typeface="Open Sauce Bold"/>
              </a:rPr>
              <a:t>18</a:t>
            </a:r>
            <a:r>
              <a:rPr lang="en-US" b="true" sz="2499">
                <a:solidFill>
                  <a:srgbClr val="000000"/>
                </a:solidFill>
                <a:latin typeface="Open Sauce Bold"/>
                <a:ea typeface="Open Sauce Bold"/>
                <a:cs typeface="Open Sauce Bold"/>
                <a:sym typeface="Open Sauce Bold"/>
              </a:rPr>
              <a:t> </a:t>
            </a:r>
            <a:r>
              <a:rPr lang="en-US" b="true" sz="2499">
                <a:solidFill>
                  <a:srgbClr val="3E3A4E"/>
                </a:solidFill>
                <a:latin typeface="Open Sauce Bold"/>
                <a:ea typeface="Open Sauce Bold"/>
                <a:cs typeface="Open Sauce Bold"/>
                <a:sym typeface="Open Sauce Bold"/>
              </a:rPr>
              <a:t>may 2025)</a:t>
            </a:r>
          </a:p>
          <a:p>
            <a:pPr algn="just">
              <a:lnSpc>
                <a:spcPts val="3224"/>
              </a:lnSpc>
            </a:pPr>
            <a:r>
              <a:rPr lang="en-US" b="true" sz="2499">
                <a:solidFill>
                  <a:srgbClr val="3E3A4E"/>
                </a:solidFill>
                <a:latin typeface="Open Sauce Bold"/>
                <a:ea typeface="Open Sauce Bold"/>
                <a:cs typeface="Open Sauce Bold"/>
                <a:sym typeface="Open Sauce Bold"/>
              </a:rPr>
              <a:t>Net Debt</a:t>
            </a:r>
          </a:p>
          <a:p>
            <a:pPr algn="just">
              <a:lnSpc>
                <a:spcPts val="3224"/>
              </a:lnSpc>
            </a:pPr>
            <a:r>
              <a:rPr lang="en-US" b="true" sz="2499">
                <a:solidFill>
                  <a:srgbClr val="3E3A4E"/>
                </a:solidFill>
                <a:latin typeface="Open Sauce Bold"/>
                <a:ea typeface="Open Sauce Bold"/>
                <a:cs typeface="Open Sauce Bold"/>
                <a:sym typeface="Open Sauce Bold"/>
              </a:rPr>
              <a:t>Revenue</a:t>
            </a:r>
          </a:p>
          <a:p>
            <a:pPr algn="just">
              <a:lnSpc>
                <a:spcPts val="3224"/>
              </a:lnSpc>
            </a:pPr>
            <a:r>
              <a:rPr lang="en-US" b="true" sz="2499">
                <a:solidFill>
                  <a:srgbClr val="3E3A4E"/>
                </a:solidFill>
                <a:latin typeface="Open Sauce Bold"/>
                <a:ea typeface="Open Sauce Bold"/>
                <a:cs typeface="Open Sauce Bold"/>
                <a:sym typeface="Open Sauce Bold"/>
              </a:rPr>
              <a:t>EBITDA</a:t>
            </a:r>
          </a:p>
          <a:p>
            <a:pPr algn="just">
              <a:lnSpc>
                <a:spcPts val="3224"/>
              </a:lnSpc>
            </a:pPr>
            <a:r>
              <a:rPr lang="en-US" b="true" sz="2499">
                <a:solidFill>
                  <a:srgbClr val="3E3A4E"/>
                </a:solidFill>
                <a:latin typeface="Open Sauce Bold"/>
                <a:ea typeface="Open Sauce Bold"/>
                <a:cs typeface="Open Sauce Bold"/>
                <a:sym typeface="Open Sauce Bold"/>
              </a:rPr>
              <a:t>Net Income</a:t>
            </a:r>
          </a:p>
        </p:txBody>
      </p:sp>
      <p:sp>
        <p:nvSpPr>
          <p:cNvPr name="TextBox 23" id="23"/>
          <p:cNvSpPr txBox="true"/>
          <p:nvPr/>
        </p:nvSpPr>
        <p:spPr>
          <a:xfrm rot="0">
            <a:off x="4472188" y="7125005"/>
            <a:ext cx="3018434" cy="431521"/>
          </a:xfrm>
          <a:prstGeom prst="rect">
            <a:avLst/>
          </a:prstGeom>
        </p:spPr>
        <p:txBody>
          <a:bodyPr anchor="t" rtlCol="false" tIns="0" lIns="0" bIns="0" rIns="0">
            <a:spAutoFit/>
          </a:bodyPr>
          <a:lstStyle/>
          <a:p>
            <a:pPr algn="l">
              <a:lnSpc>
                <a:spcPts val="3499"/>
              </a:lnSpc>
            </a:pPr>
            <a:r>
              <a:rPr lang="en-US" b="true" sz="2499">
                <a:solidFill>
                  <a:srgbClr val="3E3A4E"/>
                </a:solidFill>
                <a:latin typeface="Open Sauce Bold"/>
                <a:ea typeface="Open Sauce Bold"/>
                <a:cs typeface="Open Sauce Bold"/>
                <a:sym typeface="Open Sauce Bold"/>
              </a:rPr>
              <a:t>Formulae Required-</a:t>
            </a:r>
          </a:p>
        </p:txBody>
      </p:sp>
      <p:sp>
        <p:nvSpPr>
          <p:cNvPr name="TextBox 24" id="24"/>
          <p:cNvSpPr txBox="true"/>
          <p:nvPr/>
        </p:nvSpPr>
        <p:spPr>
          <a:xfrm rot="0">
            <a:off x="5011836" y="7553630"/>
            <a:ext cx="8006182" cy="822046"/>
          </a:xfrm>
          <a:prstGeom prst="rect">
            <a:avLst/>
          </a:prstGeom>
        </p:spPr>
        <p:txBody>
          <a:bodyPr anchor="t" rtlCol="false" tIns="0" lIns="0" bIns="0" rIns="0">
            <a:spAutoFit/>
          </a:bodyPr>
          <a:lstStyle/>
          <a:p>
            <a:pPr algn="l">
              <a:lnSpc>
                <a:spcPts val="3224"/>
              </a:lnSpc>
            </a:pPr>
            <a:r>
              <a:rPr lang="en-US" b="true" sz="2499">
                <a:solidFill>
                  <a:srgbClr val="3E3A4E"/>
                </a:solidFill>
                <a:latin typeface="Open Sauce Bold"/>
                <a:ea typeface="Open Sauce Bold"/>
                <a:cs typeface="Open Sauce Bold"/>
                <a:sym typeface="Open Sauce Bold"/>
              </a:rPr>
              <a:t>Equity Value= Total outstanding shares x Share price Enterprise Value (EV)= Equity Value + Net Debt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258300"/>
            <a:ext cx="18288000" cy="1028700"/>
            <a:chOff x="0" y="0"/>
            <a:chExt cx="18288000" cy="1028700"/>
          </a:xfrm>
        </p:grpSpPr>
        <p:sp>
          <p:nvSpPr>
            <p:cNvPr name="Freeform 3" id="3"/>
            <p:cNvSpPr/>
            <p:nvPr/>
          </p:nvSpPr>
          <p:spPr>
            <a:xfrm flipH="false" flipV="false" rot="0">
              <a:off x="0" y="0"/>
              <a:ext cx="18288000" cy="1028700"/>
            </a:xfrm>
            <a:custGeom>
              <a:avLst/>
              <a:gdLst/>
              <a:ahLst/>
              <a:cxnLst/>
              <a:rect r="r" b="b" t="t" l="l"/>
              <a:pathLst>
                <a:path h="1028700" w="18288000">
                  <a:moveTo>
                    <a:pt x="0" y="0"/>
                  </a:moveTo>
                  <a:lnTo>
                    <a:pt x="0" y="1028700"/>
                  </a:lnTo>
                  <a:lnTo>
                    <a:pt x="18288000" y="1028700"/>
                  </a:lnTo>
                  <a:lnTo>
                    <a:pt x="18288000" y="0"/>
                  </a:lnTo>
                  <a:close/>
                </a:path>
              </a:pathLst>
            </a:custGeom>
            <a:solidFill>
              <a:srgbClr val="5EC57E"/>
            </a:solidFill>
          </p:spPr>
        </p:sp>
      </p:grpSp>
      <p:sp>
        <p:nvSpPr>
          <p:cNvPr name="Freeform 4" id="4"/>
          <p:cNvSpPr/>
          <p:nvPr/>
        </p:nvSpPr>
        <p:spPr>
          <a:xfrm flipH="false" flipV="false" rot="0">
            <a:off x="8978456" y="6089313"/>
            <a:ext cx="8508330" cy="2340664"/>
          </a:xfrm>
          <a:custGeom>
            <a:avLst/>
            <a:gdLst/>
            <a:ahLst/>
            <a:cxnLst/>
            <a:rect r="r" b="b" t="t" l="l"/>
            <a:pathLst>
              <a:path h="2340664" w="8508330">
                <a:moveTo>
                  <a:pt x="0" y="0"/>
                </a:moveTo>
                <a:lnTo>
                  <a:pt x="8508330" y="0"/>
                </a:lnTo>
                <a:lnTo>
                  <a:pt x="8508330" y="2340664"/>
                </a:lnTo>
                <a:lnTo>
                  <a:pt x="0" y="23406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293948" y="-46444"/>
            <a:ext cx="4057555" cy="2666762"/>
          </a:xfrm>
          <a:custGeom>
            <a:avLst/>
            <a:gdLst/>
            <a:ahLst/>
            <a:cxnLst/>
            <a:rect r="r" b="b" t="t" l="l"/>
            <a:pathLst>
              <a:path h="2666762" w="4057555">
                <a:moveTo>
                  <a:pt x="0" y="0"/>
                </a:moveTo>
                <a:lnTo>
                  <a:pt x="4057555" y="0"/>
                </a:lnTo>
                <a:lnTo>
                  <a:pt x="4057555" y="2666762"/>
                </a:lnTo>
                <a:lnTo>
                  <a:pt x="0" y="26667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9495492" y="7259650"/>
            <a:ext cx="6915150" cy="676275"/>
            <a:chOff x="0" y="0"/>
            <a:chExt cx="9220200" cy="901700"/>
          </a:xfrm>
        </p:grpSpPr>
        <p:sp>
          <p:nvSpPr>
            <p:cNvPr name="Freeform 7" id="7"/>
            <p:cNvSpPr/>
            <p:nvPr/>
          </p:nvSpPr>
          <p:spPr>
            <a:xfrm flipH="false" flipV="false" rot="0">
              <a:off x="0" y="0"/>
              <a:ext cx="9220200" cy="901700"/>
            </a:xfrm>
            <a:custGeom>
              <a:avLst/>
              <a:gdLst/>
              <a:ahLst/>
              <a:cxnLst/>
              <a:rect r="r" b="b" t="t" l="l"/>
              <a:pathLst>
                <a:path h="901700" w="9220200">
                  <a:moveTo>
                    <a:pt x="0" y="0"/>
                  </a:moveTo>
                  <a:lnTo>
                    <a:pt x="9220200" y="0"/>
                  </a:lnTo>
                  <a:lnTo>
                    <a:pt x="9220200" y="901700"/>
                  </a:lnTo>
                  <a:lnTo>
                    <a:pt x="0" y="901700"/>
                  </a:lnTo>
                  <a:lnTo>
                    <a:pt x="0" y="0"/>
                  </a:lnTo>
                  <a:close/>
                </a:path>
              </a:pathLst>
            </a:custGeom>
            <a:blipFill>
              <a:blip r:embed="rId6"/>
              <a:stretch>
                <a:fillRect l="0" t="0" r="0" b="0"/>
              </a:stretch>
            </a:blipFill>
          </p:spPr>
        </p:sp>
      </p:grpSp>
      <p:grpSp>
        <p:nvGrpSpPr>
          <p:cNvPr name="Group 8" id="8"/>
          <p:cNvGrpSpPr/>
          <p:nvPr/>
        </p:nvGrpSpPr>
        <p:grpSpPr>
          <a:xfrm rot="0">
            <a:off x="850421" y="1347321"/>
            <a:ext cx="4438650" cy="3181350"/>
            <a:chOff x="0" y="0"/>
            <a:chExt cx="5918200" cy="4241800"/>
          </a:xfrm>
        </p:grpSpPr>
        <p:sp>
          <p:nvSpPr>
            <p:cNvPr name="Freeform 9" id="9"/>
            <p:cNvSpPr/>
            <p:nvPr/>
          </p:nvSpPr>
          <p:spPr>
            <a:xfrm flipH="false" flipV="false" rot="0">
              <a:off x="0" y="0"/>
              <a:ext cx="5918200" cy="4241800"/>
            </a:xfrm>
            <a:custGeom>
              <a:avLst/>
              <a:gdLst/>
              <a:ahLst/>
              <a:cxnLst/>
              <a:rect r="r" b="b" t="t" l="l"/>
              <a:pathLst>
                <a:path h="4241800" w="5918200">
                  <a:moveTo>
                    <a:pt x="0" y="0"/>
                  </a:moveTo>
                  <a:lnTo>
                    <a:pt x="5918200" y="0"/>
                  </a:lnTo>
                  <a:lnTo>
                    <a:pt x="5918200" y="4241800"/>
                  </a:lnTo>
                  <a:lnTo>
                    <a:pt x="0" y="4241800"/>
                  </a:lnTo>
                  <a:lnTo>
                    <a:pt x="0" y="0"/>
                  </a:lnTo>
                  <a:close/>
                </a:path>
              </a:pathLst>
            </a:custGeom>
            <a:blipFill>
              <a:blip r:embed="rId7"/>
              <a:stretch>
                <a:fillRect l="0" t="0" r="0" b="0"/>
              </a:stretch>
            </a:blipFill>
          </p:spPr>
        </p:sp>
      </p:grpSp>
      <p:grpSp>
        <p:nvGrpSpPr>
          <p:cNvPr name="Group 10" id="10"/>
          <p:cNvGrpSpPr/>
          <p:nvPr/>
        </p:nvGrpSpPr>
        <p:grpSpPr>
          <a:xfrm rot="0">
            <a:off x="1079021" y="6227740"/>
            <a:ext cx="95250" cy="95250"/>
            <a:chOff x="0" y="0"/>
            <a:chExt cx="95250" cy="95250"/>
          </a:xfrm>
        </p:grpSpPr>
        <p:sp>
          <p:nvSpPr>
            <p:cNvPr name="Freeform 11" id="11"/>
            <p:cNvSpPr/>
            <p:nvPr/>
          </p:nvSpPr>
          <p:spPr>
            <a:xfrm flipH="false" flipV="false" rot="0">
              <a:off x="0" y="0"/>
              <a:ext cx="95377" cy="95377"/>
            </a:xfrm>
            <a:custGeom>
              <a:avLst/>
              <a:gdLst/>
              <a:ahLst/>
              <a:cxnLst/>
              <a:rect r="r" b="b" t="t" l="l"/>
              <a:pathLst>
                <a:path h="95377" w="95377">
                  <a:moveTo>
                    <a:pt x="95250" y="47625"/>
                  </a:moveTo>
                  <a:cubicBezTo>
                    <a:pt x="95250" y="53975"/>
                    <a:pt x="93980" y="60071"/>
                    <a:pt x="91567" y="65913"/>
                  </a:cubicBezTo>
                  <a:cubicBezTo>
                    <a:pt x="89154" y="71755"/>
                    <a:pt x="85725" y="76835"/>
                    <a:pt x="81280" y="81407"/>
                  </a:cubicBezTo>
                  <a:cubicBezTo>
                    <a:pt x="76835" y="85979"/>
                    <a:pt x="71628" y="89281"/>
                    <a:pt x="65786" y="91694"/>
                  </a:cubicBezTo>
                  <a:cubicBezTo>
                    <a:pt x="59944" y="94107"/>
                    <a:pt x="53848" y="95377"/>
                    <a:pt x="47498" y="95377"/>
                  </a:cubicBezTo>
                  <a:cubicBezTo>
                    <a:pt x="41148" y="95377"/>
                    <a:pt x="35052" y="94107"/>
                    <a:pt x="29210" y="91694"/>
                  </a:cubicBezTo>
                  <a:cubicBezTo>
                    <a:pt x="23368" y="89281"/>
                    <a:pt x="18288" y="85852"/>
                    <a:pt x="13716" y="81407"/>
                  </a:cubicBezTo>
                  <a:cubicBezTo>
                    <a:pt x="9144" y="76962"/>
                    <a:pt x="6096" y="71628"/>
                    <a:pt x="3683" y="65913"/>
                  </a:cubicBezTo>
                  <a:cubicBezTo>
                    <a:pt x="1270" y="60198"/>
                    <a:pt x="0" y="53975"/>
                    <a:pt x="0" y="47625"/>
                  </a:cubicBezTo>
                  <a:cubicBezTo>
                    <a:pt x="0" y="41275"/>
                    <a:pt x="1270" y="35179"/>
                    <a:pt x="3683" y="29337"/>
                  </a:cubicBezTo>
                  <a:cubicBezTo>
                    <a:pt x="6096" y="23495"/>
                    <a:pt x="9525" y="18415"/>
                    <a:pt x="13970" y="13970"/>
                  </a:cubicBezTo>
                  <a:cubicBezTo>
                    <a:pt x="18415" y="9525"/>
                    <a:pt x="23622" y="6096"/>
                    <a:pt x="29337" y="3683"/>
                  </a:cubicBezTo>
                  <a:cubicBezTo>
                    <a:pt x="35052" y="1270"/>
                    <a:pt x="41275" y="0"/>
                    <a:pt x="47625" y="0"/>
                  </a:cubicBezTo>
                  <a:cubicBezTo>
                    <a:pt x="53975" y="0"/>
                    <a:pt x="60071" y="1270"/>
                    <a:pt x="65913" y="3683"/>
                  </a:cubicBezTo>
                  <a:cubicBezTo>
                    <a:pt x="71755" y="6096"/>
                    <a:pt x="76835" y="9525"/>
                    <a:pt x="81407" y="13970"/>
                  </a:cubicBezTo>
                  <a:cubicBezTo>
                    <a:pt x="85979" y="18415"/>
                    <a:pt x="89281" y="23622"/>
                    <a:pt x="91694" y="29464"/>
                  </a:cubicBezTo>
                  <a:cubicBezTo>
                    <a:pt x="94107" y="35306"/>
                    <a:pt x="95377" y="41402"/>
                    <a:pt x="95377" y="47752"/>
                  </a:cubicBezTo>
                  <a:close/>
                </a:path>
              </a:pathLst>
            </a:custGeom>
            <a:solidFill>
              <a:srgbClr val="3E3A4E"/>
            </a:solidFill>
          </p:spPr>
        </p:sp>
      </p:grpSp>
      <p:grpSp>
        <p:nvGrpSpPr>
          <p:cNvPr name="Group 12" id="12"/>
          <p:cNvGrpSpPr/>
          <p:nvPr/>
        </p:nvGrpSpPr>
        <p:grpSpPr>
          <a:xfrm rot="0">
            <a:off x="1079021" y="6951640"/>
            <a:ext cx="95250" cy="95250"/>
            <a:chOff x="0" y="0"/>
            <a:chExt cx="95250" cy="95250"/>
          </a:xfrm>
        </p:grpSpPr>
        <p:sp>
          <p:nvSpPr>
            <p:cNvPr name="Freeform 13" id="13"/>
            <p:cNvSpPr/>
            <p:nvPr/>
          </p:nvSpPr>
          <p:spPr>
            <a:xfrm flipH="false" flipV="false" rot="0">
              <a:off x="0" y="0"/>
              <a:ext cx="95377" cy="95377"/>
            </a:xfrm>
            <a:custGeom>
              <a:avLst/>
              <a:gdLst/>
              <a:ahLst/>
              <a:cxnLst/>
              <a:rect r="r" b="b" t="t" l="l"/>
              <a:pathLst>
                <a:path h="95377" w="95377">
                  <a:moveTo>
                    <a:pt x="95250" y="47625"/>
                  </a:moveTo>
                  <a:cubicBezTo>
                    <a:pt x="95250" y="53975"/>
                    <a:pt x="93980" y="60071"/>
                    <a:pt x="91567" y="65913"/>
                  </a:cubicBezTo>
                  <a:cubicBezTo>
                    <a:pt x="89154" y="71755"/>
                    <a:pt x="85725" y="76835"/>
                    <a:pt x="81280" y="81407"/>
                  </a:cubicBezTo>
                  <a:cubicBezTo>
                    <a:pt x="76835" y="85979"/>
                    <a:pt x="71628" y="89281"/>
                    <a:pt x="65786" y="91694"/>
                  </a:cubicBezTo>
                  <a:cubicBezTo>
                    <a:pt x="59944" y="94107"/>
                    <a:pt x="53848" y="95377"/>
                    <a:pt x="47498" y="95377"/>
                  </a:cubicBezTo>
                  <a:cubicBezTo>
                    <a:pt x="41148" y="95377"/>
                    <a:pt x="35052" y="94107"/>
                    <a:pt x="29210" y="91694"/>
                  </a:cubicBezTo>
                  <a:cubicBezTo>
                    <a:pt x="23368" y="89281"/>
                    <a:pt x="18288" y="85852"/>
                    <a:pt x="13716" y="81407"/>
                  </a:cubicBezTo>
                  <a:cubicBezTo>
                    <a:pt x="9144" y="76962"/>
                    <a:pt x="6096" y="71628"/>
                    <a:pt x="3683" y="65913"/>
                  </a:cubicBezTo>
                  <a:cubicBezTo>
                    <a:pt x="1270" y="60198"/>
                    <a:pt x="0" y="53975"/>
                    <a:pt x="0" y="47625"/>
                  </a:cubicBezTo>
                  <a:cubicBezTo>
                    <a:pt x="0" y="41275"/>
                    <a:pt x="1270" y="35179"/>
                    <a:pt x="3683" y="29337"/>
                  </a:cubicBezTo>
                  <a:cubicBezTo>
                    <a:pt x="6096" y="23495"/>
                    <a:pt x="9525" y="18415"/>
                    <a:pt x="13970" y="13970"/>
                  </a:cubicBezTo>
                  <a:cubicBezTo>
                    <a:pt x="18415" y="9525"/>
                    <a:pt x="23622" y="6096"/>
                    <a:pt x="29337" y="3683"/>
                  </a:cubicBezTo>
                  <a:cubicBezTo>
                    <a:pt x="35052" y="1270"/>
                    <a:pt x="41275" y="0"/>
                    <a:pt x="47625" y="0"/>
                  </a:cubicBezTo>
                  <a:cubicBezTo>
                    <a:pt x="53975" y="0"/>
                    <a:pt x="60071" y="1270"/>
                    <a:pt x="65913" y="3683"/>
                  </a:cubicBezTo>
                  <a:cubicBezTo>
                    <a:pt x="71755" y="6096"/>
                    <a:pt x="76835" y="9525"/>
                    <a:pt x="81407" y="13970"/>
                  </a:cubicBezTo>
                  <a:cubicBezTo>
                    <a:pt x="85979" y="18415"/>
                    <a:pt x="89281" y="23622"/>
                    <a:pt x="91694" y="29464"/>
                  </a:cubicBezTo>
                  <a:cubicBezTo>
                    <a:pt x="94107" y="35306"/>
                    <a:pt x="95377" y="41402"/>
                    <a:pt x="95377" y="47752"/>
                  </a:cubicBezTo>
                  <a:close/>
                </a:path>
              </a:pathLst>
            </a:custGeom>
            <a:solidFill>
              <a:srgbClr val="3E3A4E"/>
            </a:solidFill>
          </p:spPr>
        </p:sp>
      </p:grpSp>
      <p:grpSp>
        <p:nvGrpSpPr>
          <p:cNvPr name="Group 14" id="14"/>
          <p:cNvGrpSpPr/>
          <p:nvPr/>
        </p:nvGrpSpPr>
        <p:grpSpPr>
          <a:xfrm rot="0">
            <a:off x="1079021" y="7675540"/>
            <a:ext cx="95250" cy="95250"/>
            <a:chOff x="0" y="0"/>
            <a:chExt cx="95250" cy="95250"/>
          </a:xfrm>
        </p:grpSpPr>
        <p:sp>
          <p:nvSpPr>
            <p:cNvPr name="Freeform 15" id="15"/>
            <p:cNvSpPr/>
            <p:nvPr/>
          </p:nvSpPr>
          <p:spPr>
            <a:xfrm flipH="false" flipV="false" rot="0">
              <a:off x="0" y="0"/>
              <a:ext cx="95377" cy="95377"/>
            </a:xfrm>
            <a:custGeom>
              <a:avLst/>
              <a:gdLst/>
              <a:ahLst/>
              <a:cxnLst/>
              <a:rect r="r" b="b" t="t" l="l"/>
              <a:pathLst>
                <a:path h="95377" w="95377">
                  <a:moveTo>
                    <a:pt x="95250" y="47625"/>
                  </a:moveTo>
                  <a:cubicBezTo>
                    <a:pt x="95250" y="53975"/>
                    <a:pt x="93980" y="60071"/>
                    <a:pt x="91567" y="65913"/>
                  </a:cubicBezTo>
                  <a:cubicBezTo>
                    <a:pt x="89154" y="71755"/>
                    <a:pt x="85725" y="76835"/>
                    <a:pt x="81280" y="81407"/>
                  </a:cubicBezTo>
                  <a:cubicBezTo>
                    <a:pt x="76835" y="85979"/>
                    <a:pt x="71628" y="89281"/>
                    <a:pt x="65786" y="91694"/>
                  </a:cubicBezTo>
                  <a:cubicBezTo>
                    <a:pt x="59944" y="94107"/>
                    <a:pt x="53848" y="95377"/>
                    <a:pt x="47498" y="95377"/>
                  </a:cubicBezTo>
                  <a:cubicBezTo>
                    <a:pt x="41148" y="95377"/>
                    <a:pt x="35052" y="94107"/>
                    <a:pt x="29210" y="91694"/>
                  </a:cubicBezTo>
                  <a:cubicBezTo>
                    <a:pt x="23368" y="89281"/>
                    <a:pt x="18288" y="85852"/>
                    <a:pt x="13716" y="81407"/>
                  </a:cubicBezTo>
                  <a:cubicBezTo>
                    <a:pt x="9144" y="76962"/>
                    <a:pt x="6096" y="71628"/>
                    <a:pt x="3683" y="65913"/>
                  </a:cubicBezTo>
                  <a:cubicBezTo>
                    <a:pt x="1270" y="60198"/>
                    <a:pt x="0" y="53975"/>
                    <a:pt x="0" y="47625"/>
                  </a:cubicBezTo>
                  <a:cubicBezTo>
                    <a:pt x="0" y="41275"/>
                    <a:pt x="1270" y="35179"/>
                    <a:pt x="3683" y="29337"/>
                  </a:cubicBezTo>
                  <a:cubicBezTo>
                    <a:pt x="6096" y="23495"/>
                    <a:pt x="9525" y="18415"/>
                    <a:pt x="13970" y="13970"/>
                  </a:cubicBezTo>
                  <a:cubicBezTo>
                    <a:pt x="18415" y="9525"/>
                    <a:pt x="23622" y="6096"/>
                    <a:pt x="29337" y="3683"/>
                  </a:cubicBezTo>
                  <a:cubicBezTo>
                    <a:pt x="35052" y="1270"/>
                    <a:pt x="41275" y="0"/>
                    <a:pt x="47625" y="0"/>
                  </a:cubicBezTo>
                  <a:cubicBezTo>
                    <a:pt x="53975" y="0"/>
                    <a:pt x="60071" y="1270"/>
                    <a:pt x="65913" y="3683"/>
                  </a:cubicBezTo>
                  <a:cubicBezTo>
                    <a:pt x="71755" y="6096"/>
                    <a:pt x="76835" y="9525"/>
                    <a:pt x="81407" y="13970"/>
                  </a:cubicBezTo>
                  <a:cubicBezTo>
                    <a:pt x="85979" y="18415"/>
                    <a:pt x="89281" y="23622"/>
                    <a:pt x="91694" y="29464"/>
                  </a:cubicBezTo>
                  <a:cubicBezTo>
                    <a:pt x="94107" y="35306"/>
                    <a:pt x="95377" y="41402"/>
                    <a:pt x="95377" y="47752"/>
                  </a:cubicBezTo>
                  <a:close/>
                </a:path>
              </a:pathLst>
            </a:custGeom>
            <a:solidFill>
              <a:srgbClr val="3E3A4E"/>
            </a:solidFill>
          </p:spPr>
        </p:sp>
      </p:grpSp>
      <p:grpSp>
        <p:nvGrpSpPr>
          <p:cNvPr name="Group 16" id="16"/>
          <p:cNvGrpSpPr/>
          <p:nvPr/>
        </p:nvGrpSpPr>
        <p:grpSpPr>
          <a:xfrm rot="0">
            <a:off x="1079021" y="8399440"/>
            <a:ext cx="95250" cy="95250"/>
            <a:chOff x="0" y="0"/>
            <a:chExt cx="95250" cy="95250"/>
          </a:xfrm>
        </p:grpSpPr>
        <p:sp>
          <p:nvSpPr>
            <p:cNvPr name="Freeform 17" id="17"/>
            <p:cNvSpPr/>
            <p:nvPr/>
          </p:nvSpPr>
          <p:spPr>
            <a:xfrm flipH="false" flipV="false" rot="0">
              <a:off x="0" y="0"/>
              <a:ext cx="95377" cy="95377"/>
            </a:xfrm>
            <a:custGeom>
              <a:avLst/>
              <a:gdLst/>
              <a:ahLst/>
              <a:cxnLst/>
              <a:rect r="r" b="b" t="t" l="l"/>
              <a:pathLst>
                <a:path h="95377" w="95377">
                  <a:moveTo>
                    <a:pt x="95250" y="47625"/>
                  </a:moveTo>
                  <a:cubicBezTo>
                    <a:pt x="95250" y="53975"/>
                    <a:pt x="93980" y="60071"/>
                    <a:pt x="91567" y="65913"/>
                  </a:cubicBezTo>
                  <a:cubicBezTo>
                    <a:pt x="89154" y="71755"/>
                    <a:pt x="85725" y="76835"/>
                    <a:pt x="81280" y="81407"/>
                  </a:cubicBezTo>
                  <a:cubicBezTo>
                    <a:pt x="76835" y="85979"/>
                    <a:pt x="71628" y="89281"/>
                    <a:pt x="65786" y="91694"/>
                  </a:cubicBezTo>
                  <a:cubicBezTo>
                    <a:pt x="59944" y="94107"/>
                    <a:pt x="53848" y="95377"/>
                    <a:pt x="47498" y="95377"/>
                  </a:cubicBezTo>
                  <a:cubicBezTo>
                    <a:pt x="41148" y="95377"/>
                    <a:pt x="35052" y="94107"/>
                    <a:pt x="29210" y="91694"/>
                  </a:cubicBezTo>
                  <a:cubicBezTo>
                    <a:pt x="23368" y="89281"/>
                    <a:pt x="18288" y="85852"/>
                    <a:pt x="13716" y="81407"/>
                  </a:cubicBezTo>
                  <a:cubicBezTo>
                    <a:pt x="9144" y="76962"/>
                    <a:pt x="6096" y="71628"/>
                    <a:pt x="3683" y="65913"/>
                  </a:cubicBezTo>
                  <a:cubicBezTo>
                    <a:pt x="1270" y="60198"/>
                    <a:pt x="0" y="53975"/>
                    <a:pt x="0" y="47625"/>
                  </a:cubicBezTo>
                  <a:cubicBezTo>
                    <a:pt x="0" y="41275"/>
                    <a:pt x="1270" y="35179"/>
                    <a:pt x="3683" y="29337"/>
                  </a:cubicBezTo>
                  <a:cubicBezTo>
                    <a:pt x="6096" y="23495"/>
                    <a:pt x="9525" y="18415"/>
                    <a:pt x="13970" y="13970"/>
                  </a:cubicBezTo>
                  <a:cubicBezTo>
                    <a:pt x="18415" y="9525"/>
                    <a:pt x="23622" y="6096"/>
                    <a:pt x="29337" y="3683"/>
                  </a:cubicBezTo>
                  <a:cubicBezTo>
                    <a:pt x="35052" y="1270"/>
                    <a:pt x="41275" y="0"/>
                    <a:pt x="47625" y="0"/>
                  </a:cubicBezTo>
                  <a:cubicBezTo>
                    <a:pt x="53975" y="0"/>
                    <a:pt x="60071" y="1270"/>
                    <a:pt x="65913" y="3683"/>
                  </a:cubicBezTo>
                  <a:cubicBezTo>
                    <a:pt x="71755" y="6096"/>
                    <a:pt x="76835" y="9525"/>
                    <a:pt x="81407" y="13970"/>
                  </a:cubicBezTo>
                  <a:cubicBezTo>
                    <a:pt x="85979" y="18415"/>
                    <a:pt x="89281" y="23622"/>
                    <a:pt x="91694" y="29464"/>
                  </a:cubicBezTo>
                  <a:cubicBezTo>
                    <a:pt x="94107" y="35306"/>
                    <a:pt x="95377" y="41402"/>
                    <a:pt x="95377" y="47752"/>
                  </a:cubicBezTo>
                  <a:close/>
                </a:path>
              </a:pathLst>
            </a:custGeom>
            <a:solidFill>
              <a:srgbClr val="3E3A4E"/>
            </a:solidFill>
          </p:spPr>
        </p:sp>
      </p:grpSp>
      <p:grpSp>
        <p:nvGrpSpPr>
          <p:cNvPr name="Group 18" id="18"/>
          <p:cNvGrpSpPr/>
          <p:nvPr/>
        </p:nvGrpSpPr>
        <p:grpSpPr>
          <a:xfrm rot="0">
            <a:off x="14347869" y="0"/>
            <a:ext cx="3940131" cy="2582885"/>
            <a:chOff x="0" y="0"/>
            <a:chExt cx="3940137" cy="2582888"/>
          </a:xfrm>
        </p:grpSpPr>
        <p:sp>
          <p:nvSpPr>
            <p:cNvPr name="Freeform 19" id="19"/>
            <p:cNvSpPr/>
            <p:nvPr/>
          </p:nvSpPr>
          <p:spPr>
            <a:xfrm flipH="false" flipV="false" rot="0">
              <a:off x="0" y="0"/>
              <a:ext cx="3940177" cy="2582929"/>
            </a:xfrm>
            <a:custGeom>
              <a:avLst/>
              <a:gdLst/>
              <a:ahLst/>
              <a:cxnLst/>
              <a:rect r="r" b="b" t="t" l="l"/>
              <a:pathLst>
                <a:path h="2582929" w="3940177">
                  <a:moveTo>
                    <a:pt x="0" y="0"/>
                  </a:moveTo>
                  <a:lnTo>
                    <a:pt x="0" y="2582929"/>
                  </a:lnTo>
                  <a:lnTo>
                    <a:pt x="3940177" y="2582929"/>
                  </a:lnTo>
                  <a:lnTo>
                    <a:pt x="3940177" y="0"/>
                  </a:lnTo>
                  <a:close/>
                </a:path>
              </a:pathLst>
            </a:custGeom>
            <a:solidFill>
              <a:srgbClr val="000000">
                <a:alpha val="0"/>
              </a:srgbClr>
            </a:solidFill>
          </p:spPr>
        </p:sp>
      </p:grpSp>
      <p:sp>
        <p:nvSpPr>
          <p:cNvPr name="TextBox 20" id="20"/>
          <p:cNvSpPr txBox="true"/>
          <p:nvPr/>
        </p:nvSpPr>
        <p:spPr>
          <a:xfrm rot="0">
            <a:off x="5970232" y="1899161"/>
            <a:ext cx="7078828" cy="2050771"/>
          </a:xfrm>
          <a:prstGeom prst="rect">
            <a:avLst/>
          </a:prstGeom>
        </p:spPr>
        <p:txBody>
          <a:bodyPr anchor="t" rtlCol="false" tIns="0" lIns="0" bIns="0" rIns="0">
            <a:spAutoFit/>
          </a:bodyPr>
          <a:lstStyle/>
          <a:p>
            <a:pPr algn="l">
              <a:lnSpc>
                <a:spcPts val="3224"/>
              </a:lnSpc>
            </a:pPr>
            <a:r>
              <a:rPr lang="en-US" sz="2499">
                <a:solidFill>
                  <a:srgbClr val="3E3A4E"/>
                </a:solidFill>
                <a:latin typeface="Open Sauce"/>
                <a:ea typeface="Open Sauce"/>
                <a:cs typeface="Open Sauce"/>
                <a:sym typeface="Open Sauce"/>
              </a:rPr>
              <a:t>After calculating these benchmarks, check if</a:t>
            </a:r>
          </a:p>
          <a:p>
            <a:pPr algn="l">
              <a:lnSpc>
                <a:spcPts val="3224"/>
              </a:lnSpc>
            </a:pPr>
            <a:r>
              <a:rPr lang="en-US" sz="2499">
                <a:solidFill>
                  <a:srgbClr val="3E3A4E"/>
                </a:solidFill>
                <a:latin typeface="Open Sauce"/>
                <a:ea typeface="Open Sauce"/>
                <a:cs typeface="Open Sauce"/>
                <a:sym typeface="Open Sauce"/>
              </a:rPr>
              <a:t>the data contains any outliers which affect the average, </a:t>
            </a:r>
          </a:p>
          <a:p>
            <a:pPr algn="l">
              <a:lnSpc>
                <a:spcPts val="3224"/>
              </a:lnSpc>
            </a:pPr>
            <a:r>
              <a:rPr lang="en-US" sz="2499">
                <a:solidFill>
                  <a:srgbClr val="3E3A4E"/>
                </a:solidFill>
                <a:latin typeface="Open Sauce"/>
                <a:ea typeface="Open Sauce"/>
                <a:cs typeface="Open Sauce"/>
                <a:sym typeface="Open Sauce"/>
              </a:rPr>
              <a:t>if not then take average value</a:t>
            </a:r>
          </a:p>
          <a:p>
            <a:pPr algn="l">
              <a:lnSpc>
                <a:spcPts val="3224"/>
              </a:lnSpc>
            </a:pPr>
            <a:r>
              <a:rPr lang="en-US" sz="2499">
                <a:solidFill>
                  <a:srgbClr val="3E3A4E"/>
                </a:solidFill>
                <a:latin typeface="Open Sauce"/>
                <a:ea typeface="Open Sauce"/>
                <a:cs typeface="Open Sauce"/>
                <a:sym typeface="Open Sauce"/>
              </a:rPr>
              <a:t>otherwise feel free to take median value of ratio</a:t>
            </a:r>
          </a:p>
        </p:txBody>
      </p:sp>
      <p:sp>
        <p:nvSpPr>
          <p:cNvPr name="TextBox 21" id="21"/>
          <p:cNvSpPr txBox="true"/>
          <p:nvPr/>
        </p:nvSpPr>
        <p:spPr>
          <a:xfrm rot="0">
            <a:off x="9213161" y="6357271"/>
            <a:ext cx="8199482" cy="431521"/>
          </a:xfrm>
          <a:prstGeom prst="rect">
            <a:avLst/>
          </a:prstGeom>
        </p:spPr>
        <p:txBody>
          <a:bodyPr anchor="t" rtlCol="false" tIns="0" lIns="0" bIns="0" rIns="0">
            <a:spAutoFit/>
          </a:bodyPr>
          <a:lstStyle/>
          <a:p>
            <a:pPr algn="l">
              <a:lnSpc>
                <a:spcPts val="3499"/>
              </a:lnSpc>
            </a:pPr>
            <a:r>
              <a:rPr lang="en-US" b="true" sz="2499">
                <a:solidFill>
                  <a:srgbClr val="000000"/>
                </a:solidFill>
                <a:latin typeface="Open Sauce Bold"/>
                <a:ea typeface="Open Sauce Bold"/>
                <a:cs typeface="Open Sauce Bold"/>
                <a:sym typeface="Open Sauce Bold"/>
              </a:rPr>
              <a:t>Implied Share Price of Tata Motors after CCA (in Rs.) -&gt;</a:t>
            </a:r>
          </a:p>
        </p:txBody>
      </p:sp>
      <p:sp>
        <p:nvSpPr>
          <p:cNvPr name="TextBox 22" id="22"/>
          <p:cNvSpPr txBox="true"/>
          <p:nvPr/>
        </p:nvSpPr>
        <p:spPr>
          <a:xfrm rot="0">
            <a:off x="1028700" y="-143627"/>
            <a:ext cx="10193255" cy="1429817"/>
          </a:xfrm>
          <a:prstGeom prst="rect">
            <a:avLst/>
          </a:prstGeom>
        </p:spPr>
        <p:txBody>
          <a:bodyPr anchor="t" rtlCol="false" tIns="0" lIns="0" bIns="0" rIns="0">
            <a:spAutoFit/>
          </a:bodyPr>
          <a:lstStyle/>
          <a:p>
            <a:pPr algn="l">
              <a:lnSpc>
                <a:spcPts val="11199"/>
              </a:lnSpc>
            </a:pPr>
            <a:r>
              <a:rPr lang="en-US" sz="7999">
                <a:solidFill>
                  <a:srgbClr val="3E3A4E"/>
                </a:solidFill>
                <a:latin typeface="Anton"/>
                <a:ea typeface="Anton"/>
                <a:cs typeface="Anton"/>
                <a:sym typeface="Anton"/>
              </a:rPr>
              <a:t>BENCHMARK THE MULTIPLES</a:t>
            </a:r>
          </a:p>
        </p:txBody>
      </p:sp>
      <p:sp>
        <p:nvSpPr>
          <p:cNvPr name="TextBox 23" id="23"/>
          <p:cNvSpPr txBox="true"/>
          <p:nvPr/>
        </p:nvSpPr>
        <p:spPr>
          <a:xfrm rot="0">
            <a:off x="850421" y="4410866"/>
            <a:ext cx="11385937" cy="1429817"/>
          </a:xfrm>
          <a:prstGeom prst="rect">
            <a:avLst/>
          </a:prstGeom>
        </p:spPr>
        <p:txBody>
          <a:bodyPr anchor="t" rtlCol="false" tIns="0" lIns="0" bIns="0" rIns="0">
            <a:spAutoFit/>
          </a:bodyPr>
          <a:lstStyle/>
          <a:p>
            <a:pPr algn="l">
              <a:lnSpc>
                <a:spcPts val="11199"/>
              </a:lnSpc>
            </a:pPr>
            <a:r>
              <a:rPr lang="en-US" sz="7999">
                <a:solidFill>
                  <a:srgbClr val="3E3A4E"/>
                </a:solidFill>
                <a:latin typeface="Anton"/>
                <a:ea typeface="Anton"/>
                <a:cs typeface="Anton"/>
                <a:sym typeface="Anton"/>
              </a:rPr>
              <a:t>DETERMINE A VALUATION RANGE</a:t>
            </a:r>
          </a:p>
        </p:txBody>
      </p:sp>
      <p:sp>
        <p:nvSpPr>
          <p:cNvPr name="TextBox 24" id="24"/>
          <p:cNvSpPr txBox="true"/>
          <p:nvPr/>
        </p:nvSpPr>
        <p:spPr>
          <a:xfrm rot="0">
            <a:off x="5099037" y="6047499"/>
            <a:ext cx="79791" cy="375923"/>
          </a:xfrm>
          <a:prstGeom prst="rect">
            <a:avLst/>
          </a:prstGeom>
        </p:spPr>
        <p:txBody>
          <a:bodyPr anchor="t" rtlCol="false" tIns="0" lIns="0" bIns="0" rIns="0">
            <a:spAutoFit/>
          </a:bodyPr>
          <a:lstStyle/>
          <a:p>
            <a:pPr algn="l">
              <a:lnSpc>
                <a:spcPts val="3079"/>
              </a:lnSpc>
            </a:pPr>
            <a:r>
              <a:rPr lang="en-US" sz="2199">
                <a:solidFill>
                  <a:srgbClr val="3E3A4E"/>
                </a:solidFill>
                <a:latin typeface="Open Sauce"/>
                <a:ea typeface="Open Sauce"/>
                <a:cs typeface="Open Sauce"/>
                <a:sym typeface="Open Sauce"/>
              </a:rPr>
              <a:t> </a:t>
            </a:r>
          </a:p>
        </p:txBody>
      </p:sp>
      <p:sp>
        <p:nvSpPr>
          <p:cNvPr name="TextBox 25" id="25"/>
          <p:cNvSpPr txBox="true"/>
          <p:nvPr/>
        </p:nvSpPr>
        <p:spPr>
          <a:xfrm rot="0">
            <a:off x="1325337" y="6066549"/>
            <a:ext cx="6554057" cy="2528573"/>
          </a:xfrm>
          <a:prstGeom prst="rect">
            <a:avLst/>
          </a:prstGeom>
        </p:spPr>
        <p:txBody>
          <a:bodyPr anchor="t" rtlCol="false" tIns="0" lIns="0" bIns="0" rIns="0">
            <a:spAutoFit/>
          </a:bodyPr>
          <a:lstStyle/>
          <a:p>
            <a:pPr algn="l">
              <a:lnSpc>
                <a:spcPts val="2850"/>
              </a:lnSpc>
            </a:pPr>
            <a:r>
              <a:rPr lang="en-US" sz="2199">
                <a:solidFill>
                  <a:srgbClr val="3E3A4E"/>
                </a:solidFill>
                <a:latin typeface="Open Sauce"/>
                <a:ea typeface="Open Sauce"/>
                <a:cs typeface="Open Sauce"/>
                <a:sym typeface="Open Sauce"/>
              </a:rPr>
              <a:t>Calculate the implied value ofEnterprisevaluein case of an EV ratio</a:t>
            </a:r>
          </a:p>
          <a:p>
            <a:pPr algn="l">
              <a:lnSpc>
                <a:spcPts val="2850"/>
              </a:lnSpc>
            </a:pPr>
            <a:r>
              <a:rPr lang="en-US" sz="2199">
                <a:solidFill>
                  <a:srgbClr val="3E3A4E"/>
                </a:solidFill>
                <a:latin typeface="Open Sauce"/>
                <a:ea typeface="Open Sauce"/>
                <a:cs typeface="Open Sauce"/>
                <a:sym typeface="Open Sauce"/>
              </a:rPr>
              <a:t>Calculate the implied value ofEquityValuefirstin case of an Equityratio</a:t>
            </a:r>
          </a:p>
          <a:p>
            <a:pPr algn="l">
              <a:lnSpc>
                <a:spcPts val="2850"/>
              </a:lnSpc>
            </a:pPr>
            <a:r>
              <a:rPr lang="en-US" sz="2199">
                <a:solidFill>
                  <a:srgbClr val="3E3A4E"/>
                </a:solidFill>
                <a:latin typeface="Open Sauce"/>
                <a:ea typeface="Open Sauce"/>
                <a:cs typeface="Open Sauce"/>
                <a:sym typeface="Open Sauce"/>
              </a:rPr>
              <a:t>Calculate the implied share priceusing theimplied Equity and Enterprise value</a:t>
            </a:r>
          </a:p>
          <a:p>
            <a:pPr algn="l">
              <a:lnSpc>
                <a:spcPts val="2850"/>
              </a:lnSpc>
            </a:pPr>
            <a:r>
              <a:rPr lang="en-US" sz="2199">
                <a:solidFill>
                  <a:srgbClr val="3E3A4E"/>
                </a:solidFill>
                <a:latin typeface="Open Sauce"/>
                <a:ea typeface="Open Sauce"/>
                <a:cs typeface="Open Sauce"/>
                <a:sym typeface="Open Sauce"/>
              </a:rPr>
              <a:t>You will get 3 values corresponding to 3 ratios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3503" y="2911040"/>
            <a:ext cx="18414997" cy="7439463"/>
          </a:xfrm>
          <a:custGeom>
            <a:avLst/>
            <a:gdLst/>
            <a:ahLst/>
            <a:cxnLst/>
            <a:rect r="r" b="b" t="t" l="l"/>
            <a:pathLst>
              <a:path h="7439463" w="18414997">
                <a:moveTo>
                  <a:pt x="0" y="0"/>
                </a:moveTo>
                <a:lnTo>
                  <a:pt x="18414997" y="0"/>
                </a:lnTo>
                <a:lnTo>
                  <a:pt x="18414997" y="7439463"/>
                </a:lnTo>
                <a:lnTo>
                  <a:pt x="0" y="74394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950275" y="530000"/>
            <a:ext cx="12647781" cy="1799234"/>
          </a:xfrm>
          <a:prstGeom prst="rect">
            <a:avLst/>
          </a:prstGeom>
        </p:spPr>
        <p:txBody>
          <a:bodyPr anchor="t" rtlCol="false" tIns="0" lIns="0" bIns="0" rIns="0">
            <a:spAutoFit/>
          </a:bodyPr>
          <a:lstStyle/>
          <a:p>
            <a:pPr algn="l">
              <a:lnSpc>
                <a:spcPts val="13999"/>
              </a:lnSpc>
            </a:pPr>
            <a:r>
              <a:rPr lang="en-US" sz="9999">
                <a:solidFill>
                  <a:srgbClr val="3E3A4E"/>
                </a:solidFill>
                <a:latin typeface="Anton"/>
                <a:ea typeface="Anton"/>
                <a:cs typeface="Anton"/>
                <a:sym typeface="Anton"/>
              </a:rPr>
              <a:t>FINAL VALUATION SUMMARY</a:t>
            </a:r>
          </a:p>
        </p:txBody>
      </p:sp>
      <p:sp>
        <p:nvSpPr>
          <p:cNvPr name="TextBox 4" id="4"/>
          <p:cNvSpPr txBox="true"/>
          <p:nvPr/>
        </p:nvSpPr>
        <p:spPr>
          <a:xfrm rot="0">
            <a:off x="7984369" y="2784358"/>
            <a:ext cx="83401" cy="400774"/>
          </a:xfrm>
          <a:prstGeom prst="rect">
            <a:avLst/>
          </a:prstGeom>
        </p:spPr>
        <p:txBody>
          <a:bodyPr anchor="t" rtlCol="false" tIns="0" lIns="0" bIns="0" rIns="0">
            <a:spAutoFit/>
          </a:bodyPr>
          <a:lstStyle/>
          <a:p>
            <a:pPr algn="l">
              <a:lnSpc>
                <a:spcPts val="3219"/>
              </a:lnSpc>
            </a:pPr>
            <a:r>
              <a:rPr lang="en-US" sz="2299">
                <a:solidFill>
                  <a:srgbClr val="3E3A4E"/>
                </a:solidFill>
                <a:latin typeface="Open Sauce"/>
                <a:ea typeface="Open Sauce"/>
                <a:cs typeface="Open Sauce"/>
                <a:sym typeface="Open Sauce"/>
              </a:rPr>
              <a:t> </a:t>
            </a:r>
          </a:p>
        </p:txBody>
      </p:sp>
      <p:sp>
        <p:nvSpPr>
          <p:cNvPr name="TextBox 5" id="5"/>
          <p:cNvSpPr txBox="true"/>
          <p:nvPr/>
        </p:nvSpPr>
        <p:spPr>
          <a:xfrm rot="0">
            <a:off x="5690159" y="4814211"/>
            <a:ext cx="1795529" cy="435788"/>
          </a:xfrm>
          <a:prstGeom prst="rect">
            <a:avLst/>
          </a:prstGeom>
        </p:spPr>
        <p:txBody>
          <a:bodyPr anchor="t" rtlCol="false" tIns="0" lIns="0" bIns="0" rIns="0">
            <a:spAutoFit/>
          </a:bodyPr>
          <a:lstStyle/>
          <a:p>
            <a:pPr algn="l">
              <a:lnSpc>
                <a:spcPts val="3538"/>
              </a:lnSpc>
            </a:pPr>
            <a:r>
              <a:rPr lang="en-US" b="true" sz="2527">
                <a:solidFill>
                  <a:srgbClr val="3E3A4E"/>
                </a:solidFill>
                <a:latin typeface="Open Sauce Bold"/>
                <a:ea typeface="Open Sauce Bold"/>
                <a:cs typeface="Open Sauce Bold"/>
                <a:sym typeface="Open Sauce Bold"/>
              </a:rPr>
              <a:t>Re</a:t>
            </a:r>
            <a:r>
              <a:rPr lang="en-US" b="true" sz="2527">
                <a:solidFill>
                  <a:srgbClr val="3E3A4E"/>
                </a:solidFill>
                <a:latin typeface="Open Sauce Bold"/>
                <a:ea typeface="Open Sauce Bold"/>
                <a:cs typeface="Open Sauce Bold"/>
                <a:sym typeface="Open Sauce Bold"/>
                <a:hlinkClick r:id="rId4" tooltip="https://www.tatamotors.com/annual-reports/"/>
              </a:rPr>
              <a:t>sources-</a:t>
            </a:r>
          </a:p>
        </p:txBody>
      </p:sp>
      <p:sp>
        <p:nvSpPr>
          <p:cNvPr name="TextBox 6" id="6"/>
          <p:cNvSpPr txBox="true"/>
          <p:nvPr/>
        </p:nvSpPr>
        <p:spPr>
          <a:xfrm rot="0">
            <a:off x="6149445" y="5235845"/>
            <a:ext cx="73838" cy="355225"/>
          </a:xfrm>
          <a:prstGeom prst="rect">
            <a:avLst/>
          </a:prstGeom>
        </p:spPr>
        <p:txBody>
          <a:bodyPr anchor="t" rtlCol="false" tIns="0" lIns="0" bIns="0" rIns="0">
            <a:spAutoFit/>
          </a:bodyPr>
          <a:lstStyle/>
          <a:p>
            <a:pPr algn="l">
              <a:lnSpc>
                <a:spcPts val="2977"/>
              </a:lnSpc>
            </a:pPr>
            <a:r>
              <a:rPr lang="en-US" b="true" sz="2127">
                <a:solidFill>
                  <a:srgbClr val="3E3A4E"/>
                </a:solidFill>
                <a:latin typeface="Open Sauce Bold"/>
                <a:ea typeface="Open Sauce Bold"/>
                <a:cs typeface="Open Sauce Bold"/>
                <a:sym typeface="Open Sauce Bold"/>
                <a:hlinkClick r:id="rId5" tooltip="https://www.tatamotors.com/annual-reports/"/>
              </a:rPr>
              <a:t> </a:t>
            </a:r>
          </a:p>
        </p:txBody>
      </p:sp>
      <p:sp>
        <p:nvSpPr>
          <p:cNvPr name="TextBox 7" id="7"/>
          <p:cNvSpPr txBox="true"/>
          <p:nvPr/>
        </p:nvSpPr>
        <p:spPr>
          <a:xfrm rot="0">
            <a:off x="6213739" y="5235845"/>
            <a:ext cx="2503113" cy="355225"/>
          </a:xfrm>
          <a:prstGeom prst="rect">
            <a:avLst/>
          </a:prstGeom>
        </p:spPr>
        <p:txBody>
          <a:bodyPr anchor="t" rtlCol="false" tIns="0" lIns="0" bIns="0" rIns="0">
            <a:spAutoFit/>
          </a:bodyPr>
          <a:lstStyle/>
          <a:p>
            <a:pPr algn="l">
              <a:lnSpc>
                <a:spcPts val="2977"/>
              </a:lnSpc>
            </a:pPr>
            <a:r>
              <a:rPr lang="en-US" b="true" sz="2127">
                <a:solidFill>
                  <a:srgbClr val="3E3A4E"/>
                </a:solidFill>
                <a:latin typeface="Open Sauce Bold"/>
                <a:ea typeface="Open Sauce Bold"/>
                <a:cs typeface="Open Sauce Bold"/>
                <a:sym typeface="Open Sauce Bold"/>
                <a:hlinkClick r:id="rId6" tooltip="https://www.tatamotors.com/annual-reports/"/>
              </a:rPr>
              <a:t>79th Annual Report</a:t>
            </a:r>
          </a:p>
        </p:txBody>
      </p:sp>
      <p:sp>
        <p:nvSpPr>
          <p:cNvPr name="TextBox 8" id="8"/>
          <p:cNvSpPr txBox="true"/>
          <p:nvPr/>
        </p:nvSpPr>
        <p:spPr>
          <a:xfrm rot="0">
            <a:off x="6149445" y="5607320"/>
            <a:ext cx="2052638" cy="669550"/>
          </a:xfrm>
          <a:prstGeom prst="rect">
            <a:avLst/>
          </a:prstGeom>
        </p:spPr>
        <p:txBody>
          <a:bodyPr anchor="t" rtlCol="false" tIns="0" lIns="0" bIns="0" rIns="0">
            <a:spAutoFit/>
          </a:bodyPr>
          <a:lstStyle/>
          <a:p>
            <a:pPr algn="l">
              <a:lnSpc>
                <a:spcPts val="2699"/>
              </a:lnSpc>
            </a:pPr>
            <a:r>
              <a:rPr lang="en-US" b="true" sz="2127">
                <a:solidFill>
                  <a:srgbClr val="3E3A4E"/>
                </a:solidFill>
                <a:latin typeface="Open Sauce Bold"/>
                <a:ea typeface="Open Sauce Bold"/>
                <a:cs typeface="Open Sauce Bold"/>
                <a:sym typeface="Open Sauce Bold"/>
                <a:hlinkClick r:id="rId7" tooltip="https://www.screener.in/company/TATAMOTORS/consolidated/"/>
              </a:rPr>
              <a:t>Stock Screener </a:t>
            </a:r>
            <a:r>
              <a:rPr lang="en-US" b="true" sz="2127">
                <a:solidFill>
                  <a:srgbClr val="3E3A4E"/>
                </a:solidFill>
                <a:latin typeface="Open Sauce Bold"/>
                <a:ea typeface="Open Sauce Bold"/>
                <a:cs typeface="Open Sauce Bold"/>
                <a:sym typeface="Open Sauce Bold"/>
                <a:hlinkClick r:id="rId8" tooltip="https://finance.yahoo.com/quote/TATAMOTORS.NS/"/>
              </a:rPr>
              <a:t>Yahoo Finance</a:t>
            </a:r>
          </a:p>
        </p:txBody>
      </p:sp>
      <p:sp>
        <p:nvSpPr>
          <p:cNvPr name="TextBox 9" id="9"/>
          <p:cNvSpPr txBox="true"/>
          <p:nvPr/>
        </p:nvSpPr>
        <p:spPr>
          <a:xfrm rot="0">
            <a:off x="5318741" y="2784358"/>
            <a:ext cx="9875339" cy="400774"/>
          </a:xfrm>
          <a:prstGeom prst="rect">
            <a:avLst/>
          </a:prstGeom>
        </p:spPr>
        <p:txBody>
          <a:bodyPr anchor="t" rtlCol="false" tIns="0" lIns="0" bIns="0" rIns="0">
            <a:spAutoFit/>
          </a:bodyPr>
          <a:lstStyle/>
          <a:p>
            <a:pPr algn="l">
              <a:lnSpc>
                <a:spcPts val="3219"/>
              </a:lnSpc>
            </a:pPr>
            <a:r>
              <a:rPr lang="en-US" sz="2299">
                <a:solidFill>
                  <a:srgbClr val="3E3A4E"/>
                </a:solidFill>
                <a:latin typeface="Open Sauce"/>
                <a:ea typeface="Open Sauce"/>
                <a:cs typeface="Open Sauce"/>
                <a:sym typeface="Open Sauce"/>
              </a:rPr>
              <a:t>After doing both thevaluation analysesonTataMotors,itcanbeinferred</a:t>
            </a:r>
          </a:p>
        </p:txBody>
      </p:sp>
      <p:sp>
        <p:nvSpPr>
          <p:cNvPr name="TextBox 10" id="10"/>
          <p:cNvSpPr txBox="true"/>
          <p:nvPr/>
        </p:nvSpPr>
        <p:spPr>
          <a:xfrm rot="0">
            <a:off x="5318741" y="3184408"/>
            <a:ext cx="9983448" cy="1115149"/>
          </a:xfrm>
          <a:prstGeom prst="rect">
            <a:avLst/>
          </a:prstGeom>
        </p:spPr>
        <p:txBody>
          <a:bodyPr anchor="t" rtlCol="false" tIns="0" lIns="0" bIns="0" rIns="0">
            <a:spAutoFit/>
          </a:bodyPr>
          <a:lstStyle/>
          <a:p>
            <a:pPr algn="l">
              <a:lnSpc>
                <a:spcPts val="2924"/>
              </a:lnSpc>
            </a:pPr>
            <a:r>
              <a:rPr lang="en-US" sz="2299">
                <a:solidFill>
                  <a:srgbClr val="3E3A4E"/>
                </a:solidFill>
                <a:latin typeface="Open Sauce"/>
                <a:ea typeface="Open Sauce"/>
                <a:cs typeface="Open Sauce"/>
                <a:sym typeface="Open Sauce"/>
              </a:rPr>
              <a:t>that the stock currently at Rs 726.5 (asof21may2025)ishighly undervalued in comparison to theintrinsicsharevalue,thereforemakingit the right time to invest in, if one has confidenceoveritsfundamentals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DAHOK7UhHfM</dc:identifier>
  <dcterms:modified xsi:type="dcterms:W3CDTF">2011-08-01T06:04:30Z</dcterms:modified>
  <cp:revision>1</cp:revision>
  <dc:title>Valuation_Quest.pdf</dc:title>
</cp:coreProperties>
</file>